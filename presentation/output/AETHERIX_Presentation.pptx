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  <a:latin typeface="Calibri"/>
              </a:defRPr>
            </a:pPr>
            <a:r>
              <a:t>AETHERIX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286000"/>
            <a:ext cx="393192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AA"/>
                </a:solidFill>
                <a:latin typeface="Calibri"/>
              </a:defRPr>
            </a:pPr>
            <a:r>
              <a:t>Autonomous Extraterrestrial High-throughput Enhancing Routing</a:t>
            </a:r>
            <a:br/>
            <a:r>
              <a:t>and Inter-planetary eXchange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8CC"/>
                </a:solidFill>
                <a:latin typeface="Calibri"/>
              </a:defRPr>
            </a:pPr>
            <a:r>
              <a:t>EduQual Level 6 Diploma in AI Operations  |  Topic 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Building an Interplanetary Communication Network with DTN,</a:t>
            </a:r>
            <a:br/>
            <a:r>
              <a:t>Quantum Communication, and Space-Based Infrastructure for Mars Mission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846320"/>
            <a:ext cx="576072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51206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Muhammad Abdullah Tariq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5778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January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61264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9EFF"/>
                </a:solidFill>
                <a:latin typeface="Calibri"/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 / 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2618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01  The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727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29968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02 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DTN + AI + Quantum Security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71216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77240" y="29443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03  DTN &amp; BPv7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552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Store-and-forward foundation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12464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77240" y="37856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04  Topology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965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241 nodes across two worlds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53712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77240" y="46268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05  Link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1550nm laser analysis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94960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777240" y="5468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06  RL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7790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Multi-agent federated Q-learning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188720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55080" y="12618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07  Quantum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15727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BB84/E91 + repeater chains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029968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6355080" y="2103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08  Orbital Mechanics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4140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Contact windows &amp; synodic period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871216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6355080" y="29443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09  Mars 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2552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End-to-end simulation walkthrough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712464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6355080" y="37856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  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0965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AETHERIX vs current systems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553712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355080" y="46268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11  Roadmap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937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CCSDS, IETF, deployment phases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5394960"/>
            <a:ext cx="5303520" cy="749808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6355080" y="54681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12  Q&amp;A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7790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Summary and live demo</a:t>
            </a:r>
          </a:p>
        </p:txBody>
      </p:sp>
    </p:spTree>
  </p:cSld>
  <p:transition spd="med" advClick="1">
    <p:push dir="l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10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10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20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20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30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4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40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7" fill="hold">
                <p:stCondLst>
                  <p:cond delay="500"/>
                </p:stCondLst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presetID="10" presetClass="entr" presetSubtype="0" fill="hold" nodeType="afterEffect">
                            <p:stCondLst>
                              <p:cond delay="500"/>
                            </p:stCondLst>
                            <p:childTnLst>
                              <p:set>
                                <p:cBhvr>
                                  <p:cTn id="10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" dur="50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8" fill="hold">
                <p:stCondLst>
                  <p:cond delay="600"/>
                </p:stCondLst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presetID="10" presetClass="entr" presetSubtype="0" fill="hold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11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" dur="50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9" fill="hold">
                <p:stCondLst>
                  <p:cond delay="700"/>
                </p:stCondLst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0" presetClass="entr" presetSubtype="0" fill="hold" nodeType="afterEffect">
                            <p:stCondLst>
                              <p:cond delay="700"/>
                            </p:stCondLst>
                            <p:childTnLst>
                              <p:set>
                                <p:cBhvr>
                                  <p:cTn id="12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" dur="50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0" fill="hold">
                <p:stCondLst>
                  <p:cond delay="800"/>
                </p:stCondLst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nodeType="afterEffect">
                            <p:stCondLst>
                              <p:cond delay="800"/>
                            </p:stCondLst>
                            <p:childTnLst>
                              <p:set>
                                <p:cBhvr>
                                  <p:cTn id="13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500"/>
                                  <p:tgtEl>
                                    <p:spTgt spid="3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1" fill="hold">
                <p:stCondLst>
                  <p:cond delay="900"/>
                </p:stCondLst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presetID="10" presetClass="entr" presetSubtype="0" fill="hold" nodeType="afterEffect">
                            <p:stCondLst>
                              <p:cond delay="900"/>
                            </p:stCondLst>
                            <p:childTnLst>
                              <p:set>
                                <p:cBhvr>
                                  <p:cTn id="14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" dur="50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2" fill="hold">
                <p:stCondLst>
                  <p:cond delay="1000"/>
                </p:stCondLst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presetID="10" presetClass="entr" presetSubtype="0" fill="hold" nodeType="afterEffect">
                            <p:stCondLst>
                              <p:cond delay="1000"/>
                            </p:stCondLst>
                            <p:childTnLst>
                              <p:set>
                                <p:cBhvr>
                                  <p:cTn id="1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" dur="50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13" fill="hold">
                <p:stCondLst>
                  <p:cond delay="1100"/>
                </p:stCondLst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presetID="10" presetClass="entr" presetSubtype="0" fill="hold" nodeType="afterEffect">
                            <p:stCondLst>
                              <p:cond delay="1100"/>
                            </p:stCondLst>
                            <p:childTnLst>
                              <p:set>
                                <p:cBhvr>
                                  <p:cTn id="1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" dur="500"/>
                                  <p:tgtEl>
                                    <p:spTgt spid="3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Overview &amp;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3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EFF"/>
                </a:solidFill>
                <a:latin typeface="Calibri"/>
              </a:defRPr>
            </a:pPr>
            <a:r>
              <a:t>What is AETHERIX?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920240"/>
            <a:ext cx="1828800" cy="254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Autonomous Extraterrestrial High-throughput Enhancing</a:t>
            </a:r>
            <a:br/>
            <a:r>
              <a:t>Routing and Inter-planetary eXchange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An architecture for delay-tolerant networking (DTN)</a:t>
            </a:r>
            <a:br/>
            <a:r>
              <a:t>between Earth and Mars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Replaces static Contact Graph Routing with</a:t>
            </a:r>
            <a:br/>
            <a:r>
              <a:t>reinforcement-learning-based adaptive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Secures links via Quantum Key Distribution</a:t>
            </a:r>
            <a:br/>
            <a:r>
              <a:t>(BB84 &amp; E91 protocols with repeater chains)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Hybrid optical/RF communications across</a:t>
            </a:r>
            <a:br/>
            <a:r>
              <a:t>a 5-tier, 241-node interplanetary topology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Open-source, standards-compliant (CCSDS, IETF)</a:t>
            </a:r>
            <a:br/>
            <a:r>
              <a:t>research platform for deep-space networking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463040"/>
            <a:ext cx="512064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D4D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920240"/>
            <a:ext cx="1828800" cy="254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011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Earth–Mars distance varies from 54.6M to 401M km</a:t>
            </a:r>
            <a:br/>
            <a:r>
              <a:t>— a 7x range swing every 780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688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One-way light delay is 3–22 minutes;</a:t>
            </a:r>
            <a:br/>
            <a:r>
              <a:t>round-trip TCP ACK is 6–44 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926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Solar conjunction causes ~2-week communication</a:t>
            </a:r>
            <a:br/>
            <a:r>
              <a:t>blackouts twice per synodic period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Deep-space links are inherently intermittent:</a:t>
            </a:r>
            <a:br/>
            <a:r>
              <a:t>no continuous end-to-end path exists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40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Static routing cannot adapt to dynamic</a:t>
            </a:r>
            <a:br/>
            <a:r>
              <a:t>contact schedules and link degradation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2976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Classical key exchange is infeasible across</a:t>
            </a:r>
            <a:br/>
            <a:r>
              <a:t>interplanetary distances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12080"/>
            <a:ext cx="10607040" cy="822960"/>
          </a:xfrm>
          <a:prstGeom prst="round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AETHERIX addresses every one of these challenges — harnessing DTN store-and-forward, AI-driven adaptive routing, quantum-secured key distribution, and hybrid optical/RF links to enable reliable interplanetary communication.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DISTANCE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Why Space Breaks the Internet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4 /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716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4D4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Closest approach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 million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Farthest distance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401 million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variation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7.3× (735%)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780 days (26 months)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Solar conjunction 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~2 weeks (twice/period)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26480" y="1371600"/>
          <a:ext cx="51206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TCP/IP Assumption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Deep-Space Reality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 latency (&lt; 200 ms)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 – 44 min round trip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Continuous connectivity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Scheduled contact windows only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path exists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 simultaneous path possible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Reliable ACKs in seconds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ACKs take minutes to hours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26480" y="3657600"/>
            <a:ext cx="5120640" cy="1188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309360" y="3749039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"TCP/IP assumes the network is fast, reliable, and always connected.</a:t>
            </a:r>
            <a:br/>
            <a:r>
              <a:t>Deep space is none of those things."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120640"/>
            <a:ext cx="246888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9EFF"/>
                </a:solidFill>
                <a:latin typeface="Calibri"/>
              </a:defRPr>
            </a:pPr>
            <a:r>
              <a:t>54.6M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Min Distance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5120640"/>
            <a:ext cx="2468880" cy="3810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4D4D"/>
                </a:solidFill>
                <a:latin typeface="Calibri"/>
              </a:defRPr>
            </a:pPr>
            <a:r>
              <a:t>401M km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Max Distance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5120640"/>
            <a:ext cx="2468880" cy="381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Calibri"/>
              </a:defRPr>
            </a:pPr>
            <a:r>
              <a:t>780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Synodic Period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0" y="5120640"/>
            <a:ext cx="2468880" cy="1005840"/>
          </a:xfrm>
          <a:prstGeom prst="roundRect">
            <a:avLst/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69680" y="5120640"/>
            <a:ext cx="246888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525780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  <a:latin typeface="Calibri"/>
              </a:defRPr>
            </a:pPr>
            <a:r>
              <a:t>0.5–6 Mbps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5669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Current DSN Rate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Delay-Tolerant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5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Bundle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Create data</a:t>
            </a:r>
            <a:br/>
            <a:r>
              <a:t>bundle (BPv7)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97180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Buffer at</a:t>
            </a:r>
            <a:br/>
            <a:r>
              <a:t>local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39496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8C00"/>
                </a:solidFill>
                <a:latin typeface="Calibri"/>
              </a:defRPr>
            </a:pPr>
            <a:r>
              <a:t>Wait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Hold until</a:t>
            </a:r>
            <a:br/>
            <a:r>
              <a:t>contact window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668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781812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4AA"/>
                </a:solidFill>
                <a:latin typeface="Calibri"/>
              </a:defRPr>
            </a:pPr>
            <a:r>
              <a:t>Forward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Transmit to</a:t>
            </a:r>
            <a:br/>
            <a:r>
              <a:t>next hop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B7B96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0" y="1463040"/>
            <a:ext cx="1828800" cy="14630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10241280" y="15544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Deliver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1920240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Reach final</a:t>
            </a:r>
            <a:br/>
            <a:r>
              <a:t>destination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BPv7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Bundle Protocol v7</a:t>
            </a:r>
            <a:br/>
            <a:r>
              <a:t>RFC 9171 — store &amp;</a:t>
            </a:r>
            <a:br/>
            <a:r>
              <a:t>forward with custody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AI Routing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federated</a:t>
            </a:r>
            <a:br/>
            <a:r>
              <a:t>Q-learning adapts in</a:t>
            </a:r>
            <a:br/>
            <a:r>
              <a:t>real time to contacts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80" y="3200400"/>
            <a:ext cx="3291840" cy="12801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D4AA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BB84 &amp; E91 quantum</a:t>
            </a:r>
            <a:br/>
            <a:r>
              <a:t>key distribution with</a:t>
            </a:r>
            <a:br/>
            <a:r>
              <a:t>repeater chains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754880"/>
            <a:ext cx="10607040" cy="9144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0B8CC"/>
                </a:solidFill>
                <a:latin typeface="Calibri"/>
              </a:defRPr>
            </a:pPr>
            <a:r>
              <a:t>Think of it like the postal service: you don't need a continuous connection between sender and receiver — each post office (node) stores the letter (bundle) until the next truck (contact window) is available, then forwards it one hop closer to the destination.</a:t>
            </a:r>
          </a:p>
        </p:txBody>
      </p:sp>
    </p:spTree>
  </p:cSld>
  <p:transition spd="med" advClick="1">
    <p:wipe dir="d"/>
  </p:transition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after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50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3" fill="hold">
                <p:stCondLst>
                  <p:cond delay="150"/>
                </p:stCondLst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presetID="10" presetClass="entr" presetSubtype="0" fill="hold" nodeType="afterEffect">
                            <p:stCondLst>
                              <p:cond delay="150"/>
                            </p:stCondLst>
                            <p:childTnLst>
                              <p:set>
                                <p:cBhvr>
                                  <p:cTn id="6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" dur="50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4" fill="hold">
                <p:stCondLst>
                  <p:cond delay="300"/>
                </p:stCondLst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0" presetClass="entr" presetSubtype="0" fill="hold" nodeType="afterEffect">
                            <p:stCondLst>
                              <p:cond delay="300"/>
                            </p:stCondLst>
                            <p:childTnLst>
                              <p:set>
                                <p:cBhvr>
                                  <p:cTn id="7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" dur="50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5" fill="hold">
                <p:stCondLst>
                  <p:cond delay="450"/>
                </p:stCondLst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7" presetID="10" presetClass="entr" presetSubtype="0" fill="hold" nodeType="afterEffect">
                            <p:stCondLst>
                              <p:cond delay="450"/>
                            </p:stCondLst>
                            <p:childTnLst>
                              <p:set>
                                <p:cBhvr>
                                  <p:cTn id="8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" dur="50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par>
              <p:cTn id="6" fill="hold">
                <p:stCondLst>
                  <p:cond delay="600"/>
                </p:stCondLst>
                <p:childTnLst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nodeType="afterEffect">
                            <p:stCondLst>
                              <p:cond delay="600"/>
                            </p:stCondLst>
                            <p:childTnLst>
                              <p:set>
                                <p:cBhvr>
                                  <p:cTn id="9" dur="500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50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Five Core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6 / 25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3619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4630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EFF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83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Link budget &amp; RF/optical analysis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331720"/>
            <a:ext cx="548640" cy="54864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0487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31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651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RL agent, BPv7, store-and-forward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200400"/>
            <a:ext cx="548640" cy="54864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7355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520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QKD (BB84/E91) &amp; repeater chains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069080"/>
            <a:ext cx="548640" cy="548640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4223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069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Orbital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Contact windows &amp; Doppler analysis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937760"/>
            <a:ext cx="548640" cy="548640"/>
          </a:xfrm>
          <a:prstGeom prst="ellipse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Simulation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8CC"/>
                </a:solidFill>
                <a:latin typeface="Calibri"/>
              </a:defRPr>
            </a:pPr>
            <a:r>
              <a:t>Full network simulation engine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852160" y="1463040"/>
          <a:ext cx="5486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Engine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Showcase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Infrastructure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OpticalLinkBudget + RFLinkBudget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Earth-Mars link analysis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RLRoutingAgent + ForwardingEngine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Multi-hop DTN delivery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BB84Protocol + E91Protocol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Quantum-secured key exchange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ContactWindows + Doppler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contact prediction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Simulator + PolicyEngine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End-to-end scenario runs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</p:spTree>
  </p:cSld>
  <p:transition spd="med" advClick="1">
    <p:cover dir="l"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ARCHITECTURE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7 / 25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607040" cy="5303520"/>
          </a:xfrm>
          <a:prstGeom prst="rect">
            <a:avLst/>
          </a:prstGeom>
        </p:spPr>
      </p:pic>
    </p:spTree>
  </p:cSld>
  <p:transition spd="med" advClick="1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BPv7 DEEP DIVE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7432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6"/>
                </a:solidFill>
                <a:latin typeface="Calibri"/>
              </a:defRPr>
            </a:pPr>
            <a:r>
              <a:t>The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8 / 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EFF"/>
                </a:solidFill>
                <a:latin typeface="Calibri"/>
              </a:defRPr>
            </a:pPr>
            <a:r>
              <a:t>Application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470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User data, commands, telemetry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240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2316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22960" y="24688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Calibri"/>
              </a:defRPr>
            </a:pPr>
            <a:r>
              <a:t>Bundle Protocol v7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072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Routing, custody, fragmentation, TTL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2004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Convergence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67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LTP (space), TCPCL (Earth), UDPCL (ISL)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160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6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43400"/>
            <a:ext cx="5120640" cy="8229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22960" y="4389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8C00"/>
                </a:solidFill>
                <a:latin typeface="Calibri"/>
              </a:defRPr>
            </a:pPr>
            <a:r>
              <a:t>Physical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274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Optical 1550nm / Ka-band RF links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6480" y="146304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Priority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Class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EMERGENCY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Life-critical alerts, abort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URGENT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Navigation corrections, hazard warnings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NORMAL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Telemetry, science data, commands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P3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LOW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Software updates, bulk file transfer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BULK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Background sync, archival data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6480" y="40233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AA"/>
                </a:solidFill>
                <a:latin typeface="Calibri"/>
              </a:defRPr>
            </a:pPr>
            <a:r>
              <a:t>Store-and-Forward Steps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315968"/>
            <a:ext cx="18288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43891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1. Bundle created at source with destination EID + TTL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663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2. Node stores bundle in priority queue (buffer mgmt)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937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3. Contact window opens → best next-hop selected by RL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52120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4. Bundle transmitted via convergence layer (LTP/TCPCL)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8CC"/>
                </a:solidFill>
                <a:latin typeface="Calibri"/>
              </a:defRPr>
            </a:pPr>
            <a:r>
              <a:t>5. Custody transfer confirms; repeat until destination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669280"/>
            <a:ext cx="10607040" cy="6400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9EFF"/>
                </a:solidFill>
                <a:latin typeface="Calibri"/>
              </a:defRPr>
            </a:pPr>
            <a:r>
              <a:t>Standards: RFC 9171 (BPv7)  •  RFC 5326 (LTP)  •  CCSDS 734.2-B-1 (DTN Arch)  •  CCSDS 735.1-B-1 (BP)  •  CCSDS 142.0-B-2 (Space Link IDs)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DTN STORE-AND-FORWARD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463040"/>
            <a:ext cx="4023360" cy="25603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TCP/IP in Space — Fails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Requires continuous end-to-end connection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Round-trip time &gt; 40 minutes breaks ACKs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Packet loss triggers aggressive retransmission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Congestion control collapses at interplanetary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463040"/>
            <a:ext cx="4023360" cy="25603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DTN Works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Store-and-forward: custody transfer at each hop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Bundle Protocol v7 (RFC 9171) — no end-to-end session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Opportunistic contacts exploited automatically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Tolerates hours-to-days of link disruption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4251960"/>
            <a:ext cx="2743200" cy="23774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LTP (RFC 5326)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Licklider Transmission Protocol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RFC 5326 — deep-space links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Reliable segments + retransmission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Handles long light-time delays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4251960"/>
            <a:ext cx="2743200" cy="23774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TCPCL (RFC 7242)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TCP Convergence Layer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RFC 7242 — Earth segment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Session management over TCP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Reliable terrestrial backhaul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251960"/>
            <a:ext cx="2743200" cy="23774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UDP-CL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UDP Convergence Layer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Optical inter-satellite links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Fragmentation + loss simulation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Low-latency mesh forwarding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9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241 Nodes, 5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" cy="59436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463040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T1  Earth Ground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6 nodes — DSN stations: Goldstone, Madrid, Canberra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76272"/>
            <a:ext cx="73152" cy="5943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2176272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T2  Earth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51 nodes — GEO relays + 48 LEO laser constellation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89504"/>
            <a:ext cx="73152" cy="59436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" y="2889504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T3  Deep Space Transit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Lagrange point relays (ES-L4, ES-L5)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02736"/>
            <a:ext cx="73152" cy="594360"/>
          </a:xfrm>
          <a:prstGeom prst="rect">
            <a:avLst/>
          </a:prstGeom>
          <a:solidFill>
            <a:srgbClr val="FF4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3602736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T4  Mars Orbital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4 nodes — Areostationary + polar orbit relays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315968"/>
            <a:ext cx="73152" cy="594360"/>
          </a:xfrm>
          <a:prstGeom prst="rect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" y="4315968"/>
            <a:ext cx="4480560" cy="594360"/>
          </a:xfrm>
          <a:prstGeom prst="rect">
            <a:avLst/>
          </a:prstGeom>
          <a:solidFill>
            <a:srgbClr val="141B2D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T5  Mars Surface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800" b="0">
                <a:solidFill>
                  <a:srgbClr val="B0B8CC"/>
                </a:solidFill>
                <a:latin typeface="Calibri"/>
              </a:defRPr>
            </a:pPr>
            <a:r>
              <a:t>176 nodes — Bases, rovers, drones, sensor networks</a:t>
            </a:r>
          </a:p>
        </p:txBody>
      </p:sp>
      <p:pic>
        <p:nvPicPr>
          <p:cNvPr id="15" name="Picture 14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3840480" cy="3200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365760" y="5212080"/>
            <a:ext cx="8412480" cy="59436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/>
          <a:lstStyle/>
          <a:p>
            <a:pPr algn="ctr">
              <a:defRPr sz="1100">
                <a:solidFill>
                  <a:srgbClr val="00D4AA"/>
                </a:solidFill>
              </a:defRPr>
            </a:pPr>
            <a:r>
              <a:t>Multiple redundant paths · No single point of failure · Lagrange relays for conjunction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10 / 25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5-TIER NETWORK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8412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Nodes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T1 — Earth Ground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 stations (Goldstone, Madrid, Canberra)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T2 — Earth 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GEO relays + 48 LEO laser satellites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T3 — Deep Space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ES-L4, ES-L5 Lagrange point relays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T4 — Mars Orbital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relay + polar orbit relays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T5 — Mars Surface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176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Habitats, rovers, drones, sensor networks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3474720"/>
          <a:ext cx="84124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Segment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Rate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Earth ↔ Deep Space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optical laser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Deep Space ↔ Mars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2–200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(distance-dependent)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Mars Orbital ↔ Surface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S-band radio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Inter-Satellite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 Gbps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Laser ISL mesh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11 / 25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NETWORK DIAGRAM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tie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12 / 25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OPTICAL COMMUNICATIONS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10–100x Faster Than RF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100–200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closest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10–20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average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2834640" cy="10972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4D4D"/>
                </a:solidFill>
                <a:latin typeface="Calibri"/>
              </a:defRPr>
            </a:pPr>
            <a:r>
              <a:t>2–5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Mbps at farthest point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651760"/>
            <a:ext cx="4389120" cy="16459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Key Equations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FSPL = 20·log₁₀(4πd/λ)  — free-space path loss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Gain = 10·log₁₀(η·(πD/λ)²)  — antenna gain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 = Pt + Gt + Gr − FSPL  — received power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846320" y="2651760"/>
          <a:ext cx="4023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Wavelength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Power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 W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Tx Aperture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22 cm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Rx Aperture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1.0 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link_budget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480560"/>
            <a:ext cx="8412480" cy="2103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13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EARTH-MARS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500 MB in 7 Hops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52697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Hop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Path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Link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Rover → UHF Relay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S-band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Relay → Areostationary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UHF uplink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→ Polar Orbiter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Crosslink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Polar Orbiter → LEO Constellation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1550 nm laser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LEO Mesh → DSN Ground Station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downlink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DSN → Mission Operations Center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TCP/IP fiber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8288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~13min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latency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&lt;5%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Protocol overhead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98.7%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Delivery ratio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023360"/>
            <a:ext cx="21488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7 hops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Store-and-forward</a:t>
            </a:r>
          </a:p>
        </p:txBody>
      </p:sp>
      <p:pic>
        <p:nvPicPr>
          <p:cNvPr id="10" name="Picture 9" descr="data_rat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166360"/>
            <a:ext cx="8412480" cy="1508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14 / 25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RL-BASED ROUTING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AI Innovation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Contact Graph Routing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Pre-computed contact plans required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Cannot adapt to unexpected link failures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Computational cost grows O(n³) per route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No learning from historical performance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Single-path — ignores multipath opportunity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417320"/>
            <a:ext cx="420624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RL Agent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State: (node, neighbors, link quality, buffer)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Actions: forward | store | drop | split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Reward: R = α(delivery) − β(delay) − γ(hops) − δ(drops) − ε(energy)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ε-greedy exploration with decay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Q-table + federated aggregation across nodes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+20–40%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Faster delivery vs CGR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3600×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Recovery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86200"/>
            <a:ext cx="28346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Federated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Multi-agent learning</a:t>
            </a:r>
          </a:p>
        </p:txBody>
      </p:sp>
      <p:pic>
        <p:nvPicPr>
          <p:cNvPr id="10" name="Picture 9" descr="rl_rout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074920"/>
            <a:ext cx="841248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15 / 25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Future-Proof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417320"/>
            <a:ext cx="438912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BB84 Protocol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1. Alice sends random polarized photons (H/V, D/A bases)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2. Bob measures each photon in a random basis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3. Public reconciliation — keep matching-basis bits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4. Error estimation — sample subset for QBER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5. Privacy amplification — universal hashing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6. QBER &lt; 11% → SECURE key established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417320"/>
            <a:ext cx="4023360" cy="228600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600" b="1">
                <a:solidFill>
                  <a:srgbClr val="009EFF"/>
                </a:solidFill>
                <a:latin typeface="Calibri"/>
              </a:defRPr>
            </a:pPr>
            <a:r>
              <a:t>Post-Quantum Cryptography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Kyber (ML-KEM) — key encapsulation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Dilithium (ML-DSA) — digital signatures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NIST PQC standard — quantum-resistant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300" b="0">
                <a:solidFill>
                  <a:srgbClr val="B0B8CC"/>
                </a:solidFill>
                <a:latin typeface="Calibri"/>
              </a:defRPr>
            </a:pPr>
            <a:r>
              <a:t>Hybrid classical-quantum key exchange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88620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/>
                <a:gridCol w="2865120"/>
                <a:gridCol w="286512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Phase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Protocol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Rate</a:t>
                      </a:r>
                    </a:p>
                  </a:txBody>
                  <a:tcPr anchor="ctr" marL="73152" marR="73152" marT="36576" marB="36576">
                    <a:solidFill>
                      <a:srgbClr val="8B5CF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1 — LEO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1–10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2 — GEO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BB84 + E91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10–100 kbps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Phase 3 — Mars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E91 + Repeaters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1+ kbps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qkd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394960"/>
            <a:ext cx="841248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16 / 25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ORBITAL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0D4AA"/>
                </a:solidFill>
                <a:latin typeface="Calibri"/>
              </a:defRPr>
            </a:pPr>
            <a:r>
              <a:t>Contact Windows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2286000" cy="3810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42976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148840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 anchor="ctr" marL="73152" marR="73152" marT="36576" marB="36576">
                    <a:solidFill>
                      <a:srgbClr val="FF8C0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Semi-major axis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1.524 AU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Synodic period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779.94 days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Distance range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54.6M – 401M km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Areostationary altitude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17,032 km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One-way light time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3 – 22 minutes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663440" y="1417320"/>
          <a:ext cx="4206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420624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Window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Data Rate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Optimal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99%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8–12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100–200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Good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95%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6–8 hrs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20–100 Mbps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Fair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4–6 hrs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5–20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2–4 weeks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distance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749039"/>
            <a:ext cx="841248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17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END-TO-END 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Mars Surface → Earth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Rover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595823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UHF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32990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Areostationary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70158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Polar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07326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Deep Space 1550 nm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144494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LEO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781662" y="1691640"/>
            <a:ext cx="182880" cy="137160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65760"/>
            <a:ext cx="822960" cy="411480"/>
          </a:xfrm>
          <a:prstGeom prst="roundRect">
            <a:avLst/>
          </a:prstGeom>
          <a:solidFill>
            <a:srgbClr val="009EFF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DSN / MOC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12467" y="233172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~13 min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End-to-End Latency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61307" y="233172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&lt;5%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Packet Loss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233172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98.7%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Delivery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58987" y="233172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7 hops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Network Path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57600"/>
            <a:ext cx="11094415" cy="10972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FF4D4D"/>
                </a:solidFill>
                <a:latin typeface="Calibri"/>
              </a:defRPr>
            </a:pPr>
            <a:r>
              <a:t>⚠ FAILURE SCENARIO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Solar flare at T+400s → stored at MRS-Polar → rerouted via ES-L4 → delayed ~30 min NOT LOST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18 / 25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10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Application → Transport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1. Source Node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Science data generated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2. Bundle Protocol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BPv7 wraps data + metadata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3. RL Routing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Agent evaluates state, selects hop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4. QKD Encrypt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BB84 shared key applied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1000"/>
              </a:spcAft>
              <a:defRPr sz="1400" b="1">
                <a:solidFill>
                  <a:srgbClr val="00D4AA"/>
                </a:solidFill>
                <a:latin typeface="Calibri"/>
              </a:defRPr>
            </a:pPr>
            <a:r>
              <a:t>Convergence → Physical → Delivery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1. LTP Segmentation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Bundle split into blocks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2. Store &amp; Wait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Buffer until link available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3. Physical TX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UHF → Optical ISL → 1550 nm → Ka-band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</a:defRPr>
            </a:pPr>
            <a:r>
              <a:t>4. LTP Reassemble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Reassemble → Decrypt → Deliver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19 / 25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DATA FLOW DIAGRAM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84124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20 / 25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PERFORMANCE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vs Current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43000"/>
          <a:ext cx="8412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4544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Current (MRO)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AETHERIX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Improvement</a:t>
                      </a:r>
                    </a:p>
                  </a:txBody>
                  <a:tcPr anchor="ctr" marL="73152" marR="73152" marT="36576" marB="36576">
                    <a:solidFill>
                      <a:srgbClr val="2ECC71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Downlink Rate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0.5-6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2-200 Mbps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10-100×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Daily Volume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50-100 GB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10-20×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Availability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60-75%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&gt;95%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+20-35%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Routing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Static (CGR)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RL-adaptive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Autonomous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Security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AES-256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QKD + PQC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Quantum-proof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Scalability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5-10 assets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241 nodes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24-48×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Cost per MB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$0.10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$0.01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10× cheaper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Conjunction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Blackout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50-70% via L4/L5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+50-70%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perform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389120"/>
            <a:ext cx="4297680" cy="1828800"/>
          </a:xfrm>
          <a:prstGeom prst="rect">
            <a:avLst/>
          </a:prstGeom>
        </p:spPr>
      </p:pic>
      <p:pic>
        <p:nvPicPr>
          <p:cNvPr id="6" name="Picture 5" descr="optical_vs_rf_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4389120"/>
            <a:ext cx="429768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21 / 25</a:t>
            </a:r>
          </a:p>
        </p:txBody>
      </p:sp>
    </p:spTree>
  </p:cSld>
  <p:transition spd="med" advClick="1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What We Built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1246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27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130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149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10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Demos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58987" y="141732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5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Policies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393192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Core Modules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Link Budget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RL Agent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QKD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Bundle Protocol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Topology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 Simulation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560320"/>
            <a:ext cx="4206240" cy="15544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1E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600"/>
              </a:spcAft>
              <a:defRPr sz="1300" b="1">
                <a:solidFill>
                  <a:srgbClr val="00D4AA"/>
                </a:solidFill>
                <a:latin typeface="Calibri"/>
              </a:defRPr>
            </a:pPr>
            <a:r>
              <a:t>Standards Compliance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4880" y="3063240"/>
          <a:ext cx="40233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125730"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Standard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Title</a:t>
                      </a:r>
                    </a:p>
                  </a:txBody>
                  <a:tcPr anchor="ctr" marL="73152" marR="73152" marT="36576" marB="36576">
                    <a:solidFill>
                      <a:srgbClr val="009EFF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734.2-B-1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DTN Architecture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735.1-B-1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Bundle Protocol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141.0-B-1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Optical Communications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CCSDS 142.0-B-2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Space Link Identifiers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9171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Bundle Protocol v7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5326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LTP</a:t>
                      </a:r>
                    </a:p>
                  </a:txBody>
                  <a:tcPr anchor="ctr" marL="73152" marR="73152" marT="36576" marB="36576">
                    <a:solidFill>
                      <a:srgbClr val="182236"/>
                    </a:solidFill>
                  </a:tcPr>
                </a:tc>
              </a:tr>
              <a:tr h="1257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RFC 7242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B0B8CC"/>
                          </a:solidFill>
                          <a:latin typeface="Calibri"/>
                        </a:defRPr>
                      </a:pPr>
                      <a:r>
                        <a:t>TCPCL</a:t>
                      </a:r>
                    </a:p>
                  </a:txBody>
                  <a:tcPr anchor="ctr" marL="73152" marR="73152" marT="36576" marB="36576">
                    <a:solidFill>
                      <a:srgbClr val="141B2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22 / 25</a:t>
            </a:r>
          </a:p>
        </p:txBody>
      </p:sp>
    </p:spTree>
  </p:cSld>
  <p:transition spd="med" advClick="1">
    <p:push dir="l"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From Demo to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2ECC71"/>
                </a:solidFill>
                <a:latin typeface="Calibri"/>
              </a:defRPr>
            </a:pPr>
            <a:r>
              <a:t>Phase 1-4  ✓ Complete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Topology • RL • QKD • Web UI • 149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009EFF"/>
                </a:solidFill>
                <a:latin typeface="Calibri"/>
              </a:defRPr>
            </a:pPr>
            <a:r>
              <a:t>Phase 5  Network Sim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ns-3 integration, realistic channel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97180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8B5CF6"/>
                </a:solidFill>
                <a:latin typeface="Calibri"/>
              </a:defRPr>
            </a:pPr>
            <a:r>
              <a:t>Phase 6  Production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DQN agent, ION-DTN stack, hardware-in-loop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749040"/>
            <a:ext cx="4206240" cy="640080"/>
          </a:xfrm>
          <a:prstGeom prst="roundRect">
            <a:avLst/>
          </a:prstGeom>
          <a:solidFill>
            <a:srgbClr val="141B2D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defRPr sz="1200" b="1">
                <a:solidFill>
                  <a:srgbClr val="FF8C00"/>
                </a:solidFill>
                <a:latin typeface="Calibri"/>
              </a:defRPr>
            </a:pPr>
            <a:r>
              <a:t>Phase 7  Hardware</a:t>
            </a:r>
          </a:p>
          <a:p>
            <a:pPr>
              <a:defRPr sz="900">
                <a:solidFill>
                  <a:srgbClr val="B0B8CC"/>
                </a:solidFill>
              </a:defRPr>
            </a:pPr>
            <a:r>
              <a:t>SDR prototyping, optical ground station demo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"/>
            <a:ext cx="73152" cy="1828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iss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17320"/>
            <a:ext cx="4023360" cy="2468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23 / 25</a:t>
            </a:r>
          </a:p>
        </p:txBody>
      </p:sp>
    </p:spTree>
  </p:cSld>
  <p:transition spd="med" advClick="1">
    <p:wipe dir="d"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>
                <a:solidFill>
                  <a:srgbClr val="00D4AA"/>
                </a:solidFill>
              </a:defRPr>
            </a:pPr>
            <a:r>
              <a:t>AETHERIX Delivers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FF4D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FF4D4D"/>
                </a:solidFill>
                <a:latin typeface="Calibri"/>
              </a:defRPr>
            </a:pPr>
            <a:r>
              <a:t>Problem Solved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TCP/IP can’t work at interplanetary distances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463040"/>
            <a:ext cx="3931920" cy="1554480"/>
          </a:xfrm>
          <a:prstGeom prst="roundRect">
            <a:avLst/>
          </a:prstGeom>
          <a:solidFill>
            <a:srgbClr val="141B2D"/>
          </a:solidFill>
          <a:ln w="3175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spcAft>
                <a:spcPts val="80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What We Built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BPv7 • RL Routing • QKD • Optical/RF Hybrid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Data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3383280"/>
            <a:ext cx="1920240" cy="100584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6"/>
                </a:solidFill>
                <a:latin typeface="Calibri"/>
              </a:defRPr>
            </a:pPr>
            <a:r>
              <a:t>AETHERIX — Interplanetary Communication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6"/>
                </a:solidFill>
                <a:latin typeface="Calibri"/>
              </a:defRPr>
            </a:pPr>
            <a:r>
              <a:t>24 / 25</a:t>
            </a:r>
          </a:p>
        </p:txBody>
      </p:sp>
    </p:spTree>
  </p:cSld>
  <p:transition spd="med" advClick="1">
    <p:cover dir="l"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554480"/>
            <a:ext cx="256032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D4AA"/>
                </a:solidFill>
              </a:defRPr>
            </a:pPr>
            <a:r>
              <a:t>Questions?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1246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10-100×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Data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00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09EFF"/>
                </a:solidFill>
                <a:latin typeface="Calibri"/>
              </a:defRPr>
            </a:pPr>
            <a:r>
              <a:t>&gt;95%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Availability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8B5CF6"/>
                </a:solidFill>
                <a:latin typeface="Calibri"/>
              </a:defRPr>
            </a:pPr>
            <a:r>
              <a:t>RL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Adaptive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2743200"/>
            <a:ext cx="1920240" cy="868680"/>
          </a:xfrm>
          <a:prstGeom prst="roundRect">
            <a:avLst/>
          </a:prstGeom>
          <a:solidFill>
            <a:srgbClr val="141B2D"/>
          </a:solidFill>
          <a:ln w="127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8C00"/>
                </a:solidFill>
                <a:latin typeface="Calibri"/>
              </a:defRPr>
            </a:pPr>
            <a:r>
              <a:t>QKD</a:t>
            </a:r>
          </a:p>
          <a:p>
            <a:pPr algn="ctr">
              <a:spcBef>
                <a:spcPts val="200"/>
              </a:spcBef>
              <a:spcAft>
                <a:spcPts val="400"/>
              </a:spcAft>
              <a:defRPr sz="1000" b="0">
                <a:solidFill>
                  <a:srgbClr val="B0B8CC"/>
                </a:solidFill>
                <a:latin typeface="Calibri"/>
              </a:defRPr>
            </a:pPr>
            <a:r>
              <a:t>Quantum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Muhammad Abdullah Tariq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B7B96"/>
                </a:solidFill>
              </a:defRPr>
            </a:pPr>
            <a:r>
              <a:t>matx104.github.io/AETHERIX  |  github.com/matx104/AETHERIX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transition spd="med" advClick="1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