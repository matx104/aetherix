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January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7724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7724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7724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7724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77724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321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777240" y="5586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879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35508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35508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  Radiation Hardening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SEU/TID, TMR, ECC, scrubbing, FDIR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35508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  Data Prioritization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QoS triage, compression, preemption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35508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  Mars Mission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35508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 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635508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13  Roadmap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55321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6355080" y="5586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14  Q&amp;A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879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16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24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32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32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4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48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56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4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72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88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4" fill="hold">
                <p:stCondLst>
                  <p:cond delay="960"/>
                </p:stCondLst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nodeType="after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5" fill="hold">
                <p:stCondLst>
                  <p:cond delay="1040"/>
                </p:stCondLst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nodeType="afterEffect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1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50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 to enable reliable interplanetary communication.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27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27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4838 (DTN Arch)  •  RFC 5326 (LTP)  •  CCSDS 734.2-B-1 (Bundle Protocol)  •  CCSDS 734.3-B-1 (SABR)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DTN STORE-AND-FORWARD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60" cy="25603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TCP/IP in Space — Fails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Requires continuous end-to-end connection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Round-trip time &gt; 40 minutes breaks ACKs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Packet loss triggers aggressive retransmission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Congestion control collapses at interplanetary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63040"/>
            <a:ext cx="4023360" cy="25603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DTN Works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Store-and-forward: custody transfer at each hop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Bundle Protocol v7 (RFC 9171) — no end-to-end session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Opportunistic contacts exploited automatically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Tolerates hours-to-days of link disruption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LTP (RFC 5326)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Licklider Transmission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RFC 5326 — deep-space links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Reliable segments + retransmission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Handles long light-time delays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TCPCL (RFC 7242)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TCP Convergence Layer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RFC 7242 — Earth segment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Session management over TCP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Reliable terrestrial backhaul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UDP-CL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UDP Convergence Layer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Optical inter-satellite links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Fragmentation + loss simulation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Low-latency mesh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pic>
        <p:nvPicPr>
          <p:cNvPr id="15" name="Picture 14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8404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27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8412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Nodes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T1 — Earth Ground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stations (Goldstone, Madrid, Canberra)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T2 — Earth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GEO relays + 48 LEO laser satellites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T3 — 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ES-L4, ES-L5 Lagrange point relays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T4 — Mars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relay + polar orbit relays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T5 — Mars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Habitats, rovers, drones, sensor networks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3474720"/>
          <a:ext cx="84124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 ↔ 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optical laser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Deep Space ↔ Mars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2–200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(distance-dependent)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Orbital ↔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 radio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Inter-Satellite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 Gbps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Laser ISL mesh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27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27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Faster Than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link_budge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480560"/>
            <a:ext cx="84124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ratio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</a:t>
            </a:r>
          </a:p>
        </p:txBody>
      </p:sp>
      <p:pic>
        <p:nvPicPr>
          <p:cNvPr id="10" name="Picture 9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166360"/>
            <a:ext cx="8412480" cy="1508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27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 with decay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+20–40%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Faster delivery vs CGR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3600×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Federated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learning</a:t>
            </a:r>
          </a:p>
        </p:txBody>
      </p:sp>
      <p:pic>
        <p:nvPicPr>
          <p:cNvPr id="10" name="Picture 9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074920"/>
            <a:ext cx="841248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27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(ML-KEM) — key encapsulation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(ML-DSA) — digital signatures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394960"/>
            <a:ext cx="841248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27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distance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49039"/>
            <a:ext cx="841248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RADIATION-HARDENED COMPUTING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4AA"/>
                </a:solidFill>
                <a:latin typeface="Calibri"/>
              </a:defRPr>
            </a:pPr>
            <a:r>
              <a:t>Surviving SEUs, latchup and total dose on the way to Mars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Effect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Single bit flip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SECDED ECC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MBU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Multi-bit flip (1 ion)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interleaving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Latchup (destructive)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Current limit + power-cycle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TID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Cumulative dose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Rad-hard parts (RAD750)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463040"/>
            <a:ext cx="548640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4D4D"/>
                </a:solidFill>
                <a:latin typeface="Calibri"/>
              </a:defRPr>
            </a:pPr>
            <a:r>
              <a:t>Defense-in-Depth Stack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• TMR — triple replicas, majority vote (masks logic faults)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• SECDED (39,32) ECC — correct 1 bit, detect 2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• Scrubbing — rewrite memory before a 2nd upset accumulates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• FDIR + watchdog — detect → isolate → reset → SAFE-MODE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200x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Fewer errors (ECC + scrub + interleave)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3,334x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TMR reliability gain (p=1e-4/op)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200 krad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RAD750 TID tolerance (&gt;2000x margin)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402336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~0.9 / day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Residual uncorrectable, Earth-Mars transit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6"/>
                </a:solidFill>
                <a:latin typeface="Calibri"/>
              </a:defRPr>
            </a:pPr>
            <a:r>
              <a:t>Model: 512 Mbit, ~210-day GCR cruise. ~37,000 raw bit upsets reduced to ~186 uncorrectable over the mission. Heritage: NASA RAD750 (Curiosity/Perseverance), ESA LEON3FT.  →  src/computing/radiation.py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MISSION-CRITICAL DATA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4AA"/>
                </a:solidFill>
                <a:latin typeface="Calibri"/>
              </a:defRPr>
            </a:pPr>
            <a:r>
              <a:t>Bandwidth triage: get the right bits home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 / Safety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Health telemetry, collision avoidance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Mission-critical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Command ACKs, time-sensitive science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High-priority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Routine telemetry, scheduled science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/ 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Housekeeping logs, file transfers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49440" y="146304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type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121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3x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Imagery (lossy)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122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10x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H.265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50x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Link utilization (no wasted bandwidth)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5 / 6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Items fully delivered by priority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23360"/>
            <a:ext cx="274320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Fragmentation defers bulk remainder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402336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Preempt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Emergency uses direct-to-Earth backup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6"/>
                </a:solidFill>
                <a:latin typeface="Calibri"/>
              </a:defRPr>
            </a:pPr>
            <a:r>
              <a:t>Scenario: 30 Mbps, 15-min contact, oversubscribed. Deadline-aware, preemptive QoS scheduler delivers emergency + mission + science first; 6 GB software update fragmented to the next pass.  →  src/routing/prioritization.py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27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END-TO-END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Mars Surface → Earth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Rover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95823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UHF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32990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Areostationary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70158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Polar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07326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Deep Space 1550 nm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44494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LEO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81662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DSN / MOC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1246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 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130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Packet Loss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898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Network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11094415" cy="10972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4D4D"/>
                </a:solidFill>
                <a:latin typeface="Calibri"/>
              </a:defRPr>
            </a:pPr>
            <a:r>
              <a:t>⚠ FAILURE SCENARIO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Solar flare at T+400s → stored at MRS-Polar → rerouted via ES-L4 → delayed ~30 min NOT LOST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27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10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Application → Transport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1. Source Node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Science data generated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2. Bundle Protocol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BPv7 wraps data + metadata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3. RL Routing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Agent evaluates state, selects hop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4. QKD Encrypt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BB84 shared key applied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10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→ Physical → Delivery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1. LTP Segmentation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Bundle split into blocks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2. Store &amp; Wait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Buffer until link available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3. Physical TX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UHF → Optical ISL → 1550 nm → Ka-band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4. LTP Reassemble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Reassemble → Decrypt →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27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27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454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Improvement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10-20×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+20-35%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Autonomous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Quantum-proof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24-48×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Cost per MB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$0.10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10× cheaper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50-70% via L4/L5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389120"/>
            <a:ext cx="4297680" cy="1828800"/>
          </a:xfrm>
          <a:prstGeom prst="rect">
            <a:avLst/>
          </a:prstGeom>
        </p:spPr>
      </p:pic>
      <p:pic>
        <p:nvPicPr>
          <p:cNvPr id="6" name="Picture 5" descr="optical_vs_rf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4389120"/>
            <a:ext cx="429768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149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4838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 (deep space)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BPSec (security)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Bundle 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734.3-B-1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SABR (contact routing)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comms phys.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27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149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ss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4023360" cy="2468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25 / 27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26 / 27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