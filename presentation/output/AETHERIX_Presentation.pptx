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State your name clearly. Read the topic number and title exactly as on the exam paper. Pause to let examiners see it. Point to the logo. This is your first impression. (30 seconds)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overview of what we will cover. 13 topics across 29 slides. About 20 minutes. (20 seconds)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sets up the narrative arc. First explain what AETHERIX is in plain language - it's like the postal service for interplanetary space. Then pivot to the problem: TCP/IP was never designed for space. 22-minute delays break every assumption. Solar conjunction blackouts. Static routing. Vulnerable crypto. Each problem maps to one of our solutions. (1.5 minutes)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scale. 54.6M to 401M km. Light itself takes 3-22 minutes one way. TCP/IP was designed for sub-second round trips. In space, by the time a packet acknowledgment returns, the link may be gone. Solar conjunction causes 2-week blackout. This is why NASA calls it Delay-Tolerant Networking. (1.5 minutes)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Earth-Mars distance varies over the 780-day synodic period. (15 seconds)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One-way light delay ranges from 3 to 22 minutes. (15 seconds)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key insight: instead of requiring an end-to-end connection like TCP, DTN works like the postal service. Each node takes custody of your data and forwards it when a link becomes available. Three pillars: BPv7 for the protocol, RL for intelligent routing, QKD for security. (1.5 minutes)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the architecture. Six core modules feed into the simulation engine, which feeds the web showcase. Standards compliance at the bottom. Point to each module as you explain. (1 minute)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diagram showing source modules feeding simulation engine and web demos.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Distribution of 241 nodes across 5 network tiers. (15 seconds)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BPv7 is the postal service protocol. Walk through the stack: Application at top, BPv7 as the store-and-forward layer, three convergence layers for different link types, physical at bottom. Custody transfer is the key innovation - each node takes legal responsibility. Priority P0 (emergency) to P4 (bulk). (2 minutes)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priority classes from emergency to bulk. (15 seconds)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store-and-forward process. Bundle arrives, gets stored, node waits for next contact opportunity, then forwards. If link drops, bundle stays stored and retries. No data loss. This is fundamentally different from TCP's end-to-end retransmission. (1.5 minutes)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241 nodes across 5 tiers. Walk through each tier. Earth Ground is the DSN - three stations around the globe for 24/7 coverage. Earth Orbital has LEO laser mesh for optical backhaul. Deep Space has Lagrange point relays - these are the critical innovation for conjunction coverage. Mars Orbital has areostationary relays at 17,032 km. Mars Surface is the most populated tier. (2 minutes)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overview of the 5-tier topology with 3 redundant paths.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Network topology visualization.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DSN ground station coverage map. (15 seconds)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orbital relay positions in the network. (15 seconds)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THE LIVE DEMO from the Link Budget page. Show the 3 distance scenarios. 1550nm was chosen for telecom heritage and eye safety. FSPL at average distance is -365 dB. The telescope apertures are realistic for spacecraft. RF backup for reliability. (2 minutes)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rate degrades with distance squared. (15 seconds)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Link budget analysis showing free-space path loss as the dominant factor. (15 seconds)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Interactive journey visualization.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Protocol latency overhead comparison. (15 seconds)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Daily data volume throughput comparison. (15 seconds)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CGR is what NASA uses today. It's static - you have to pre-compute schedules. Our RL agent learns from experience. 8 state variables, 4 actions. The reward function balances delivery probability against delay, hops, drops, and energy. Multi-agent federated learning means agents at each node share knowledge. (2 minutes)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RL agent Q-value heatmap showing learned routing preferences. (15 seconds)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RL agent energy efficiency optimization. (15 seconds)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BB84 is beautifully simple: send qubits, measure, compare bases, check QBER. If QBER is below 11%, no one listened in. CASCADE reconciliation and privacy amplification clean the key. E91 uses entanglement. Quantum repeaters at Lagrange points extend range. Post-quantum crypto as backup layer. (2 minutes)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QKD security analysis with QBER threshold. (15 seconds)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QKD key generation rate versus distance. (15 seconds)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Mars and Earth dance around the Sun with a 26-month synodic period. Everything changes - distance, delay, bandwidth. At opposition we get great bandwidth. At conjunction, the Sun blocks everything. Our Lagrange relays at ES-L4 and ES-L5 maintain 50-70% capacity during conjunction. Doppler shift of 15 GHz at optical wavelengths requires real-time compensation. (1.5 minutes)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Contact window prediction over the synodic period. (15 seconds)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Space radiation is relentless. SEUs flip bits constantly - about 37,000 during a Mars transit. Our defense-in-depth: TMR masks logic faults (3,334x reliability gain), SECDED ECC corrects single-bit errors, scrubbing prevents double-bit accumulation, and FDIR with a watchdog catches everything else. The RAD750 can tolerate 200 krad - far above what a Mars mission needs. (1.5 minutes)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Like an emergency room. P0 emergency gets sent immediately - it can even preempt an in-progress transfer. P1 mission-critical next. P2 routine science. P4 bulk data fills remaining bandwidth. Compression multiplies effective capacity: 3x for telemetry, 10x for images, 50x for video. Our scheduler keeps the link at 100% utilization by fragmenting large bundles. (1.5 minutes)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7-hop journey. 500MB from Perseverance to JPL. Total transit ~13 min vs 12.5 min light-time - near speed of light! DTN overhead under 5%. Key point: if link drops at hop 5, the bundle stays stored at hop 4 and retries. No data loss. RUN LIVE DEMO if time permits. (2 minutes)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End-to-end bundle journey through all protocol layers.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data flow through the protocol stack.</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Hit these numbers with confidence. 10-100x faster. &gt;95% availability vs 60-75%. Quantum-secure. 241 nodes vs 5-10 assets. The conjunction improvement is thanks to Lagrange relays. All metrics are backed by our simulation engine. (1 minute)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Side-by-side performance comparison chart. (15 seconds)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Optical versus RF link capability radar chart. (15 seconds)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real, working code. 27 Python modules, 189 tests, 12 interactive demos. All the physics is real - no mocked data. The showcase site has live calculators you can use right now. Standards compliance is complete - CCSDS, IETF, and NIST. (1.5 minutes)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Bandwidth evolution over deep-space missions. (15 seconds)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Mission timeline deployment phases. (15 seconds)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Phases 1-4 are done - this is what you see today. Phase 5: ns-3 simulation for realistic network modeling. Phase 6: Upgrade to DQN and integrate with NASA's ION-DTN implementation. Phase 7: Hardware prototypes with SDRs and optical links. (1.5 minutes)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Summarize the problem and solution clearly. Re-read the exam topic verbatim. Point to the numbers. Offer to show live demos or answer questions. Thank the examiners. (1 minute)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Summarize the four key numbers: 10-100x faster, &gt;95% availability, AI-powered routing, quantum-secure. Invite questions confidently. Make eye contact. Point to the live demo link. Thank the audience. (30 seconds)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0E1A"/>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097280"/>
            <a:ext cx="9418320" cy="1371600"/>
          </a:xfrm>
          <a:prstGeom prst="rect">
            <a:avLst/>
          </a:prstGeom>
          <a:noFill/>
        </p:spPr>
        <p:txBody>
          <a:bodyPr wrap="square">
            <a:spAutoFit/>
          </a:bodyPr>
          <a:lstStyle/>
          <a:p>
            <a:pPr algn="ctr">
              <a:defRPr sz="7200" b="1">
                <a:solidFill>
                  <a:srgbClr val="FFFFFF"/>
                </a:solidFill>
                <a:latin typeface="Calibri"/>
              </a:defRPr>
            </a:pPr>
            <a:r>
              <a:t>AETHERIX</a:t>
            </a:r>
          </a:p>
        </p:txBody>
      </p:sp>
      <p:sp>
        <p:nvSpPr>
          <p:cNvPr id="4" name="Rectangle 3"/>
          <p:cNvSpPr/>
          <p:nvPr/>
        </p:nvSpPr>
        <p:spPr>
          <a:xfrm>
            <a:off x="4114800" y="2286000"/>
            <a:ext cx="3931920" cy="508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560320"/>
            <a:ext cx="10332720" cy="914400"/>
          </a:xfrm>
          <a:prstGeom prst="rect">
            <a:avLst/>
          </a:prstGeom>
          <a:noFill/>
        </p:spPr>
        <p:txBody>
          <a:bodyPr wrap="square">
            <a:spAutoFit/>
          </a:bodyPr>
          <a:lstStyle/>
          <a:p>
            <a:pPr algn="ctr">
              <a:defRPr sz="2200" b="0">
                <a:solidFill>
                  <a:srgbClr val="00D4AA"/>
                </a:solidFill>
                <a:latin typeface="Calibri"/>
              </a:defRPr>
            </a:pPr>
            <a:r>
              <a:t>Autonomous Extraterrestrial High-throughput Enhancing Routing</a:t>
            </a:r>
            <a:br/>
            <a:r>
              <a:t>and Inter-planetary eXchange</a:t>
            </a:r>
          </a:p>
        </p:txBody>
      </p:sp>
      <p:sp>
        <p:nvSpPr>
          <p:cNvPr id="6" name="TextBox 5"/>
          <p:cNvSpPr txBox="1"/>
          <p:nvPr/>
        </p:nvSpPr>
        <p:spPr>
          <a:xfrm>
            <a:off x="1828800" y="3657600"/>
            <a:ext cx="8503920" cy="457200"/>
          </a:xfrm>
          <a:prstGeom prst="rect">
            <a:avLst/>
          </a:prstGeom>
          <a:noFill/>
        </p:spPr>
        <p:txBody>
          <a:bodyPr wrap="square">
            <a:spAutoFit/>
          </a:bodyPr>
          <a:lstStyle/>
          <a:p>
            <a:pPr algn="ctr">
              <a:defRPr sz="1600" b="0">
                <a:solidFill>
                  <a:srgbClr val="B0B8CC"/>
                </a:solidFill>
                <a:latin typeface="Calibri"/>
              </a:defRPr>
            </a:pPr>
            <a:r>
              <a:t>EduQual Level 6 Diploma in AI Operations  |  Topic 59</a:t>
            </a:r>
          </a:p>
        </p:txBody>
      </p:sp>
      <p:sp>
        <p:nvSpPr>
          <p:cNvPr id="7" name="TextBox 6"/>
          <p:cNvSpPr txBox="1"/>
          <p:nvPr/>
        </p:nvSpPr>
        <p:spPr>
          <a:xfrm>
            <a:off x="1828800" y="4114800"/>
            <a:ext cx="8503920" cy="457200"/>
          </a:xfrm>
          <a:prstGeom prst="rect">
            <a:avLst/>
          </a:prstGeom>
          <a:noFill/>
        </p:spPr>
        <p:txBody>
          <a:bodyPr wrap="square">
            <a:spAutoFit/>
          </a:bodyPr>
          <a:lstStyle/>
          <a:p>
            <a:pPr algn="ctr">
              <a:defRPr sz="1400" b="0">
                <a:solidFill>
                  <a:srgbClr val="6B7B96"/>
                </a:solidFill>
                <a:latin typeface="Calibri"/>
              </a:defRPr>
            </a:pPr>
            <a:r>
              <a:t>Building an Interplanetary Communication Network with DTN,</a:t>
            </a:r>
            <a:br/>
            <a:r>
              <a:t>Quantum Communication, and Space-Based Infrastructure for Mars Mission Support</a:t>
            </a:r>
          </a:p>
        </p:txBody>
      </p:sp>
      <p:sp>
        <p:nvSpPr>
          <p:cNvPr id="8" name="Rectangle 7"/>
          <p:cNvSpPr/>
          <p:nvPr/>
        </p:nvSpPr>
        <p:spPr>
          <a:xfrm>
            <a:off x="3200400" y="4846320"/>
            <a:ext cx="5760720" cy="25400"/>
          </a:xfrm>
          <a:prstGeom prst="rect">
            <a:avLst/>
          </a:prstGeom>
          <a:solidFill>
            <a:srgbClr val="00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828800" y="5120640"/>
            <a:ext cx="8503920" cy="457200"/>
          </a:xfrm>
          <a:prstGeom prst="rect">
            <a:avLst/>
          </a:prstGeom>
          <a:noFill/>
        </p:spPr>
        <p:txBody>
          <a:bodyPr wrap="square">
            <a:spAutoFit/>
          </a:bodyPr>
          <a:lstStyle/>
          <a:p>
            <a:pPr algn="ctr">
              <a:defRPr sz="2000" b="1">
                <a:solidFill>
                  <a:srgbClr val="FFFFFF"/>
                </a:solidFill>
                <a:latin typeface="Calibri"/>
              </a:defRPr>
            </a:pPr>
            <a:r>
              <a:t>Muhammad Abdullah Tariq</a:t>
            </a:r>
          </a:p>
        </p:txBody>
      </p:sp>
      <p:sp>
        <p:nvSpPr>
          <p:cNvPr id="10" name="TextBox 9"/>
          <p:cNvSpPr txBox="1"/>
          <p:nvPr/>
        </p:nvSpPr>
        <p:spPr>
          <a:xfrm>
            <a:off x="1828800" y="5577840"/>
            <a:ext cx="8503920" cy="457200"/>
          </a:xfrm>
          <a:prstGeom prst="rect">
            <a:avLst/>
          </a:prstGeom>
          <a:noFill/>
        </p:spPr>
        <p:txBody>
          <a:bodyPr wrap="square">
            <a:spAutoFit/>
          </a:bodyPr>
          <a:lstStyle/>
          <a:p>
            <a:pPr algn="ctr">
              <a:defRPr sz="1400" b="0">
                <a:solidFill>
                  <a:srgbClr val="6B7B96"/>
                </a:solidFill>
                <a:latin typeface="Calibri"/>
              </a:defRPr>
            </a:pPr>
            <a:r>
              <a:t>January 2026</a:t>
            </a:r>
          </a:p>
        </p:txBody>
      </p:sp>
      <p:sp>
        <p:nvSpPr>
          <p:cNvPr id="11" name="TextBox 10"/>
          <p:cNvSpPr txBox="1"/>
          <p:nvPr/>
        </p:nvSpPr>
        <p:spPr>
          <a:xfrm>
            <a:off x="1828800" y="6126480"/>
            <a:ext cx="8503920" cy="365760"/>
          </a:xfrm>
          <a:prstGeom prst="rect">
            <a:avLst/>
          </a:prstGeom>
          <a:noFill/>
        </p:spPr>
        <p:txBody>
          <a:bodyPr wrap="square">
            <a:spAutoFit/>
          </a:bodyPr>
          <a:lstStyle/>
          <a:p>
            <a:pPr algn="ctr">
              <a:defRPr sz="1200" b="0">
                <a:solidFill>
                  <a:srgbClr val="009EFF"/>
                </a:solidFill>
                <a:latin typeface="Calibri"/>
              </a:defRPr>
            </a:pPr>
            <a:r>
              <a:t>matx104.github.io/AETHERIX  |  github.com/matx104/AETHERIX</a:t>
            </a:r>
          </a:p>
        </p:txBody>
      </p:sp>
      <p:sp>
        <p:nvSpPr>
          <p:cNvPr id="12" name="Rectangle 11"/>
          <p:cNvSpPr/>
          <p:nvPr/>
        </p:nvSpPr>
        <p:spPr>
          <a:xfrm>
            <a:off x="0" y="6803136"/>
            <a:ext cx="12191695" cy="54864"/>
          </a:xfrm>
          <a:prstGeom prst="rect">
            <a:avLst/>
          </a:prstGeom>
          <a:solidFill>
            <a:srgbClr val="00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transition spd="med" advClick="1">
    <p:fade/>
  </p:transition>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0E1A"/>
        </a:solidFill>
        <a:effectLst/>
      </p:bgPr>
    </p:bg>
    <p:spTree>
      <p:nvGrpSpPr>
        <p:cNvPr id="1" name=""/>
        <p:cNvGrpSpPr/>
        <p:nvPr/>
      </p:nvGrpSpPr>
      <p:grpSpPr/>
      <p:sp>
        <p:nvSpPr>
          <p:cNvPr id="2" name="TextBox 1"/>
          <p:cNvSpPr txBox="1"/>
          <p:nvPr/>
        </p:nvSpPr>
        <p:spPr>
          <a:xfrm>
            <a:off x="640080" y="274320"/>
            <a:ext cx="10058400" cy="640080"/>
          </a:xfrm>
          <a:prstGeom prst="rect">
            <a:avLst/>
          </a:prstGeom>
          <a:noFill/>
        </p:spPr>
        <p:txBody>
          <a:bodyPr wrap="square">
            <a:spAutoFit/>
          </a:bodyPr>
          <a:lstStyle/>
          <a:p>
            <a:pPr algn="l">
              <a:defRPr sz="3600" b="1">
                <a:solidFill>
                  <a:srgbClr val="FFFFFF"/>
                </a:solidFill>
                <a:latin typeface="Calibri"/>
              </a:defRPr>
            </a:pPr>
            <a:r>
              <a:t>PRESENTATION AGENDA</a:t>
            </a:r>
          </a:p>
        </p:txBody>
      </p:sp>
      <p:sp>
        <p:nvSpPr>
          <p:cNvPr id="3" name="Rectangle 2"/>
          <p:cNvSpPr/>
          <p:nvPr/>
        </p:nvSpPr>
        <p:spPr>
          <a:xfrm>
            <a:off x="640080" y="868680"/>
            <a:ext cx="2743200" cy="381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00800"/>
            <a:ext cx="4572000" cy="365760"/>
          </a:xfrm>
          <a:prstGeom prst="rect">
            <a:avLst/>
          </a:prstGeom>
          <a:noFill/>
        </p:spPr>
        <p:txBody>
          <a:bodyPr wrap="square">
            <a:spAutoFit/>
          </a:bodyPr>
          <a:lstStyle/>
          <a:p>
            <a:pPr algn="l">
              <a:defRPr sz="1000" b="0">
                <a:solidFill>
                  <a:srgbClr val="6B7B96"/>
                </a:solidFill>
                <a:latin typeface="Calibri"/>
              </a:defRPr>
            </a:pPr>
            <a:r>
              <a:t>AETHERIX — Interplanetary Communication Network</a:t>
            </a:r>
          </a:p>
        </p:txBody>
      </p:sp>
      <p:sp>
        <p:nvSpPr>
          <p:cNvPr id="5" name="TextBox 4"/>
          <p:cNvSpPr txBox="1"/>
          <p:nvPr/>
        </p:nvSpPr>
        <p:spPr>
          <a:xfrm>
            <a:off x="10058400" y="6400800"/>
            <a:ext cx="1828800" cy="365760"/>
          </a:xfrm>
          <a:prstGeom prst="rect">
            <a:avLst/>
          </a:prstGeom>
          <a:noFill/>
        </p:spPr>
        <p:txBody>
          <a:bodyPr wrap="square">
            <a:spAutoFit/>
          </a:bodyPr>
          <a:lstStyle/>
          <a:p>
            <a:pPr algn="r">
              <a:defRPr sz="1000" b="0">
                <a:solidFill>
                  <a:srgbClr val="6B7B96"/>
                </a:solidFill>
                <a:latin typeface="Calibri"/>
              </a:defRPr>
            </a:pPr>
            <a:r>
              <a:t>2 / 46</a:t>
            </a:r>
          </a:p>
        </p:txBody>
      </p:sp>
      <p:sp>
        <p:nvSpPr>
          <p:cNvPr id="6" name="Rounded Rectangle 5"/>
          <p:cNvSpPr/>
          <p:nvPr/>
        </p:nvSpPr>
        <p:spPr>
          <a:xfrm>
            <a:off x="640080" y="1143000"/>
            <a:ext cx="5303520" cy="658368"/>
          </a:xfrm>
          <a:prstGeom prst="roundRect">
            <a:avLst/>
          </a:prstGeom>
          <a:solidFill>
            <a:srgbClr val="141B2D"/>
          </a:solidFill>
          <a:ln w="12700">
            <a:solidFill>
              <a:srgbClr val="009EFF"/>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defRPr sz="1600" b="1">
                <a:solidFill>
                  <a:srgbClr val="009EFF"/>
                </a:solidFill>
                <a:latin typeface="Calibri"/>
              </a:defRPr>
            </a:pPr>
          </a:p>
        </p:txBody>
      </p:sp>
      <p:sp>
        <p:nvSpPr>
          <p:cNvPr id="7" name="TextBox 6"/>
          <p:cNvSpPr txBox="1"/>
          <p:nvPr/>
        </p:nvSpPr>
        <p:spPr>
          <a:xfrm>
            <a:off x="777240" y="1197864"/>
            <a:ext cx="5029200" cy="292608"/>
          </a:xfrm>
          <a:prstGeom prst="rect">
            <a:avLst/>
          </a:prstGeom>
          <a:noFill/>
        </p:spPr>
        <p:txBody>
          <a:bodyPr wrap="square">
            <a:spAutoFit/>
          </a:bodyPr>
          <a:lstStyle/>
          <a:p>
            <a:pPr algn="l">
              <a:defRPr sz="1300" b="1">
                <a:solidFill>
                  <a:srgbClr val="FFFFFF"/>
                </a:solidFill>
                <a:latin typeface="Calibri"/>
              </a:defRPr>
            </a:pPr>
            <a:r>
              <a:t>01  The Challenge</a:t>
            </a:r>
          </a:p>
        </p:txBody>
      </p:sp>
      <p:sp>
        <p:nvSpPr>
          <p:cNvPr id="8" name="TextBox 7"/>
          <p:cNvSpPr txBox="1"/>
          <p:nvPr/>
        </p:nvSpPr>
        <p:spPr>
          <a:xfrm>
            <a:off x="777240" y="1490472"/>
            <a:ext cx="5029200" cy="274320"/>
          </a:xfrm>
          <a:prstGeom prst="rect">
            <a:avLst/>
          </a:prstGeom>
          <a:noFill/>
        </p:spPr>
        <p:txBody>
          <a:bodyPr wrap="square">
            <a:spAutoFit/>
          </a:bodyPr>
          <a:lstStyle/>
          <a:p>
            <a:pPr algn="l">
              <a:defRPr sz="1000" b="0">
                <a:solidFill>
                  <a:srgbClr val="B0B8CC"/>
                </a:solidFill>
                <a:latin typeface="Calibri"/>
              </a:defRPr>
            </a:pPr>
            <a:r>
              <a:t>Why space breaks the internet</a:t>
            </a:r>
          </a:p>
        </p:txBody>
      </p:sp>
      <p:sp>
        <p:nvSpPr>
          <p:cNvPr id="9" name="Rounded Rectangle 8"/>
          <p:cNvSpPr/>
          <p:nvPr/>
        </p:nvSpPr>
        <p:spPr>
          <a:xfrm>
            <a:off x="640080" y="1874520"/>
            <a:ext cx="5303520" cy="658368"/>
          </a:xfrm>
          <a:prstGeom prst="roundRect">
            <a:avLst/>
          </a:prstGeom>
          <a:solidFill>
            <a:srgbClr val="141B2D"/>
          </a:solidFill>
          <a:ln w="12700">
            <a:solidFill>
              <a:srgbClr val="00D4A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defRPr sz="1600" b="1">
                <a:solidFill>
                  <a:srgbClr val="009EFF"/>
                </a:solidFill>
                <a:latin typeface="Calibri"/>
              </a:defRPr>
            </a:pPr>
          </a:p>
        </p:txBody>
      </p:sp>
      <p:sp>
        <p:nvSpPr>
          <p:cNvPr id="10" name="TextBox 9"/>
          <p:cNvSpPr txBox="1"/>
          <p:nvPr/>
        </p:nvSpPr>
        <p:spPr>
          <a:xfrm>
            <a:off x="777240" y="1929384"/>
            <a:ext cx="5029200" cy="292608"/>
          </a:xfrm>
          <a:prstGeom prst="rect">
            <a:avLst/>
          </a:prstGeom>
          <a:noFill/>
        </p:spPr>
        <p:txBody>
          <a:bodyPr wrap="square">
            <a:spAutoFit/>
          </a:bodyPr>
          <a:lstStyle/>
          <a:p>
            <a:pPr algn="l">
              <a:defRPr sz="1300" b="1">
                <a:solidFill>
                  <a:srgbClr val="FFFFFF"/>
                </a:solidFill>
                <a:latin typeface="Calibri"/>
              </a:defRPr>
            </a:pPr>
            <a:r>
              <a:t>02  Architecture</a:t>
            </a:r>
          </a:p>
        </p:txBody>
      </p:sp>
      <p:sp>
        <p:nvSpPr>
          <p:cNvPr id="11" name="TextBox 10"/>
          <p:cNvSpPr txBox="1"/>
          <p:nvPr/>
        </p:nvSpPr>
        <p:spPr>
          <a:xfrm>
            <a:off x="777240" y="2221992"/>
            <a:ext cx="5029200" cy="274320"/>
          </a:xfrm>
          <a:prstGeom prst="rect">
            <a:avLst/>
          </a:prstGeom>
          <a:noFill/>
        </p:spPr>
        <p:txBody>
          <a:bodyPr wrap="square">
            <a:spAutoFit/>
          </a:bodyPr>
          <a:lstStyle/>
          <a:p>
            <a:pPr algn="l">
              <a:defRPr sz="1000" b="0">
                <a:solidFill>
                  <a:srgbClr val="B0B8CC"/>
                </a:solidFill>
                <a:latin typeface="Calibri"/>
              </a:defRPr>
            </a:pPr>
            <a:r>
              <a:t>DTN + AI + Quantum Security</a:t>
            </a:r>
          </a:p>
        </p:txBody>
      </p:sp>
      <p:sp>
        <p:nvSpPr>
          <p:cNvPr id="12" name="Rounded Rectangle 11"/>
          <p:cNvSpPr/>
          <p:nvPr/>
        </p:nvSpPr>
        <p:spPr>
          <a:xfrm>
            <a:off x="640080" y="2606040"/>
            <a:ext cx="5303520" cy="658368"/>
          </a:xfrm>
          <a:prstGeom prst="roundRect">
            <a:avLst/>
          </a:prstGeom>
          <a:solidFill>
            <a:srgbClr val="141B2D"/>
          </a:solidFill>
          <a:ln w="127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defRPr sz="1600" b="1">
                <a:solidFill>
                  <a:srgbClr val="009EFF"/>
                </a:solidFill>
                <a:latin typeface="Calibri"/>
              </a:defRPr>
            </a:pPr>
          </a:p>
        </p:txBody>
      </p:sp>
      <p:sp>
        <p:nvSpPr>
          <p:cNvPr id="13" name="TextBox 12"/>
          <p:cNvSpPr txBox="1"/>
          <p:nvPr/>
        </p:nvSpPr>
        <p:spPr>
          <a:xfrm>
            <a:off x="777240" y="2660904"/>
            <a:ext cx="5029200" cy="292608"/>
          </a:xfrm>
          <a:prstGeom prst="rect">
            <a:avLst/>
          </a:prstGeom>
          <a:noFill/>
        </p:spPr>
        <p:txBody>
          <a:bodyPr wrap="square">
            <a:spAutoFit/>
          </a:bodyPr>
          <a:lstStyle/>
          <a:p>
            <a:pPr algn="l">
              <a:defRPr sz="1300" b="1">
                <a:solidFill>
                  <a:srgbClr val="FFFFFF"/>
                </a:solidFill>
                <a:latin typeface="Calibri"/>
              </a:defRPr>
            </a:pPr>
            <a:r>
              <a:t>03  DTN &amp; BPv7</a:t>
            </a:r>
          </a:p>
        </p:txBody>
      </p:sp>
      <p:sp>
        <p:nvSpPr>
          <p:cNvPr id="14" name="TextBox 13"/>
          <p:cNvSpPr txBox="1"/>
          <p:nvPr/>
        </p:nvSpPr>
        <p:spPr>
          <a:xfrm>
            <a:off x="777240" y="2953512"/>
            <a:ext cx="5029200" cy="274320"/>
          </a:xfrm>
          <a:prstGeom prst="rect">
            <a:avLst/>
          </a:prstGeom>
          <a:noFill/>
        </p:spPr>
        <p:txBody>
          <a:bodyPr wrap="square">
            <a:spAutoFit/>
          </a:bodyPr>
          <a:lstStyle/>
          <a:p>
            <a:pPr algn="l">
              <a:defRPr sz="1000" b="0">
                <a:solidFill>
                  <a:srgbClr val="B0B8CC"/>
                </a:solidFill>
                <a:latin typeface="Calibri"/>
              </a:defRPr>
            </a:pPr>
            <a:r>
              <a:t>Store-and-forward foundation</a:t>
            </a:r>
          </a:p>
        </p:txBody>
      </p:sp>
      <p:sp>
        <p:nvSpPr>
          <p:cNvPr id="15" name="Rounded Rectangle 14"/>
          <p:cNvSpPr/>
          <p:nvPr/>
        </p:nvSpPr>
        <p:spPr>
          <a:xfrm>
            <a:off x="640080" y="3337560"/>
            <a:ext cx="5303520" cy="658368"/>
          </a:xfrm>
          <a:prstGeom prst="roundRect">
            <a:avLst/>
          </a:prstGeom>
          <a:solidFill>
            <a:srgbClr val="141B2D"/>
          </a:solidFill>
          <a:ln w="12700">
            <a:solidFill>
              <a:srgbClr val="009EFF"/>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defRPr sz="1600" b="1">
                <a:solidFill>
                  <a:srgbClr val="009EFF"/>
                </a:solidFill>
                <a:latin typeface="Calibri"/>
              </a:defRPr>
            </a:pPr>
          </a:p>
        </p:txBody>
      </p:sp>
      <p:sp>
        <p:nvSpPr>
          <p:cNvPr id="16" name="TextBox 15"/>
          <p:cNvSpPr txBox="1"/>
          <p:nvPr/>
        </p:nvSpPr>
        <p:spPr>
          <a:xfrm>
            <a:off x="777240" y="3392424"/>
            <a:ext cx="5029200" cy="292608"/>
          </a:xfrm>
          <a:prstGeom prst="rect">
            <a:avLst/>
          </a:prstGeom>
          <a:noFill/>
        </p:spPr>
        <p:txBody>
          <a:bodyPr wrap="square">
            <a:spAutoFit/>
          </a:bodyPr>
          <a:lstStyle/>
          <a:p>
            <a:pPr algn="l">
              <a:defRPr sz="1300" b="1">
                <a:solidFill>
                  <a:srgbClr val="FFFFFF"/>
                </a:solidFill>
                <a:latin typeface="Calibri"/>
              </a:defRPr>
            </a:pPr>
            <a:r>
              <a:t>04  Topology</a:t>
            </a:r>
          </a:p>
        </p:txBody>
      </p:sp>
      <p:sp>
        <p:nvSpPr>
          <p:cNvPr id="17" name="TextBox 16"/>
          <p:cNvSpPr txBox="1"/>
          <p:nvPr/>
        </p:nvSpPr>
        <p:spPr>
          <a:xfrm>
            <a:off x="777240" y="3685032"/>
            <a:ext cx="5029200" cy="274320"/>
          </a:xfrm>
          <a:prstGeom prst="rect">
            <a:avLst/>
          </a:prstGeom>
          <a:noFill/>
        </p:spPr>
        <p:txBody>
          <a:bodyPr wrap="square">
            <a:spAutoFit/>
          </a:bodyPr>
          <a:lstStyle/>
          <a:p>
            <a:pPr algn="l">
              <a:defRPr sz="1000" b="0">
                <a:solidFill>
                  <a:srgbClr val="B0B8CC"/>
                </a:solidFill>
                <a:latin typeface="Calibri"/>
              </a:defRPr>
            </a:pPr>
            <a:r>
              <a:t>241 nodes across two worlds</a:t>
            </a:r>
          </a:p>
        </p:txBody>
      </p:sp>
      <p:sp>
        <p:nvSpPr>
          <p:cNvPr id="18" name="Rounded Rectangle 17"/>
          <p:cNvSpPr/>
          <p:nvPr/>
        </p:nvSpPr>
        <p:spPr>
          <a:xfrm>
            <a:off x="640080" y="4069080"/>
            <a:ext cx="5303520" cy="658368"/>
          </a:xfrm>
          <a:prstGeom prst="roundRect">
            <a:avLst/>
          </a:prstGeom>
          <a:solidFill>
            <a:srgbClr val="141B2D"/>
          </a:solidFill>
          <a:ln w="12700">
            <a:solidFill>
              <a:srgbClr val="FF8C00"/>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defRPr sz="1600" b="1">
                <a:solidFill>
                  <a:srgbClr val="009EFF"/>
                </a:solidFill>
                <a:latin typeface="Calibri"/>
              </a:defRPr>
            </a:pPr>
          </a:p>
        </p:txBody>
      </p:sp>
      <p:sp>
        <p:nvSpPr>
          <p:cNvPr id="19" name="TextBox 18"/>
          <p:cNvSpPr txBox="1"/>
          <p:nvPr/>
        </p:nvSpPr>
        <p:spPr>
          <a:xfrm>
            <a:off x="777240" y="4123944"/>
            <a:ext cx="5029200" cy="292608"/>
          </a:xfrm>
          <a:prstGeom prst="rect">
            <a:avLst/>
          </a:prstGeom>
          <a:noFill/>
        </p:spPr>
        <p:txBody>
          <a:bodyPr wrap="square">
            <a:spAutoFit/>
          </a:bodyPr>
          <a:lstStyle/>
          <a:p>
            <a:pPr algn="l">
              <a:defRPr sz="1300" b="1">
                <a:solidFill>
                  <a:srgbClr val="FFFFFF"/>
                </a:solidFill>
                <a:latin typeface="Calibri"/>
              </a:defRPr>
            </a:pPr>
            <a:r>
              <a:t>05  Link Budget</a:t>
            </a:r>
          </a:p>
        </p:txBody>
      </p:sp>
      <p:sp>
        <p:nvSpPr>
          <p:cNvPr id="20" name="TextBox 19"/>
          <p:cNvSpPr txBox="1"/>
          <p:nvPr/>
        </p:nvSpPr>
        <p:spPr>
          <a:xfrm>
            <a:off x="777240" y="4416552"/>
            <a:ext cx="5029200" cy="274320"/>
          </a:xfrm>
          <a:prstGeom prst="rect">
            <a:avLst/>
          </a:prstGeom>
          <a:noFill/>
        </p:spPr>
        <p:txBody>
          <a:bodyPr wrap="square">
            <a:spAutoFit/>
          </a:bodyPr>
          <a:lstStyle/>
          <a:p>
            <a:pPr algn="l">
              <a:defRPr sz="1000" b="0">
                <a:solidFill>
                  <a:srgbClr val="B0B8CC"/>
                </a:solidFill>
                <a:latin typeface="Calibri"/>
              </a:defRPr>
            </a:pPr>
            <a:r>
              <a:t>1550nm laser analysis</a:t>
            </a:r>
          </a:p>
        </p:txBody>
      </p:sp>
      <p:sp>
        <p:nvSpPr>
          <p:cNvPr id="21" name="Rounded Rectangle 20"/>
          <p:cNvSpPr/>
          <p:nvPr/>
        </p:nvSpPr>
        <p:spPr>
          <a:xfrm>
            <a:off x="640080" y="4800600"/>
            <a:ext cx="5303520" cy="658368"/>
          </a:xfrm>
          <a:prstGeom prst="roundRect">
            <a:avLst/>
          </a:prstGeom>
          <a:solidFill>
            <a:srgbClr val="141B2D"/>
          </a:solidFill>
          <a:ln w="12700">
            <a:solidFill>
              <a:srgbClr val="00D4A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defRPr sz="1600" b="1">
                <a:solidFill>
                  <a:srgbClr val="009EFF"/>
                </a:solidFill>
                <a:latin typeface="Calibri"/>
              </a:defRPr>
            </a:pPr>
          </a:p>
        </p:txBody>
      </p:sp>
      <p:sp>
        <p:nvSpPr>
          <p:cNvPr id="22" name="TextBox 21"/>
          <p:cNvSpPr txBox="1"/>
          <p:nvPr/>
        </p:nvSpPr>
        <p:spPr>
          <a:xfrm>
            <a:off x="777240" y="4855464"/>
            <a:ext cx="5029200" cy="292608"/>
          </a:xfrm>
          <a:prstGeom prst="rect">
            <a:avLst/>
          </a:prstGeom>
          <a:noFill/>
        </p:spPr>
        <p:txBody>
          <a:bodyPr wrap="square">
            <a:spAutoFit/>
          </a:bodyPr>
          <a:lstStyle/>
          <a:p>
            <a:pPr algn="l">
              <a:defRPr sz="1300" b="1">
                <a:solidFill>
                  <a:srgbClr val="FFFFFF"/>
                </a:solidFill>
                <a:latin typeface="Calibri"/>
              </a:defRPr>
            </a:pPr>
            <a:r>
              <a:t>06  RL Routing</a:t>
            </a:r>
          </a:p>
        </p:txBody>
      </p:sp>
      <p:sp>
        <p:nvSpPr>
          <p:cNvPr id="23" name="TextBox 22"/>
          <p:cNvSpPr txBox="1"/>
          <p:nvPr/>
        </p:nvSpPr>
        <p:spPr>
          <a:xfrm>
            <a:off x="777240" y="5148072"/>
            <a:ext cx="5029200" cy="274320"/>
          </a:xfrm>
          <a:prstGeom prst="rect">
            <a:avLst/>
          </a:prstGeom>
          <a:noFill/>
        </p:spPr>
        <p:txBody>
          <a:bodyPr wrap="square">
            <a:spAutoFit/>
          </a:bodyPr>
          <a:lstStyle/>
          <a:p>
            <a:pPr algn="l">
              <a:defRPr sz="1000" b="0">
                <a:solidFill>
                  <a:srgbClr val="B0B8CC"/>
                </a:solidFill>
                <a:latin typeface="Calibri"/>
              </a:defRPr>
            </a:pPr>
            <a:r>
              <a:t>Multi-agent federated Q-learning</a:t>
            </a:r>
          </a:p>
        </p:txBody>
      </p:sp>
      <p:sp>
        <p:nvSpPr>
          <p:cNvPr id="24" name="Rounded Rectangle 23"/>
          <p:cNvSpPr/>
          <p:nvPr/>
        </p:nvSpPr>
        <p:spPr>
          <a:xfrm>
            <a:off x="640080" y="5532120"/>
            <a:ext cx="5303520" cy="658368"/>
          </a:xfrm>
          <a:prstGeom prst="roundRect">
            <a:avLst/>
          </a:prstGeom>
          <a:solidFill>
            <a:srgbClr val="141B2D"/>
          </a:solidFill>
          <a:ln w="127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defRPr sz="1600" b="1">
                <a:solidFill>
                  <a:srgbClr val="009EFF"/>
                </a:solidFill>
                <a:latin typeface="Calibri"/>
              </a:defRPr>
            </a:pPr>
          </a:p>
        </p:txBody>
      </p:sp>
      <p:sp>
        <p:nvSpPr>
          <p:cNvPr id="25" name="TextBox 24"/>
          <p:cNvSpPr txBox="1"/>
          <p:nvPr/>
        </p:nvSpPr>
        <p:spPr>
          <a:xfrm>
            <a:off x="777240" y="5586984"/>
            <a:ext cx="5029200" cy="292608"/>
          </a:xfrm>
          <a:prstGeom prst="rect">
            <a:avLst/>
          </a:prstGeom>
          <a:noFill/>
        </p:spPr>
        <p:txBody>
          <a:bodyPr wrap="square">
            <a:spAutoFit/>
          </a:bodyPr>
          <a:lstStyle/>
          <a:p>
            <a:pPr algn="l">
              <a:defRPr sz="1300" b="1">
                <a:solidFill>
                  <a:srgbClr val="FFFFFF"/>
                </a:solidFill>
                <a:latin typeface="Calibri"/>
              </a:defRPr>
            </a:pPr>
            <a:r>
              <a:t>07  Quantum Security</a:t>
            </a:r>
          </a:p>
        </p:txBody>
      </p:sp>
      <p:sp>
        <p:nvSpPr>
          <p:cNvPr id="26" name="TextBox 25"/>
          <p:cNvSpPr txBox="1"/>
          <p:nvPr/>
        </p:nvSpPr>
        <p:spPr>
          <a:xfrm>
            <a:off x="777240" y="5879592"/>
            <a:ext cx="5029200" cy="274320"/>
          </a:xfrm>
          <a:prstGeom prst="rect">
            <a:avLst/>
          </a:prstGeom>
          <a:noFill/>
        </p:spPr>
        <p:txBody>
          <a:bodyPr wrap="square">
            <a:spAutoFit/>
          </a:bodyPr>
          <a:lstStyle/>
          <a:p>
            <a:pPr algn="l">
              <a:defRPr sz="1000" b="0">
                <a:solidFill>
                  <a:srgbClr val="B0B8CC"/>
                </a:solidFill>
                <a:latin typeface="Calibri"/>
              </a:defRPr>
            </a:pPr>
            <a:r>
              <a:t>BB84/E91 + repeater chains</a:t>
            </a:r>
          </a:p>
        </p:txBody>
      </p:sp>
      <p:sp>
        <p:nvSpPr>
          <p:cNvPr id="27" name="Rounded Rectangle 26"/>
          <p:cNvSpPr/>
          <p:nvPr/>
        </p:nvSpPr>
        <p:spPr>
          <a:xfrm>
            <a:off x="6217920" y="1143000"/>
            <a:ext cx="5303520" cy="658368"/>
          </a:xfrm>
          <a:prstGeom prst="roundRect">
            <a:avLst/>
          </a:prstGeom>
          <a:solidFill>
            <a:srgbClr val="141B2D"/>
          </a:solidFill>
          <a:ln w="12700">
            <a:solidFill>
              <a:srgbClr val="009EFF"/>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defRPr sz="1600" b="1">
                <a:solidFill>
                  <a:srgbClr val="009EFF"/>
                </a:solidFill>
                <a:latin typeface="Calibri"/>
              </a:defRPr>
            </a:pPr>
          </a:p>
        </p:txBody>
      </p:sp>
      <p:sp>
        <p:nvSpPr>
          <p:cNvPr id="28" name="TextBox 27"/>
          <p:cNvSpPr txBox="1"/>
          <p:nvPr/>
        </p:nvSpPr>
        <p:spPr>
          <a:xfrm>
            <a:off x="6355080" y="1197864"/>
            <a:ext cx="5029200" cy="292608"/>
          </a:xfrm>
          <a:prstGeom prst="rect">
            <a:avLst/>
          </a:prstGeom>
          <a:noFill/>
        </p:spPr>
        <p:txBody>
          <a:bodyPr wrap="square">
            <a:spAutoFit/>
          </a:bodyPr>
          <a:lstStyle/>
          <a:p>
            <a:pPr algn="l">
              <a:defRPr sz="1300" b="1">
                <a:solidFill>
                  <a:srgbClr val="FFFFFF"/>
                </a:solidFill>
                <a:latin typeface="Calibri"/>
              </a:defRPr>
            </a:pPr>
            <a:r>
              <a:t>08  Orbital Mechanics</a:t>
            </a:r>
          </a:p>
        </p:txBody>
      </p:sp>
      <p:sp>
        <p:nvSpPr>
          <p:cNvPr id="29" name="TextBox 28"/>
          <p:cNvSpPr txBox="1"/>
          <p:nvPr/>
        </p:nvSpPr>
        <p:spPr>
          <a:xfrm>
            <a:off x="6355080" y="1490472"/>
            <a:ext cx="5029200" cy="274320"/>
          </a:xfrm>
          <a:prstGeom prst="rect">
            <a:avLst/>
          </a:prstGeom>
          <a:noFill/>
        </p:spPr>
        <p:txBody>
          <a:bodyPr wrap="square">
            <a:spAutoFit/>
          </a:bodyPr>
          <a:lstStyle/>
          <a:p>
            <a:pPr algn="l">
              <a:defRPr sz="1000" b="0">
                <a:solidFill>
                  <a:srgbClr val="B0B8CC"/>
                </a:solidFill>
                <a:latin typeface="Calibri"/>
              </a:defRPr>
            </a:pPr>
            <a:r>
              <a:t>Contact windows &amp; synodic period</a:t>
            </a:r>
          </a:p>
        </p:txBody>
      </p:sp>
      <p:sp>
        <p:nvSpPr>
          <p:cNvPr id="30" name="Rounded Rectangle 29"/>
          <p:cNvSpPr/>
          <p:nvPr/>
        </p:nvSpPr>
        <p:spPr>
          <a:xfrm>
            <a:off x="6217920" y="1874520"/>
            <a:ext cx="5303520" cy="658368"/>
          </a:xfrm>
          <a:prstGeom prst="roundRect">
            <a:avLst/>
          </a:prstGeom>
          <a:solidFill>
            <a:srgbClr val="141B2D"/>
          </a:solidFill>
          <a:ln w="12700">
            <a:solidFill>
              <a:srgbClr val="FF4D4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defRPr sz="1600" b="1">
                <a:solidFill>
                  <a:srgbClr val="009EFF"/>
                </a:solidFill>
                <a:latin typeface="Calibri"/>
              </a:defRPr>
            </a:pPr>
          </a:p>
        </p:txBody>
      </p:sp>
      <p:sp>
        <p:nvSpPr>
          <p:cNvPr id="31" name="TextBox 30"/>
          <p:cNvSpPr txBox="1"/>
          <p:nvPr/>
        </p:nvSpPr>
        <p:spPr>
          <a:xfrm>
            <a:off x="6355080" y="1929384"/>
            <a:ext cx="5029200" cy="292608"/>
          </a:xfrm>
          <a:prstGeom prst="rect">
            <a:avLst/>
          </a:prstGeom>
          <a:noFill/>
        </p:spPr>
        <p:txBody>
          <a:bodyPr wrap="square">
            <a:spAutoFit/>
          </a:bodyPr>
          <a:lstStyle/>
          <a:p>
            <a:pPr algn="l">
              <a:defRPr sz="1300" b="1">
                <a:solidFill>
                  <a:srgbClr val="FFFFFF"/>
                </a:solidFill>
                <a:latin typeface="Calibri"/>
              </a:defRPr>
            </a:pPr>
            <a:r>
              <a:t>09  Radiation Hardening</a:t>
            </a:r>
          </a:p>
        </p:txBody>
      </p:sp>
      <p:sp>
        <p:nvSpPr>
          <p:cNvPr id="32" name="TextBox 31"/>
          <p:cNvSpPr txBox="1"/>
          <p:nvPr/>
        </p:nvSpPr>
        <p:spPr>
          <a:xfrm>
            <a:off x="6355080" y="2221992"/>
            <a:ext cx="5029200" cy="274320"/>
          </a:xfrm>
          <a:prstGeom prst="rect">
            <a:avLst/>
          </a:prstGeom>
          <a:noFill/>
        </p:spPr>
        <p:txBody>
          <a:bodyPr wrap="square">
            <a:spAutoFit/>
          </a:bodyPr>
          <a:lstStyle/>
          <a:p>
            <a:pPr algn="l">
              <a:defRPr sz="1000" b="0">
                <a:solidFill>
                  <a:srgbClr val="B0B8CC"/>
                </a:solidFill>
                <a:latin typeface="Calibri"/>
              </a:defRPr>
            </a:pPr>
            <a:r>
              <a:t>SEU/TID, TMR, ECC, scrubbing, FDIR</a:t>
            </a:r>
          </a:p>
        </p:txBody>
      </p:sp>
      <p:sp>
        <p:nvSpPr>
          <p:cNvPr id="33" name="Rounded Rectangle 32"/>
          <p:cNvSpPr/>
          <p:nvPr/>
        </p:nvSpPr>
        <p:spPr>
          <a:xfrm>
            <a:off x="6217920" y="2606040"/>
            <a:ext cx="5303520" cy="658368"/>
          </a:xfrm>
          <a:prstGeom prst="roundRect">
            <a:avLst/>
          </a:prstGeom>
          <a:solidFill>
            <a:srgbClr val="141B2D"/>
          </a:solidFill>
          <a:ln w="12700">
            <a:solidFill>
              <a:srgbClr val="FF8C00"/>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defRPr sz="1600" b="1">
                <a:solidFill>
                  <a:srgbClr val="009EFF"/>
                </a:solidFill>
                <a:latin typeface="Calibri"/>
              </a:defRPr>
            </a:pPr>
          </a:p>
        </p:txBody>
      </p:sp>
      <p:sp>
        <p:nvSpPr>
          <p:cNvPr id="34" name="TextBox 33"/>
          <p:cNvSpPr txBox="1"/>
          <p:nvPr/>
        </p:nvSpPr>
        <p:spPr>
          <a:xfrm>
            <a:off x="6355080" y="2660904"/>
            <a:ext cx="5029200" cy="292608"/>
          </a:xfrm>
          <a:prstGeom prst="rect">
            <a:avLst/>
          </a:prstGeom>
          <a:noFill/>
        </p:spPr>
        <p:txBody>
          <a:bodyPr wrap="square">
            <a:spAutoFit/>
          </a:bodyPr>
          <a:lstStyle/>
          <a:p>
            <a:pPr algn="l">
              <a:defRPr sz="1300" b="1">
                <a:solidFill>
                  <a:srgbClr val="FFFFFF"/>
                </a:solidFill>
                <a:latin typeface="Calibri"/>
              </a:defRPr>
            </a:pPr>
            <a:r>
              <a:t>10  Data Prioritization</a:t>
            </a:r>
          </a:p>
        </p:txBody>
      </p:sp>
      <p:sp>
        <p:nvSpPr>
          <p:cNvPr id="35" name="TextBox 34"/>
          <p:cNvSpPr txBox="1"/>
          <p:nvPr/>
        </p:nvSpPr>
        <p:spPr>
          <a:xfrm>
            <a:off x="6355080" y="2953512"/>
            <a:ext cx="5029200" cy="274320"/>
          </a:xfrm>
          <a:prstGeom prst="rect">
            <a:avLst/>
          </a:prstGeom>
          <a:noFill/>
        </p:spPr>
        <p:txBody>
          <a:bodyPr wrap="square">
            <a:spAutoFit/>
          </a:bodyPr>
          <a:lstStyle/>
          <a:p>
            <a:pPr algn="l">
              <a:defRPr sz="1000" b="0">
                <a:solidFill>
                  <a:srgbClr val="B0B8CC"/>
                </a:solidFill>
                <a:latin typeface="Calibri"/>
              </a:defRPr>
            </a:pPr>
            <a:r>
              <a:t>QoS triage, compression, preemption</a:t>
            </a:r>
          </a:p>
        </p:txBody>
      </p:sp>
      <p:sp>
        <p:nvSpPr>
          <p:cNvPr id="36" name="Rounded Rectangle 35"/>
          <p:cNvSpPr/>
          <p:nvPr/>
        </p:nvSpPr>
        <p:spPr>
          <a:xfrm>
            <a:off x="6217920" y="3337560"/>
            <a:ext cx="5303520" cy="658368"/>
          </a:xfrm>
          <a:prstGeom prst="roundRect">
            <a:avLst/>
          </a:prstGeom>
          <a:solidFill>
            <a:srgbClr val="141B2D"/>
          </a:solidFill>
          <a:ln w="12700">
            <a:solidFill>
              <a:srgbClr val="FF8C00"/>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defRPr sz="1600" b="1">
                <a:solidFill>
                  <a:srgbClr val="009EFF"/>
                </a:solidFill>
                <a:latin typeface="Calibri"/>
              </a:defRPr>
            </a:pPr>
          </a:p>
        </p:txBody>
      </p:sp>
      <p:sp>
        <p:nvSpPr>
          <p:cNvPr id="37" name="TextBox 36"/>
          <p:cNvSpPr txBox="1"/>
          <p:nvPr/>
        </p:nvSpPr>
        <p:spPr>
          <a:xfrm>
            <a:off x="6355080" y="3392424"/>
            <a:ext cx="5029200" cy="292608"/>
          </a:xfrm>
          <a:prstGeom prst="rect">
            <a:avLst/>
          </a:prstGeom>
          <a:noFill/>
        </p:spPr>
        <p:txBody>
          <a:bodyPr wrap="square">
            <a:spAutoFit/>
          </a:bodyPr>
          <a:lstStyle/>
          <a:p>
            <a:pPr algn="l">
              <a:defRPr sz="1300" b="1">
                <a:solidFill>
                  <a:srgbClr val="FFFFFF"/>
                </a:solidFill>
                <a:latin typeface="Calibri"/>
              </a:defRPr>
            </a:pPr>
            <a:r>
              <a:t>11  Mars Mission</a:t>
            </a:r>
          </a:p>
        </p:txBody>
      </p:sp>
      <p:sp>
        <p:nvSpPr>
          <p:cNvPr id="38" name="TextBox 37"/>
          <p:cNvSpPr txBox="1"/>
          <p:nvPr/>
        </p:nvSpPr>
        <p:spPr>
          <a:xfrm>
            <a:off x="6355080" y="3685032"/>
            <a:ext cx="5029200" cy="274320"/>
          </a:xfrm>
          <a:prstGeom prst="rect">
            <a:avLst/>
          </a:prstGeom>
          <a:noFill/>
        </p:spPr>
        <p:txBody>
          <a:bodyPr wrap="square">
            <a:spAutoFit/>
          </a:bodyPr>
          <a:lstStyle/>
          <a:p>
            <a:pPr algn="l">
              <a:defRPr sz="1000" b="0">
                <a:solidFill>
                  <a:srgbClr val="B0B8CC"/>
                </a:solidFill>
                <a:latin typeface="Calibri"/>
              </a:defRPr>
            </a:pPr>
            <a:r>
              <a:t>End-to-end simulation walkthrough</a:t>
            </a:r>
          </a:p>
        </p:txBody>
      </p:sp>
      <p:sp>
        <p:nvSpPr>
          <p:cNvPr id="39" name="Rounded Rectangle 38"/>
          <p:cNvSpPr/>
          <p:nvPr/>
        </p:nvSpPr>
        <p:spPr>
          <a:xfrm>
            <a:off x="6217920" y="4069080"/>
            <a:ext cx="5303520" cy="658368"/>
          </a:xfrm>
          <a:prstGeom prst="roundRect">
            <a:avLst/>
          </a:prstGeom>
          <a:solidFill>
            <a:srgbClr val="141B2D"/>
          </a:solidFill>
          <a:ln w="12700">
            <a:solidFill>
              <a:srgbClr val="2ECC71"/>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defRPr sz="1600" b="1">
                <a:solidFill>
                  <a:srgbClr val="009EFF"/>
                </a:solidFill>
                <a:latin typeface="Calibri"/>
              </a:defRPr>
            </a:pPr>
          </a:p>
        </p:txBody>
      </p:sp>
      <p:sp>
        <p:nvSpPr>
          <p:cNvPr id="40" name="TextBox 39"/>
          <p:cNvSpPr txBox="1"/>
          <p:nvPr/>
        </p:nvSpPr>
        <p:spPr>
          <a:xfrm>
            <a:off x="6355080" y="4123944"/>
            <a:ext cx="5029200" cy="292608"/>
          </a:xfrm>
          <a:prstGeom prst="rect">
            <a:avLst/>
          </a:prstGeom>
          <a:noFill/>
        </p:spPr>
        <p:txBody>
          <a:bodyPr wrap="square">
            <a:spAutoFit/>
          </a:bodyPr>
          <a:lstStyle/>
          <a:p>
            <a:pPr algn="l">
              <a:defRPr sz="1300" b="1">
                <a:solidFill>
                  <a:srgbClr val="FFFFFF"/>
                </a:solidFill>
                <a:latin typeface="Calibri"/>
              </a:defRPr>
            </a:pPr>
            <a:r>
              <a:t>12  Performance</a:t>
            </a:r>
          </a:p>
        </p:txBody>
      </p:sp>
      <p:sp>
        <p:nvSpPr>
          <p:cNvPr id="41" name="TextBox 40"/>
          <p:cNvSpPr txBox="1"/>
          <p:nvPr/>
        </p:nvSpPr>
        <p:spPr>
          <a:xfrm>
            <a:off x="6355080" y="4416552"/>
            <a:ext cx="5029200" cy="274320"/>
          </a:xfrm>
          <a:prstGeom prst="rect">
            <a:avLst/>
          </a:prstGeom>
          <a:noFill/>
        </p:spPr>
        <p:txBody>
          <a:bodyPr wrap="square">
            <a:spAutoFit/>
          </a:bodyPr>
          <a:lstStyle/>
          <a:p>
            <a:pPr algn="l">
              <a:defRPr sz="1000" b="0">
                <a:solidFill>
                  <a:srgbClr val="B0B8CC"/>
                </a:solidFill>
                <a:latin typeface="Calibri"/>
              </a:defRPr>
            </a:pPr>
            <a:r>
              <a:t>AETHERIX vs current systems</a:t>
            </a:r>
          </a:p>
        </p:txBody>
      </p:sp>
      <p:sp>
        <p:nvSpPr>
          <p:cNvPr id="42" name="Rounded Rectangle 41"/>
          <p:cNvSpPr/>
          <p:nvPr/>
        </p:nvSpPr>
        <p:spPr>
          <a:xfrm>
            <a:off x="6217920" y="4800600"/>
            <a:ext cx="5303520" cy="658368"/>
          </a:xfrm>
          <a:prstGeom prst="roundRect">
            <a:avLst/>
          </a:prstGeom>
          <a:solidFill>
            <a:srgbClr val="141B2D"/>
          </a:solidFill>
          <a:ln w="12700">
            <a:solidFill>
              <a:srgbClr val="00D4A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defRPr sz="1600" b="1">
                <a:solidFill>
                  <a:srgbClr val="009EFF"/>
                </a:solidFill>
                <a:latin typeface="Calibri"/>
              </a:defRPr>
            </a:pPr>
          </a:p>
        </p:txBody>
      </p:sp>
      <p:sp>
        <p:nvSpPr>
          <p:cNvPr id="43" name="TextBox 42"/>
          <p:cNvSpPr txBox="1"/>
          <p:nvPr/>
        </p:nvSpPr>
        <p:spPr>
          <a:xfrm>
            <a:off x="6355080" y="4855464"/>
            <a:ext cx="5029200" cy="292608"/>
          </a:xfrm>
          <a:prstGeom prst="rect">
            <a:avLst/>
          </a:prstGeom>
          <a:noFill/>
        </p:spPr>
        <p:txBody>
          <a:bodyPr wrap="square">
            <a:spAutoFit/>
          </a:bodyPr>
          <a:lstStyle/>
          <a:p>
            <a:pPr algn="l">
              <a:defRPr sz="1300" b="1">
                <a:solidFill>
                  <a:srgbClr val="FFFFFF"/>
                </a:solidFill>
                <a:latin typeface="Calibri"/>
              </a:defRPr>
            </a:pPr>
            <a:r>
              <a:t>13  Roadmap</a:t>
            </a:r>
          </a:p>
        </p:txBody>
      </p:sp>
      <p:sp>
        <p:nvSpPr>
          <p:cNvPr id="44" name="TextBox 43"/>
          <p:cNvSpPr txBox="1"/>
          <p:nvPr/>
        </p:nvSpPr>
        <p:spPr>
          <a:xfrm>
            <a:off x="6355080" y="5148072"/>
            <a:ext cx="5029200" cy="274320"/>
          </a:xfrm>
          <a:prstGeom prst="rect">
            <a:avLst/>
          </a:prstGeom>
          <a:noFill/>
        </p:spPr>
        <p:txBody>
          <a:bodyPr wrap="square">
            <a:spAutoFit/>
          </a:bodyPr>
          <a:lstStyle/>
          <a:p>
            <a:pPr algn="l">
              <a:defRPr sz="1000" b="0">
                <a:solidFill>
                  <a:srgbClr val="B0B8CC"/>
                </a:solidFill>
                <a:latin typeface="Calibri"/>
              </a:defRPr>
            </a:pPr>
            <a:r>
              <a:t>CCSDS, IETF, deployment phases</a:t>
            </a:r>
          </a:p>
        </p:txBody>
      </p:sp>
      <p:sp>
        <p:nvSpPr>
          <p:cNvPr id="45" name="Rounded Rectangle 44"/>
          <p:cNvSpPr/>
          <p:nvPr/>
        </p:nvSpPr>
        <p:spPr>
          <a:xfrm>
            <a:off x="6217920" y="5532120"/>
            <a:ext cx="5303520" cy="658368"/>
          </a:xfrm>
          <a:prstGeom prst="roundRect">
            <a:avLst/>
          </a:prstGeom>
          <a:solidFill>
            <a:srgbClr val="141B2D"/>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defRPr sz="1600" b="1">
                <a:solidFill>
                  <a:srgbClr val="009EFF"/>
                </a:solidFill>
                <a:latin typeface="Calibri"/>
              </a:defRPr>
            </a:pPr>
          </a:p>
        </p:txBody>
      </p:sp>
      <p:sp>
        <p:nvSpPr>
          <p:cNvPr id="46" name="TextBox 45"/>
          <p:cNvSpPr txBox="1"/>
          <p:nvPr/>
        </p:nvSpPr>
        <p:spPr>
          <a:xfrm>
            <a:off x="6355080" y="5586984"/>
            <a:ext cx="5029200" cy="292608"/>
          </a:xfrm>
          <a:prstGeom prst="rect">
            <a:avLst/>
          </a:prstGeom>
          <a:noFill/>
        </p:spPr>
        <p:txBody>
          <a:bodyPr wrap="square">
            <a:spAutoFit/>
          </a:bodyPr>
          <a:lstStyle/>
          <a:p>
            <a:pPr algn="l">
              <a:defRPr sz="1300" b="1">
                <a:solidFill>
                  <a:srgbClr val="FFFFFF"/>
                </a:solidFill>
                <a:latin typeface="Calibri"/>
              </a:defRPr>
            </a:pPr>
            <a:r>
              <a:t>14  Q&amp;A</a:t>
            </a:r>
          </a:p>
        </p:txBody>
      </p:sp>
      <p:sp>
        <p:nvSpPr>
          <p:cNvPr id="47" name="TextBox 46"/>
          <p:cNvSpPr txBox="1"/>
          <p:nvPr/>
        </p:nvSpPr>
        <p:spPr>
          <a:xfrm>
            <a:off x="6355080" y="5879592"/>
            <a:ext cx="5029200" cy="274320"/>
          </a:xfrm>
          <a:prstGeom prst="rect">
            <a:avLst/>
          </a:prstGeom>
          <a:noFill/>
        </p:spPr>
        <p:txBody>
          <a:bodyPr wrap="square">
            <a:spAutoFit/>
          </a:bodyPr>
          <a:lstStyle/>
          <a:p>
            <a:pPr algn="l">
              <a:defRPr sz="1000" b="0">
                <a:solidFill>
                  <a:srgbClr val="B0B8CC"/>
                </a:solidFill>
                <a:latin typeface="Calibri"/>
              </a:defRPr>
            </a:pPr>
            <a:r>
              <a:t>Summary and live demo</a:t>
            </a:r>
          </a:p>
        </p:txBody>
      </p:sp>
    </p:spTree>
  </p:cSld>
  <p:transition spd="med" advClick="1">
    <p:push dir="l"/>
  </p:transition>
  <p:clrMapOvr>
    <a:masterClrMapping/>
  </p:clrMapOvr>
  <p:timing>
    <p:tnLst>
      <p:par>
        <p:cTn id="1" dur="indefinite" restart="never" nodeType="tmRoot">
          <p:childTnLst>
            <p:par>
              <p:cTn id="2" fill="hold">
                <p:stCondLst>
                  <p:cond delay="0"/>
                </p:stCondLst>
                <p:childTnLst>
                  <p:par>
                    <p:cTn id="3" fill="hold">
                      <p:stCondLst>
                        <p:cond delay="0"/>
                      </p:stCondLst>
                      <p:childTnLst>
                        <p:par>
                          <p:cTn id="4" presetID="10" presetClass="entr" presetSubtype="0" fill="hold" nodeType="afterEffect">
                            <p:stCondLst>
                              <p:cond delay="0"/>
                            </p:stCondLst>
                            <p:childTnLst>
                              <p:set>
                                <p:cBhvr>
                                  <p:cTn id="5" dur="500" fill="hold">
                                    <p:stCondLst>
                                      <p:cond delay="0"/>
                                    </p:stCondLst>
                                  </p:cTn>
                                  <p:tgtEl>
                                    <p:spTgt spid="6"/>
                                  </p:tgtEl>
                                  <p:attrNameLst>
                                    <p:attrName>style.visibility</p:attrName>
                                  </p:attrNameLst>
                                </p:cBhvr>
                                <p:to>
                                  <p:strVal val="visible"/>
                                </p:to>
                              </p:set>
                              <p:animEffect transition="in" filter="fade">
                                <p:cBhvr>
                                  <p:cTn id="6" dur="500"/>
                                  <p:tgtEl>
                                    <p:spTgt spid="6"/>
                                  </p:tgtEl>
                                </p:cBhvr>
                              </p:animEffect>
                            </p:childTnLst>
                          </p:cTn>
                        </p:par>
                      </p:childTnLst>
                    </p:cTn>
                  </p:par>
                </p:childTnLst>
              </p:cTn>
            </p:par>
            <p:par>
              <p:cTn id="3" fill="hold">
                <p:stCondLst>
                  <p:cond delay="80"/>
                </p:stCondLst>
                <p:childTnLst>
                  <p:par>
                    <p:cTn id="4" fill="hold">
                      <p:stCondLst>
                        <p:cond delay="0"/>
                      </p:stCondLst>
                      <p:childTnLst>
                        <p:par>
                          <p:cTn id="5" presetID="10" presetClass="entr" presetSubtype="0" fill="hold" nodeType="afterEffect">
                            <p:stCondLst>
                              <p:cond delay="80"/>
                            </p:stCondLst>
                            <p:childTnLst>
                              <p:set>
                                <p:cBhvr>
                                  <p:cTn id="6" dur="500"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4" fill="hold">
                <p:stCondLst>
                  <p:cond delay="160"/>
                </p:stCondLst>
                <p:childTnLst>
                  <p:par>
                    <p:cTn id="5" fill="hold">
                      <p:stCondLst>
                        <p:cond delay="0"/>
                      </p:stCondLst>
                      <p:childTnLst>
                        <p:par>
                          <p:cTn id="6" presetID="10" presetClass="entr" presetSubtype="0" fill="hold" nodeType="afterEffect">
                            <p:stCondLst>
                              <p:cond delay="160"/>
                            </p:stCondLst>
                            <p:childTnLst>
                              <p:set>
                                <p:cBhvr>
                                  <p:cTn id="7" dur="500" fill="hold">
                                    <p:stCondLst>
                                      <p:cond delay="0"/>
                                    </p:stCondLst>
                                  </p:cTn>
                                  <p:tgtEl>
                                    <p:spTgt spid="12"/>
                                  </p:tgtEl>
                                  <p:attrNameLst>
                                    <p:attrName>style.visibility</p:attrName>
                                  </p:attrNameLst>
                                </p:cBhvr>
                                <p:to>
                                  <p:strVal val="visible"/>
                                </p:to>
                              </p:set>
                              <p:animEffect transition="in" filter="fade">
                                <p:cBhvr>
                                  <p:cTn id="8" dur="500"/>
                                  <p:tgtEl>
                                    <p:spTgt spid="12"/>
                                  </p:tgtEl>
                                </p:cBhvr>
                              </p:animEffect>
                            </p:childTnLst>
                          </p:cTn>
                        </p:par>
                      </p:childTnLst>
                    </p:cTn>
                  </p:par>
                </p:childTnLst>
              </p:cTn>
            </p:par>
            <p:par>
              <p:cTn id="5" fill="hold">
                <p:stCondLst>
                  <p:cond delay="240"/>
                </p:stCondLst>
                <p:childTnLst>
                  <p:par>
                    <p:cTn id="6" fill="hold">
                      <p:stCondLst>
                        <p:cond delay="0"/>
                      </p:stCondLst>
                      <p:childTnLst>
                        <p:par>
                          <p:cTn id="7" presetID="10" presetClass="entr" presetSubtype="0" fill="hold" nodeType="afterEffect">
                            <p:stCondLst>
                              <p:cond delay="240"/>
                            </p:stCondLst>
                            <p:childTnLst>
                              <p:set>
                                <p:cBhvr>
                                  <p:cTn id="8" dur="500" fill="hold">
                                    <p:stCondLst>
                                      <p:cond delay="0"/>
                                    </p:stCondLst>
                                  </p:cTn>
                                  <p:tgtEl>
                                    <p:spTgt spid="15"/>
                                  </p:tgtEl>
                                  <p:attrNameLst>
                                    <p:attrName>style.visibility</p:attrName>
                                  </p:attrNameLst>
                                </p:cBhvr>
                                <p:to>
                                  <p:strVal val="visible"/>
                                </p:to>
                              </p:set>
                              <p:animEffect transition="in" filter="fade">
                                <p:cBhvr>
                                  <p:cTn id="9" dur="500"/>
                                  <p:tgtEl>
                                    <p:spTgt spid="15"/>
                                  </p:tgtEl>
                                </p:cBhvr>
                              </p:animEffect>
                            </p:childTnLst>
                          </p:cTn>
                        </p:par>
                      </p:childTnLst>
                    </p:cTn>
                  </p:par>
                </p:childTnLst>
              </p:cTn>
            </p:par>
            <p:par>
              <p:cTn id="6" fill="hold">
                <p:stCondLst>
                  <p:cond delay="320"/>
                </p:stCondLst>
                <p:childTnLst>
                  <p:par>
                    <p:cTn id="7" fill="hold">
                      <p:stCondLst>
                        <p:cond delay="0"/>
                      </p:stCondLst>
                      <p:childTnLst>
                        <p:par>
                          <p:cTn id="8" presetID="10" presetClass="entr" presetSubtype="0" fill="hold" nodeType="afterEffect">
                            <p:stCondLst>
                              <p:cond delay="320"/>
                            </p:stCondLst>
                            <p:childTnLst>
                              <p:set>
                                <p:cBhvr>
                                  <p:cTn id="9" dur="500" fill="hold">
                                    <p:stCondLst>
                                      <p:cond delay="0"/>
                                    </p:stCondLst>
                                  </p:cTn>
                                  <p:tgtEl>
                                    <p:spTgt spid="18"/>
                                  </p:tgtEl>
                                  <p:attrNameLst>
                                    <p:attrName>style.visibility</p:attrName>
                                  </p:attrNameLst>
                                </p:cBhvr>
                                <p:to>
                                  <p:strVal val="visible"/>
                                </p:to>
                              </p:set>
                              <p:animEffect transition="in" filter="fade">
                                <p:cBhvr>
                                  <p:cTn id="10" dur="500"/>
                                  <p:tgtEl>
                                    <p:spTgt spid="18"/>
                                  </p:tgtEl>
                                </p:cBhvr>
                              </p:animEffect>
                            </p:childTnLst>
                          </p:cTn>
                        </p:par>
                      </p:childTnLst>
                    </p:cTn>
                  </p:par>
                </p:childTnLst>
              </p:cTn>
            </p:par>
            <p:par>
              <p:cTn id="7" fill="hold">
                <p:stCondLst>
                  <p:cond delay="400"/>
                </p:stCondLst>
                <p:childTnLst>
                  <p:par>
                    <p:cTn id="8" fill="hold">
                      <p:stCondLst>
                        <p:cond delay="0"/>
                      </p:stCondLst>
                      <p:childTnLst>
                        <p:par>
                          <p:cTn id="9" presetID="10" presetClass="entr" presetSubtype="0" fill="hold" nodeType="afterEffect">
                            <p:stCondLst>
                              <p:cond delay="400"/>
                            </p:stCondLst>
                            <p:childTnLst>
                              <p:set>
                                <p:cBhvr>
                                  <p:cTn id="10" dur="500" fill="hold">
                                    <p:stCondLst>
                                      <p:cond delay="0"/>
                                    </p:stCondLst>
                                  </p:cTn>
                                  <p:tgtEl>
                                    <p:spTgt spid="21"/>
                                  </p:tgtEl>
                                  <p:attrNameLst>
                                    <p:attrName>style.visibility</p:attrName>
                                  </p:attrNameLst>
                                </p:cBhvr>
                                <p:to>
                                  <p:strVal val="visible"/>
                                </p:to>
                              </p:set>
                              <p:animEffect transition="in" filter="fade">
                                <p:cBhvr>
                                  <p:cTn id="11" dur="500"/>
                                  <p:tgtEl>
                                    <p:spTgt spid="21"/>
                                  </p:tgtEl>
                                </p:cBhvr>
                              </p:animEffect>
                            </p:childTnLst>
                          </p:cTn>
                        </p:par>
                      </p:childTnLst>
                    </p:cTn>
                  </p:par>
                </p:childTnLst>
              </p:cTn>
            </p:par>
            <p:par>
              <p:cTn id="8" fill="hold">
                <p:stCondLst>
                  <p:cond delay="480"/>
                </p:stCondLst>
                <p:childTnLst>
                  <p:par>
                    <p:cTn id="9" fill="hold">
                      <p:stCondLst>
                        <p:cond delay="0"/>
                      </p:stCondLst>
                      <p:childTnLst>
                        <p:par>
                          <p:cTn id="10" presetID="10" presetClass="entr" presetSubtype="0" fill="hold" nodeType="afterEffect">
                            <p:stCondLst>
                              <p:cond delay="480"/>
                            </p:stCondLst>
                            <p:childTnLst>
                              <p:set>
                                <p:cBhvr>
                                  <p:cTn id="11" dur="500" fill="hold">
                                    <p:stCondLst>
                                      <p:cond delay="0"/>
                                    </p:stCondLst>
                                  </p:cTn>
                                  <p:tgtEl>
                                    <p:spTgt spid="24"/>
                                  </p:tgtEl>
                                  <p:attrNameLst>
                                    <p:attrName>style.visibility</p:attrName>
                                  </p:attrNameLst>
                                </p:cBhvr>
                                <p:to>
                                  <p:strVal val="visible"/>
                                </p:to>
                              </p:set>
                              <p:animEffect transition="in" filter="fade">
                                <p:cBhvr>
                                  <p:cTn id="12" dur="500"/>
                                  <p:tgtEl>
                                    <p:spTgt spid="24"/>
                                  </p:tgtEl>
                                </p:cBhvr>
                              </p:animEffect>
                            </p:childTnLst>
                          </p:cTn>
                        </p:par>
                      </p:childTnLst>
                    </p:cTn>
                  </p:par>
                </p:childTnLst>
              </p:cTn>
            </p:par>
            <p:par>
              <p:cTn id="9" fill="hold">
                <p:stCondLst>
                  <p:cond delay="560"/>
                </p:stCondLst>
                <p:childTnLst>
                  <p:par>
                    <p:cTn id="10" fill="hold">
                      <p:stCondLst>
                        <p:cond delay="0"/>
                      </p:stCondLst>
                      <p:childTnLst>
                        <p:par>
                          <p:cTn id="11" presetID="10" presetClass="entr" presetSubtype="0" fill="hold" nodeType="afterEffect">
                            <p:stCondLst>
                              <p:cond delay="560"/>
                            </p:stCondLst>
                            <p:childTnLst>
                              <p:set>
                                <p:cBhvr>
                                  <p:cTn id="12" dur="500" fill="hold">
                                    <p:stCondLst>
                                      <p:cond delay="0"/>
                                    </p:stCondLst>
                                  </p:cTn>
                                  <p:tgtEl>
                                    <p:spTgt spid="27"/>
                                  </p:tgtEl>
                                  <p:attrNameLst>
                                    <p:attrName>style.visibility</p:attrName>
                                  </p:attrNameLst>
                                </p:cBhvr>
                                <p:to>
                                  <p:strVal val="visible"/>
                                </p:to>
                              </p:set>
                              <p:animEffect transition="in" filter="fade">
                                <p:cBhvr>
                                  <p:cTn id="13" dur="500"/>
                                  <p:tgtEl>
                                    <p:spTgt spid="27"/>
                                  </p:tgtEl>
                                </p:cBhvr>
                              </p:animEffect>
                            </p:childTnLst>
                          </p:cTn>
                        </p:par>
                      </p:childTnLst>
                    </p:cTn>
                  </p:par>
                </p:childTnLst>
              </p:cTn>
            </p:par>
            <p:par>
              <p:cTn id="10" fill="hold">
                <p:stCondLst>
                  <p:cond delay="640"/>
                </p:stCondLst>
                <p:childTnLst>
                  <p:par>
                    <p:cTn id="11" fill="hold">
                      <p:stCondLst>
                        <p:cond delay="0"/>
                      </p:stCondLst>
                      <p:childTnLst>
                        <p:par>
                          <p:cTn id="12" presetID="10" presetClass="entr" presetSubtype="0" fill="hold" nodeType="afterEffect">
                            <p:stCondLst>
                              <p:cond delay="640"/>
                            </p:stCondLst>
                            <p:childTnLst>
                              <p:set>
                                <p:cBhvr>
                                  <p:cTn id="13" dur="500" fill="hold">
                                    <p:stCondLst>
                                      <p:cond delay="0"/>
                                    </p:stCondLst>
                                  </p:cTn>
                                  <p:tgtEl>
                                    <p:spTgt spid="30"/>
                                  </p:tgtEl>
                                  <p:attrNameLst>
                                    <p:attrName>style.visibility</p:attrName>
                                  </p:attrNameLst>
                                </p:cBhvr>
                                <p:to>
                                  <p:strVal val="visible"/>
                                </p:to>
                              </p:set>
                              <p:animEffect transition="in" filter="fade">
                                <p:cBhvr>
                                  <p:cTn id="14" dur="500"/>
                                  <p:tgtEl>
                                    <p:spTgt spid="30"/>
                                  </p:tgtEl>
                                </p:cBhvr>
                              </p:animEffect>
                            </p:childTnLst>
                          </p:cTn>
                        </p:par>
                      </p:childTnLst>
                    </p:cTn>
                  </p:par>
                </p:childTnLst>
              </p:cTn>
            </p:par>
            <p:par>
              <p:cTn id="11" fill="hold">
                <p:stCondLst>
                  <p:cond delay="720"/>
                </p:stCondLst>
                <p:childTnLst>
                  <p:par>
                    <p:cTn id="12" fill="hold">
                      <p:stCondLst>
                        <p:cond delay="0"/>
                      </p:stCondLst>
                      <p:childTnLst>
                        <p:par>
                          <p:cTn id="13" presetID="10" presetClass="entr" presetSubtype="0" fill="hold" nodeType="afterEffect">
                            <p:stCondLst>
                              <p:cond delay="720"/>
                            </p:stCondLst>
                            <p:childTnLst>
                              <p:set>
                                <p:cBhvr>
                                  <p:cTn id="14" dur="500" fill="hold">
                                    <p:stCondLst>
                                      <p:cond delay="0"/>
                                    </p:stCondLst>
                                  </p:cTn>
                                  <p:tgtEl>
                                    <p:spTgt spid="33"/>
                                  </p:tgtEl>
                                  <p:attrNameLst>
                                    <p:attrName>style.visibility</p:attrName>
                                  </p:attrNameLst>
                                </p:cBhvr>
                                <p:to>
                                  <p:strVal val="visible"/>
                                </p:to>
                              </p:set>
                              <p:animEffect transition="in" filter="fade">
                                <p:cBhvr>
                                  <p:cTn id="15" dur="500"/>
                                  <p:tgtEl>
                                    <p:spTgt spid="33"/>
                                  </p:tgtEl>
                                </p:cBhvr>
                              </p:animEffect>
                            </p:childTnLst>
                          </p:cTn>
                        </p:par>
                      </p:childTnLst>
                    </p:cTn>
                  </p:par>
                </p:childTnLst>
              </p:cTn>
            </p:par>
            <p:par>
              <p:cTn id="12" fill="hold">
                <p:stCondLst>
                  <p:cond delay="800"/>
                </p:stCondLst>
                <p:childTnLst>
                  <p:par>
                    <p:cTn id="13" fill="hold">
                      <p:stCondLst>
                        <p:cond delay="0"/>
                      </p:stCondLst>
                      <p:childTnLst>
                        <p:par>
                          <p:cTn id="14" presetID="10" presetClass="entr" presetSubtype="0" fill="hold" nodeType="afterEffect">
                            <p:stCondLst>
                              <p:cond delay="800"/>
                            </p:stCondLst>
                            <p:childTnLst>
                              <p:set>
                                <p:cBhvr>
                                  <p:cTn id="15" dur="500" fill="hold">
                                    <p:stCondLst>
                                      <p:cond delay="0"/>
                                    </p:stCondLst>
                                  </p:cTn>
                                  <p:tgtEl>
                                    <p:spTgt spid="36"/>
                                  </p:tgtEl>
                                  <p:attrNameLst>
                                    <p:attrName>style.visibility</p:attrName>
                                  </p:attrNameLst>
                                </p:cBhvr>
                                <p:to>
                                  <p:strVal val="visible"/>
                                </p:to>
                              </p:set>
                              <p:animEffect transition="in" filter="fade">
                                <p:cBhvr>
                                  <p:cTn id="16" dur="500"/>
                                  <p:tgtEl>
                                    <p:spTgt spid="36"/>
                                  </p:tgtEl>
                                </p:cBhvr>
                              </p:animEffect>
                            </p:childTnLst>
                          </p:cTn>
                        </p:par>
                      </p:childTnLst>
                    </p:cTn>
                  </p:par>
                </p:childTnLst>
              </p:cTn>
            </p:par>
            <p:par>
              <p:cTn id="13" fill="hold">
                <p:stCondLst>
                  <p:cond delay="880"/>
                </p:stCondLst>
                <p:childTnLst>
                  <p:par>
                    <p:cTn id="14" fill="hold">
                      <p:stCondLst>
                        <p:cond delay="0"/>
                      </p:stCondLst>
                      <p:childTnLst>
                        <p:par>
                          <p:cTn id="15" presetID="10" presetClass="entr" presetSubtype="0" fill="hold" nodeType="afterEffect">
                            <p:stCondLst>
                              <p:cond delay="880"/>
                            </p:stCondLst>
                            <p:childTnLst>
                              <p:set>
                                <p:cBhvr>
                                  <p:cTn id="16" dur="500" fill="hold">
                                    <p:stCondLst>
                                      <p:cond delay="0"/>
                                    </p:stCondLst>
                                  </p:cTn>
                                  <p:tgtEl>
                                    <p:spTgt spid="39"/>
                                  </p:tgtEl>
                                  <p:attrNameLst>
                                    <p:attrName>style.visibility</p:attrName>
                                  </p:attrNameLst>
                                </p:cBhvr>
                                <p:to>
                                  <p:strVal val="visible"/>
                                </p:to>
                              </p:set>
                              <p:animEffect transition="in" filter="fade">
                                <p:cBhvr>
                                  <p:cTn id="17" dur="500"/>
                                  <p:tgtEl>
                                    <p:spTgt spid="39"/>
                                  </p:tgtEl>
                                </p:cBhvr>
                              </p:animEffect>
                            </p:childTnLst>
                          </p:cTn>
                        </p:par>
                      </p:childTnLst>
                    </p:cTn>
                  </p:par>
                </p:childTnLst>
              </p:cTn>
            </p:par>
            <p:par>
              <p:cTn id="14" fill="hold">
                <p:stCondLst>
                  <p:cond delay="960"/>
                </p:stCondLst>
                <p:childTnLst>
                  <p:par>
                    <p:cTn id="15" fill="hold">
                      <p:stCondLst>
                        <p:cond delay="0"/>
                      </p:stCondLst>
                      <p:childTnLst>
                        <p:par>
                          <p:cTn id="16" presetID="10" presetClass="entr" presetSubtype="0" fill="hold" nodeType="afterEffect">
                            <p:stCondLst>
                              <p:cond delay="960"/>
                            </p:stCondLst>
                            <p:childTnLst>
                              <p:set>
                                <p:cBhvr>
                                  <p:cTn id="17" dur="500" fill="hold">
                                    <p:stCondLst>
                                      <p:cond delay="0"/>
                                    </p:stCondLst>
                                  </p:cTn>
                                  <p:tgtEl>
                                    <p:spTgt spid="42"/>
                                  </p:tgtEl>
                                  <p:attrNameLst>
                                    <p:attrName>style.visibility</p:attrName>
                                  </p:attrNameLst>
                                </p:cBhvr>
                                <p:to>
                                  <p:strVal val="visible"/>
                                </p:to>
                              </p:set>
                              <p:animEffect transition="in" filter="fade">
                                <p:cBhvr>
                                  <p:cTn id="18" dur="500"/>
                                  <p:tgtEl>
                                    <p:spTgt spid="42"/>
                                  </p:tgtEl>
                                </p:cBhvr>
                              </p:animEffect>
                            </p:childTnLst>
                          </p:cTn>
                        </p:par>
                      </p:childTnLst>
                    </p:cTn>
                  </p:par>
                </p:childTnLst>
              </p:cTn>
            </p:par>
            <p:par>
              <p:cTn id="15" fill="hold">
                <p:stCondLst>
                  <p:cond delay="1040"/>
                </p:stCondLst>
                <p:childTnLst>
                  <p:par>
                    <p:cTn id="16" fill="hold">
                      <p:stCondLst>
                        <p:cond delay="0"/>
                      </p:stCondLst>
                      <p:childTnLst>
                        <p:par>
                          <p:cTn id="17" presetID="10" presetClass="entr" presetSubtype="0" fill="hold" nodeType="afterEffect">
                            <p:stCondLst>
                              <p:cond delay="1040"/>
                            </p:stCondLst>
                            <p:childTnLst>
                              <p:set>
                                <p:cBhvr>
                                  <p:cTn id="18" dur="500" fill="hold">
                                    <p:stCondLst>
                                      <p:cond delay="0"/>
                                    </p:stCondLst>
                                  </p:cTn>
                                  <p:tgtEl>
                                    <p:spTgt spid="45"/>
                                  </p:tgtEl>
                                  <p:attrNameLst>
                                    <p:attrName>style.visibility</p:attrName>
                                  </p:attrNameLst>
                                </p:cBhvr>
                                <p:to>
                                  <p:strVal val="visible"/>
                                </p:to>
                              </p:set>
                              <p:animEffect transition="in" filter="fade">
                                <p:cBhvr>
                                  <p:cTn id="19" dur="500"/>
                                  <p:tgtEl>
                                    <p:spTgt spid="45"/>
                                  </p:tgtEl>
                                </p:cBhvr>
                              </p:animEffect>
                            </p:childTnLst>
                          </p:cTn>
                        </p:par>
                      </p:childTnLst>
                    </p:cTn>
                  </p:par>
                </p:childTnLst>
              </p:cTn>
            </p:par>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0E1A"/>
        </a:solidFill>
        <a:effectLst/>
      </p:bgPr>
    </p:bg>
    <p:spTree>
      <p:nvGrpSpPr>
        <p:cNvPr id="1" name=""/>
        <p:cNvGrpSpPr/>
        <p:nvPr/>
      </p:nvGrpSpPr>
      <p:grpSpPr/>
      <p:sp>
        <p:nvSpPr>
          <p:cNvPr id="2" name="TextBox 1"/>
          <p:cNvSpPr txBox="1"/>
          <p:nvPr/>
        </p:nvSpPr>
        <p:spPr>
          <a:xfrm>
            <a:off x="640080" y="274320"/>
            <a:ext cx="10058400" cy="640080"/>
          </a:xfrm>
          <a:prstGeom prst="rect">
            <a:avLst/>
          </a:prstGeom>
          <a:noFill/>
        </p:spPr>
        <p:txBody>
          <a:bodyPr wrap="square">
            <a:spAutoFit/>
          </a:bodyPr>
          <a:lstStyle/>
          <a:p>
            <a:pPr algn="l">
              <a:defRPr sz="3600" b="1">
                <a:solidFill>
                  <a:srgbClr val="FFFFFF"/>
                </a:solidFill>
                <a:latin typeface="Calibri"/>
              </a:defRPr>
            </a:pPr>
            <a:r>
              <a:t>WHAT IS AETHERIX?</a:t>
            </a:r>
          </a:p>
        </p:txBody>
      </p:sp>
      <p:sp>
        <p:nvSpPr>
          <p:cNvPr id="3" name="Rectangle 2"/>
          <p:cNvSpPr/>
          <p:nvPr/>
        </p:nvSpPr>
        <p:spPr>
          <a:xfrm>
            <a:off x="640080" y="868680"/>
            <a:ext cx="2743200" cy="381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960120"/>
            <a:ext cx="10058400" cy="365760"/>
          </a:xfrm>
          <a:prstGeom prst="rect">
            <a:avLst/>
          </a:prstGeom>
          <a:noFill/>
        </p:spPr>
        <p:txBody>
          <a:bodyPr wrap="square">
            <a:spAutoFit/>
          </a:bodyPr>
          <a:lstStyle/>
          <a:p>
            <a:pPr algn="l">
              <a:defRPr sz="1600" b="0">
                <a:solidFill>
                  <a:srgbClr val="6B7B96"/>
                </a:solidFill>
                <a:latin typeface="Calibri"/>
              </a:defRPr>
            </a:pPr>
            <a:r>
              <a:t>Overview &amp; The Problem</a:t>
            </a:r>
          </a:p>
        </p:txBody>
      </p:sp>
      <p:sp>
        <p:nvSpPr>
          <p:cNvPr id="5" name="TextBox 4"/>
          <p:cNvSpPr txBox="1"/>
          <p:nvPr/>
        </p:nvSpPr>
        <p:spPr>
          <a:xfrm>
            <a:off x="457200" y="6400800"/>
            <a:ext cx="4572000" cy="365760"/>
          </a:xfrm>
          <a:prstGeom prst="rect">
            <a:avLst/>
          </a:prstGeom>
          <a:noFill/>
        </p:spPr>
        <p:txBody>
          <a:bodyPr wrap="square">
            <a:spAutoFit/>
          </a:bodyPr>
          <a:lstStyle/>
          <a:p>
            <a:pPr algn="l">
              <a:defRPr sz="1000" b="0">
                <a:solidFill>
                  <a:srgbClr val="6B7B96"/>
                </a:solidFill>
                <a:latin typeface="Calibri"/>
              </a:defRPr>
            </a:pPr>
            <a:r>
              <a:t>AETHERIX — Interplanetary Communication Network</a:t>
            </a:r>
          </a:p>
        </p:txBody>
      </p:sp>
      <p:sp>
        <p:nvSpPr>
          <p:cNvPr id="6" name="TextBox 5"/>
          <p:cNvSpPr txBox="1"/>
          <p:nvPr/>
        </p:nvSpPr>
        <p:spPr>
          <a:xfrm>
            <a:off x="10058400" y="6400800"/>
            <a:ext cx="1828800" cy="365760"/>
          </a:xfrm>
          <a:prstGeom prst="rect">
            <a:avLst/>
          </a:prstGeom>
          <a:noFill/>
        </p:spPr>
        <p:txBody>
          <a:bodyPr wrap="square">
            <a:spAutoFit/>
          </a:bodyPr>
          <a:lstStyle/>
          <a:p>
            <a:pPr algn="r">
              <a:defRPr sz="1000" b="0">
                <a:solidFill>
                  <a:srgbClr val="6B7B96"/>
                </a:solidFill>
                <a:latin typeface="Calibri"/>
              </a:defRPr>
            </a:pPr>
            <a:r>
              <a:t>3 / 46</a:t>
            </a:r>
          </a:p>
        </p:txBody>
      </p:sp>
      <p:sp>
        <p:nvSpPr>
          <p:cNvPr id="7" name="Rounded Rectangle 6"/>
          <p:cNvSpPr/>
          <p:nvPr/>
        </p:nvSpPr>
        <p:spPr>
          <a:xfrm>
            <a:off x="640080" y="1463040"/>
            <a:ext cx="5120640" cy="3474720"/>
          </a:xfrm>
          <a:prstGeom prst="roundRect">
            <a:avLst/>
          </a:prstGeom>
          <a:solidFill>
            <a:srgbClr val="141B2D"/>
          </a:solidFill>
          <a:ln w="12700">
            <a:solidFill>
              <a:srgbClr val="009EFF"/>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defRPr sz="1600" b="1">
                <a:solidFill>
                  <a:srgbClr val="009EFF"/>
                </a:solidFill>
                <a:latin typeface="Calibri"/>
              </a:defRPr>
            </a:pPr>
          </a:p>
        </p:txBody>
      </p:sp>
      <p:sp>
        <p:nvSpPr>
          <p:cNvPr id="8" name="TextBox 7"/>
          <p:cNvSpPr txBox="1"/>
          <p:nvPr/>
        </p:nvSpPr>
        <p:spPr>
          <a:xfrm>
            <a:off x="822960" y="1554480"/>
            <a:ext cx="4754880" cy="411480"/>
          </a:xfrm>
          <a:prstGeom prst="rect">
            <a:avLst/>
          </a:prstGeom>
          <a:noFill/>
        </p:spPr>
        <p:txBody>
          <a:bodyPr wrap="square">
            <a:spAutoFit/>
          </a:bodyPr>
          <a:lstStyle/>
          <a:p>
            <a:pPr algn="l">
              <a:defRPr sz="1800" b="1">
                <a:solidFill>
                  <a:srgbClr val="009EFF"/>
                </a:solidFill>
                <a:latin typeface="Calibri"/>
              </a:defRPr>
            </a:pPr>
            <a:r>
              <a:t>What is AETHERIX?</a:t>
            </a:r>
          </a:p>
        </p:txBody>
      </p:sp>
      <p:sp>
        <p:nvSpPr>
          <p:cNvPr id="9" name="Rectangle 8"/>
          <p:cNvSpPr/>
          <p:nvPr/>
        </p:nvSpPr>
        <p:spPr>
          <a:xfrm>
            <a:off x="822960" y="1920240"/>
            <a:ext cx="1828800" cy="25400"/>
          </a:xfrm>
          <a:prstGeom prst="rect">
            <a:avLst/>
          </a:prstGeom>
          <a:solidFill>
            <a:srgbClr val="00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011680"/>
            <a:ext cx="4754880" cy="457200"/>
          </a:xfrm>
          <a:prstGeom prst="rect">
            <a:avLst/>
          </a:prstGeom>
          <a:noFill/>
        </p:spPr>
        <p:txBody>
          <a:bodyPr wrap="square">
            <a:spAutoFit/>
          </a:bodyPr>
          <a:lstStyle/>
          <a:p>
            <a:pPr algn="l">
              <a:defRPr sz="1000" b="0">
                <a:solidFill>
                  <a:srgbClr val="B0B8CC"/>
                </a:solidFill>
                <a:latin typeface="Calibri"/>
              </a:defRPr>
            </a:pPr>
            <a:r>
              <a:t>Autonomous Extraterrestrial High-throughput Enhancing</a:t>
            </a:r>
            <a:br/>
            <a:r>
              <a:t>Routing and Inter-planetary eXchange</a:t>
            </a:r>
          </a:p>
        </p:txBody>
      </p:sp>
      <p:sp>
        <p:nvSpPr>
          <p:cNvPr id="11" name="TextBox 10"/>
          <p:cNvSpPr txBox="1"/>
          <p:nvPr/>
        </p:nvSpPr>
        <p:spPr>
          <a:xfrm>
            <a:off x="822960" y="2468880"/>
            <a:ext cx="4754880" cy="457200"/>
          </a:xfrm>
          <a:prstGeom prst="rect">
            <a:avLst/>
          </a:prstGeom>
          <a:noFill/>
        </p:spPr>
        <p:txBody>
          <a:bodyPr wrap="square">
            <a:spAutoFit/>
          </a:bodyPr>
          <a:lstStyle/>
          <a:p>
            <a:pPr algn="l">
              <a:defRPr sz="1000" b="0">
                <a:solidFill>
                  <a:srgbClr val="B0B8CC"/>
                </a:solidFill>
                <a:latin typeface="Calibri"/>
              </a:defRPr>
            </a:pPr>
            <a:r>
              <a:t>An architecture for delay-tolerant networking (DTN)</a:t>
            </a:r>
            <a:br/>
            <a:r>
              <a:t>between Earth and Mars</a:t>
            </a:r>
          </a:p>
        </p:txBody>
      </p:sp>
      <p:sp>
        <p:nvSpPr>
          <p:cNvPr id="12" name="TextBox 11"/>
          <p:cNvSpPr txBox="1"/>
          <p:nvPr/>
        </p:nvSpPr>
        <p:spPr>
          <a:xfrm>
            <a:off x="822960" y="2926080"/>
            <a:ext cx="4754880" cy="457200"/>
          </a:xfrm>
          <a:prstGeom prst="rect">
            <a:avLst/>
          </a:prstGeom>
          <a:noFill/>
        </p:spPr>
        <p:txBody>
          <a:bodyPr wrap="square">
            <a:spAutoFit/>
          </a:bodyPr>
          <a:lstStyle/>
          <a:p>
            <a:pPr algn="l">
              <a:defRPr sz="1000" b="0">
                <a:solidFill>
                  <a:srgbClr val="B0B8CC"/>
                </a:solidFill>
                <a:latin typeface="Calibri"/>
              </a:defRPr>
            </a:pPr>
            <a:r>
              <a:t>Replaces static Contact Graph Routing with</a:t>
            </a:r>
            <a:br/>
            <a:r>
              <a:t>reinforcement-learning-based adaptive routing</a:t>
            </a:r>
          </a:p>
        </p:txBody>
      </p:sp>
      <p:sp>
        <p:nvSpPr>
          <p:cNvPr id="13" name="TextBox 12"/>
          <p:cNvSpPr txBox="1"/>
          <p:nvPr/>
        </p:nvSpPr>
        <p:spPr>
          <a:xfrm>
            <a:off x="822960" y="3383280"/>
            <a:ext cx="4754880" cy="457200"/>
          </a:xfrm>
          <a:prstGeom prst="rect">
            <a:avLst/>
          </a:prstGeom>
          <a:noFill/>
        </p:spPr>
        <p:txBody>
          <a:bodyPr wrap="square">
            <a:spAutoFit/>
          </a:bodyPr>
          <a:lstStyle/>
          <a:p>
            <a:pPr algn="l">
              <a:defRPr sz="1000" b="0">
                <a:solidFill>
                  <a:srgbClr val="B0B8CC"/>
                </a:solidFill>
                <a:latin typeface="Calibri"/>
              </a:defRPr>
            </a:pPr>
            <a:r>
              <a:t>Secures links via Quantum Key Distribution</a:t>
            </a:r>
            <a:br/>
            <a:r>
              <a:t>(BB84 &amp; E91 protocols with repeater chains)</a:t>
            </a:r>
          </a:p>
        </p:txBody>
      </p:sp>
      <p:sp>
        <p:nvSpPr>
          <p:cNvPr id="14" name="TextBox 13"/>
          <p:cNvSpPr txBox="1"/>
          <p:nvPr/>
        </p:nvSpPr>
        <p:spPr>
          <a:xfrm>
            <a:off x="822960" y="3840480"/>
            <a:ext cx="4754880" cy="457200"/>
          </a:xfrm>
          <a:prstGeom prst="rect">
            <a:avLst/>
          </a:prstGeom>
          <a:noFill/>
        </p:spPr>
        <p:txBody>
          <a:bodyPr wrap="square">
            <a:spAutoFit/>
          </a:bodyPr>
          <a:lstStyle/>
          <a:p>
            <a:pPr algn="l">
              <a:defRPr sz="1000" b="0">
                <a:solidFill>
                  <a:srgbClr val="B0B8CC"/>
                </a:solidFill>
                <a:latin typeface="Calibri"/>
              </a:defRPr>
            </a:pPr>
            <a:r>
              <a:t>Hybrid optical/RF communications across</a:t>
            </a:r>
            <a:br/>
            <a:r>
              <a:t>a 5-tier, 241-node interplanetary topology</a:t>
            </a:r>
          </a:p>
        </p:txBody>
      </p:sp>
      <p:sp>
        <p:nvSpPr>
          <p:cNvPr id="15" name="TextBox 14"/>
          <p:cNvSpPr txBox="1"/>
          <p:nvPr/>
        </p:nvSpPr>
        <p:spPr>
          <a:xfrm>
            <a:off x="822960" y="4297680"/>
            <a:ext cx="4754880" cy="457200"/>
          </a:xfrm>
          <a:prstGeom prst="rect">
            <a:avLst/>
          </a:prstGeom>
          <a:noFill/>
        </p:spPr>
        <p:txBody>
          <a:bodyPr wrap="square">
            <a:spAutoFit/>
          </a:bodyPr>
          <a:lstStyle/>
          <a:p>
            <a:pPr algn="l">
              <a:defRPr sz="1000" b="0">
                <a:solidFill>
                  <a:srgbClr val="B0B8CC"/>
                </a:solidFill>
                <a:latin typeface="Calibri"/>
              </a:defRPr>
            </a:pPr>
            <a:r>
              <a:t>Open-source, standards-compliant (CCSDS, IETF)</a:t>
            </a:r>
            <a:br/>
            <a:r>
              <a:t>research platform for deep-space networking</a:t>
            </a:r>
          </a:p>
        </p:txBody>
      </p:sp>
      <p:sp>
        <p:nvSpPr>
          <p:cNvPr id="16" name="Rounded Rectangle 15"/>
          <p:cNvSpPr/>
          <p:nvPr/>
        </p:nvSpPr>
        <p:spPr>
          <a:xfrm>
            <a:off x="6126480" y="1463040"/>
            <a:ext cx="5120640" cy="3474720"/>
          </a:xfrm>
          <a:prstGeom prst="roundRect">
            <a:avLst/>
          </a:prstGeom>
          <a:solidFill>
            <a:srgbClr val="141B2D"/>
          </a:solidFill>
          <a:ln w="12700">
            <a:solidFill>
              <a:srgbClr val="FF4D4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defRPr sz="1600" b="1">
                <a:solidFill>
                  <a:srgbClr val="009EFF"/>
                </a:solidFill>
                <a:latin typeface="Calibri"/>
              </a:defRPr>
            </a:pPr>
          </a:p>
        </p:txBody>
      </p:sp>
      <p:sp>
        <p:nvSpPr>
          <p:cNvPr id="17" name="TextBox 16"/>
          <p:cNvSpPr txBox="1"/>
          <p:nvPr/>
        </p:nvSpPr>
        <p:spPr>
          <a:xfrm>
            <a:off x="6309360" y="1554480"/>
            <a:ext cx="4754880" cy="411480"/>
          </a:xfrm>
          <a:prstGeom prst="rect">
            <a:avLst/>
          </a:prstGeom>
          <a:noFill/>
        </p:spPr>
        <p:txBody>
          <a:bodyPr wrap="square">
            <a:spAutoFit/>
          </a:bodyPr>
          <a:lstStyle/>
          <a:p>
            <a:pPr algn="l">
              <a:defRPr sz="1800" b="1">
                <a:solidFill>
                  <a:srgbClr val="FF4D4D"/>
                </a:solidFill>
                <a:latin typeface="Calibri"/>
              </a:defRPr>
            </a:pPr>
            <a:r>
              <a:t>The Problem</a:t>
            </a:r>
          </a:p>
        </p:txBody>
      </p:sp>
      <p:sp>
        <p:nvSpPr>
          <p:cNvPr id="18" name="Rectangle 17"/>
          <p:cNvSpPr/>
          <p:nvPr/>
        </p:nvSpPr>
        <p:spPr>
          <a:xfrm>
            <a:off x="6309360" y="1920240"/>
            <a:ext cx="1828800" cy="25400"/>
          </a:xfrm>
          <a:prstGeom prst="rect">
            <a:avLst/>
          </a:prstGeom>
          <a:solidFill>
            <a:srgbClr val="FF4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09360" y="2011680"/>
            <a:ext cx="4754880" cy="457200"/>
          </a:xfrm>
          <a:prstGeom prst="rect">
            <a:avLst/>
          </a:prstGeom>
          <a:noFill/>
        </p:spPr>
        <p:txBody>
          <a:bodyPr wrap="square">
            <a:spAutoFit/>
          </a:bodyPr>
          <a:lstStyle/>
          <a:p>
            <a:pPr algn="l">
              <a:defRPr sz="1000" b="0">
                <a:solidFill>
                  <a:srgbClr val="B0B8CC"/>
                </a:solidFill>
                <a:latin typeface="Calibri"/>
              </a:defRPr>
            </a:pPr>
            <a:r>
              <a:t>Earth–Mars distance varies from 54.6M to 401M km</a:t>
            </a:r>
            <a:br/>
            <a:r>
              <a:t>— a 7x range swing every 780 days</a:t>
            </a:r>
          </a:p>
        </p:txBody>
      </p:sp>
      <p:sp>
        <p:nvSpPr>
          <p:cNvPr id="20" name="TextBox 19"/>
          <p:cNvSpPr txBox="1"/>
          <p:nvPr/>
        </p:nvSpPr>
        <p:spPr>
          <a:xfrm>
            <a:off x="6309360" y="2468880"/>
            <a:ext cx="4754880" cy="457200"/>
          </a:xfrm>
          <a:prstGeom prst="rect">
            <a:avLst/>
          </a:prstGeom>
          <a:noFill/>
        </p:spPr>
        <p:txBody>
          <a:bodyPr wrap="square">
            <a:spAutoFit/>
          </a:bodyPr>
          <a:lstStyle/>
          <a:p>
            <a:pPr algn="l">
              <a:defRPr sz="1000" b="0">
                <a:solidFill>
                  <a:srgbClr val="B0B8CC"/>
                </a:solidFill>
                <a:latin typeface="Calibri"/>
              </a:defRPr>
            </a:pPr>
            <a:r>
              <a:t>One-way light delay is 3–22 minutes;</a:t>
            </a:r>
            <a:br/>
            <a:r>
              <a:t>round-trip TCP ACK is 6–44 minutes</a:t>
            </a:r>
          </a:p>
        </p:txBody>
      </p:sp>
      <p:sp>
        <p:nvSpPr>
          <p:cNvPr id="21" name="TextBox 20"/>
          <p:cNvSpPr txBox="1"/>
          <p:nvPr/>
        </p:nvSpPr>
        <p:spPr>
          <a:xfrm>
            <a:off x="6309360" y="2926080"/>
            <a:ext cx="4754880" cy="457200"/>
          </a:xfrm>
          <a:prstGeom prst="rect">
            <a:avLst/>
          </a:prstGeom>
          <a:noFill/>
        </p:spPr>
        <p:txBody>
          <a:bodyPr wrap="square">
            <a:spAutoFit/>
          </a:bodyPr>
          <a:lstStyle/>
          <a:p>
            <a:pPr algn="l">
              <a:defRPr sz="1000" b="0">
                <a:solidFill>
                  <a:srgbClr val="B0B8CC"/>
                </a:solidFill>
                <a:latin typeface="Calibri"/>
              </a:defRPr>
            </a:pPr>
            <a:r>
              <a:t>Solar conjunction causes ~2-week communication</a:t>
            </a:r>
            <a:br/>
            <a:r>
              <a:t>blackouts twice per synodic period</a:t>
            </a:r>
          </a:p>
        </p:txBody>
      </p:sp>
      <p:sp>
        <p:nvSpPr>
          <p:cNvPr id="22" name="TextBox 21"/>
          <p:cNvSpPr txBox="1"/>
          <p:nvPr/>
        </p:nvSpPr>
        <p:spPr>
          <a:xfrm>
            <a:off x="6309360" y="3383280"/>
            <a:ext cx="4754880" cy="457200"/>
          </a:xfrm>
          <a:prstGeom prst="rect">
            <a:avLst/>
          </a:prstGeom>
          <a:noFill/>
        </p:spPr>
        <p:txBody>
          <a:bodyPr wrap="square">
            <a:spAutoFit/>
          </a:bodyPr>
          <a:lstStyle/>
          <a:p>
            <a:pPr algn="l">
              <a:defRPr sz="1000" b="0">
                <a:solidFill>
                  <a:srgbClr val="B0B8CC"/>
                </a:solidFill>
                <a:latin typeface="Calibri"/>
              </a:defRPr>
            </a:pPr>
            <a:r>
              <a:t>Deep-space links are inherently intermittent:</a:t>
            </a:r>
            <a:br/>
            <a:r>
              <a:t>no continuous end-to-end path exists</a:t>
            </a:r>
          </a:p>
        </p:txBody>
      </p:sp>
      <p:sp>
        <p:nvSpPr>
          <p:cNvPr id="23" name="TextBox 22"/>
          <p:cNvSpPr txBox="1"/>
          <p:nvPr/>
        </p:nvSpPr>
        <p:spPr>
          <a:xfrm>
            <a:off x="6309360" y="3840480"/>
            <a:ext cx="4754880" cy="457200"/>
          </a:xfrm>
          <a:prstGeom prst="rect">
            <a:avLst/>
          </a:prstGeom>
          <a:noFill/>
        </p:spPr>
        <p:txBody>
          <a:bodyPr wrap="square">
            <a:spAutoFit/>
          </a:bodyPr>
          <a:lstStyle/>
          <a:p>
            <a:pPr algn="l">
              <a:defRPr sz="1000" b="0">
                <a:solidFill>
                  <a:srgbClr val="B0B8CC"/>
                </a:solidFill>
                <a:latin typeface="Calibri"/>
              </a:defRPr>
            </a:pPr>
            <a:r>
              <a:t>Static routing cannot adapt to dynamic</a:t>
            </a:r>
            <a:br/>
            <a:r>
              <a:t>contact schedules and link degradation</a:t>
            </a:r>
          </a:p>
        </p:txBody>
      </p:sp>
      <p:sp>
        <p:nvSpPr>
          <p:cNvPr id="24" name="TextBox 23"/>
          <p:cNvSpPr txBox="1"/>
          <p:nvPr/>
        </p:nvSpPr>
        <p:spPr>
          <a:xfrm>
            <a:off x="6309360" y="4297680"/>
            <a:ext cx="4754880" cy="457200"/>
          </a:xfrm>
          <a:prstGeom prst="rect">
            <a:avLst/>
          </a:prstGeom>
          <a:noFill/>
        </p:spPr>
        <p:txBody>
          <a:bodyPr wrap="square">
            <a:spAutoFit/>
          </a:bodyPr>
          <a:lstStyle/>
          <a:p>
            <a:pPr algn="l">
              <a:defRPr sz="1000" b="0">
                <a:solidFill>
                  <a:srgbClr val="B0B8CC"/>
                </a:solidFill>
                <a:latin typeface="Calibri"/>
              </a:defRPr>
            </a:pPr>
            <a:r>
              <a:t>Classical key exchange is infeasible across</a:t>
            </a:r>
            <a:br/>
            <a:r>
              <a:t>interplanetary distances</a:t>
            </a:r>
          </a:p>
        </p:txBody>
      </p:sp>
      <p:sp>
        <p:nvSpPr>
          <p:cNvPr id="25" name="Rounded Rectangle 24"/>
          <p:cNvSpPr/>
          <p:nvPr/>
        </p:nvSpPr>
        <p:spPr>
          <a:xfrm>
            <a:off x="640080" y="5212080"/>
            <a:ext cx="10607040" cy="822960"/>
          </a:xfrm>
          <a:prstGeom prst="roundRect">
            <a:avLst/>
          </a:prstGeom>
          <a:solidFill>
            <a:srgbClr val="00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5303520"/>
            <a:ext cx="10058400" cy="640080"/>
          </a:xfrm>
          <a:prstGeom prst="rect">
            <a:avLst/>
          </a:prstGeom>
          <a:noFill/>
        </p:spPr>
        <p:txBody>
          <a:bodyPr wrap="square">
            <a:spAutoFit/>
          </a:bodyPr>
          <a:lstStyle/>
          <a:p>
            <a:pPr algn="ctr">
              <a:defRPr sz="1300" b="1">
                <a:solidFill>
                  <a:srgbClr val="FFFFFF"/>
                </a:solidFill>
                <a:latin typeface="Calibri"/>
              </a:defRPr>
            </a:pPr>
            <a:r>
              <a:t>AETHERIX addresses every one of these challenges — harnessing DTN store-and-forward, AI-driven adaptive routing, quantum-secured key distribution, and hybrid optical/RF links to enable reliable interplanetary communication.</a:t>
            </a:r>
          </a:p>
        </p:txBody>
      </p:sp>
    </p:spTree>
  </p:cSld>
  <p:transition spd="med" advClick="1">
    <p:fade/>
  </p:transition>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0E1A"/>
        </a:solidFill>
        <a:effectLst/>
      </p:bgPr>
    </p:bg>
    <p:spTree>
      <p:nvGrpSpPr>
        <p:cNvPr id="1" name=""/>
        <p:cNvGrpSpPr/>
        <p:nvPr/>
      </p:nvGrpSpPr>
      <p:grpSpPr/>
      <p:sp>
        <p:nvSpPr>
          <p:cNvPr id="2" name="TextBox 1"/>
          <p:cNvSpPr txBox="1"/>
          <p:nvPr/>
        </p:nvSpPr>
        <p:spPr>
          <a:xfrm>
            <a:off x="640080" y="274320"/>
            <a:ext cx="10058400" cy="640080"/>
          </a:xfrm>
          <a:prstGeom prst="rect">
            <a:avLst/>
          </a:prstGeom>
          <a:noFill/>
        </p:spPr>
        <p:txBody>
          <a:bodyPr wrap="square">
            <a:spAutoFit/>
          </a:bodyPr>
          <a:lstStyle/>
          <a:p>
            <a:pPr algn="l">
              <a:defRPr sz="3600" b="1">
                <a:solidFill>
                  <a:srgbClr val="FFFFFF"/>
                </a:solidFill>
                <a:latin typeface="Calibri"/>
              </a:defRPr>
            </a:pPr>
            <a:r>
              <a:t>THE DISTANCE</a:t>
            </a:r>
          </a:p>
        </p:txBody>
      </p:sp>
      <p:sp>
        <p:nvSpPr>
          <p:cNvPr id="3" name="Rectangle 2"/>
          <p:cNvSpPr/>
          <p:nvPr/>
        </p:nvSpPr>
        <p:spPr>
          <a:xfrm>
            <a:off x="640080" y="868680"/>
            <a:ext cx="2743200" cy="38100"/>
          </a:xfrm>
          <a:prstGeom prst="rect">
            <a:avLst/>
          </a:prstGeom>
          <a:solidFill>
            <a:srgbClr val="FF4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960120"/>
            <a:ext cx="10058400" cy="365760"/>
          </a:xfrm>
          <a:prstGeom prst="rect">
            <a:avLst/>
          </a:prstGeom>
          <a:noFill/>
        </p:spPr>
        <p:txBody>
          <a:bodyPr wrap="square">
            <a:spAutoFit/>
          </a:bodyPr>
          <a:lstStyle/>
          <a:p>
            <a:pPr algn="l">
              <a:defRPr sz="1600" b="0">
                <a:solidFill>
                  <a:srgbClr val="6B7B96"/>
                </a:solidFill>
                <a:latin typeface="Calibri"/>
              </a:defRPr>
            </a:pPr>
            <a:r>
              <a:t>Why Space Breaks the Internet</a:t>
            </a:r>
          </a:p>
        </p:txBody>
      </p:sp>
      <p:sp>
        <p:nvSpPr>
          <p:cNvPr id="5" name="TextBox 4"/>
          <p:cNvSpPr txBox="1"/>
          <p:nvPr/>
        </p:nvSpPr>
        <p:spPr>
          <a:xfrm>
            <a:off x="457200" y="6400800"/>
            <a:ext cx="4572000" cy="365760"/>
          </a:xfrm>
          <a:prstGeom prst="rect">
            <a:avLst/>
          </a:prstGeom>
          <a:noFill/>
        </p:spPr>
        <p:txBody>
          <a:bodyPr wrap="square">
            <a:spAutoFit/>
          </a:bodyPr>
          <a:lstStyle/>
          <a:p>
            <a:pPr algn="l">
              <a:defRPr sz="1000" b="0">
                <a:solidFill>
                  <a:srgbClr val="6B7B96"/>
                </a:solidFill>
                <a:latin typeface="Calibri"/>
              </a:defRPr>
            </a:pPr>
            <a:r>
              <a:t>AETHERIX — Interplanetary Communication Network</a:t>
            </a:r>
          </a:p>
        </p:txBody>
      </p:sp>
      <p:sp>
        <p:nvSpPr>
          <p:cNvPr id="6" name="TextBox 5"/>
          <p:cNvSpPr txBox="1"/>
          <p:nvPr/>
        </p:nvSpPr>
        <p:spPr>
          <a:xfrm>
            <a:off x="10058400" y="6400800"/>
            <a:ext cx="1828800" cy="365760"/>
          </a:xfrm>
          <a:prstGeom prst="rect">
            <a:avLst/>
          </a:prstGeom>
          <a:noFill/>
        </p:spPr>
        <p:txBody>
          <a:bodyPr wrap="square">
            <a:spAutoFit/>
          </a:bodyPr>
          <a:lstStyle/>
          <a:p>
            <a:pPr algn="r">
              <a:defRPr sz="1000" b="0">
                <a:solidFill>
                  <a:srgbClr val="6B7B96"/>
                </a:solidFill>
                <a:latin typeface="Calibri"/>
              </a:defRPr>
            </a:pPr>
            <a:r>
              <a:t>4 / 46</a:t>
            </a:r>
          </a:p>
        </p:txBody>
      </p:sp>
      <p:graphicFrame>
        <p:nvGraphicFramePr>
          <p:cNvPr id="7" name="Table 6"/>
          <p:cNvGraphicFramePr>
            <a:graphicFrameLocks noGrp="1"/>
          </p:cNvGraphicFramePr>
          <p:nvPr/>
        </p:nvGraphicFramePr>
        <p:xfrm>
          <a:off x="640080" y="1371600"/>
          <a:ext cx="5120640" cy="2926080"/>
        </p:xfrm>
        <a:graphic>
          <a:graphicData uri="http://schemas.openxmlformats.org/drawingml/2006/table">
            <a:tbl>
              <a:tblPr firstRow="1" bandRow="1">
                <a:tableStyleId>{5C22544A-7EE6-4342-B048-85BDC9FD1C3A}</a:tableStyleId>
              </a:tblPr>
              <a:tblGrid>
                <a:gridCol w="2560320"/>
                <a:gridCol w="2560320"/>
              </a:tblGrid>
              <a:tr h="418011">
                <a:tc>
                  <a:txBody>
                    <a:bodyPr/>
                    <a:lstStyle/>
                    <a:p>
                      <a:pPr algn="ctr">
                        <a:defRPr b="1" sz="1200">
                          <a:solidFill>
                            <a:srgbClr val="FFFFFF"/>
                          </a:solidFill>
                          <a:latin typeface="Calibri"/>
                        </a:defRPr>
                      </a:pPr>
                      <a:r>
                        <a:t>Parameter</a:t>
                      </a:r>
                    </a:p>
                  </a:txBody>
                  <a:tcPr anchor="ctr" marL="73152" marR="73152" marT="36576" marB="36576">
                    <a:solidFill>
                      <a:srgbClr val="FF4D4D"/>
                    </a:solidFill>
                  </a:tcPr>
                </a:tc>
                <a:tc>
                  <a:txBody>
                    <a:bodyPr/>
                    <a:lstStyle/>
                    <a:p>
                      <a:pPr algn="ctr">
                        <a:defRPr b="1" sz="1200">
                          <a:solidFill>
                            <a:srgbClr val="FFFFFF"/>
                          </a:solidFill>
                          <a:latin typeface="Calibri"/>
                        </a:defRPr>
                      </a:pPr>
                      <a:r>
                        <a:t>Value</a:t>
                      </a:r>
                    </a:p>
                  </a:txBody>
                  <a:tcPr anchor="ctr" marL="73152" marR="73152" marT="36576" marB="36576">
                    <a:solidFill>
                      <a:srgbClr val="FF4D4D"/>
                    </a:solidFill>
                  </a:tcPr>
                </a:tc>
              </a:tr>
              <a:tr h="418011">
                <a:tc>
                  <a:txBody>
                    <a:bodyPr/>
                    <a:lstStyle/>
                    <a:p>
                      <a:pPr>
                        <a:defRPr sz="1100">
                          <a:solidFill>
                            <a:srgbClr val="B0B8CC"/>
                          </a:solidFill>
                          <a:latin typeface="Calibri"/>
                        </a:defRPr>
                      </a:pPr>
                      <a:r>
                        <a:t>Closest approach</a:t>
                      </a:r>
                    </a:p>
                  </a:txBody>
                  <a:tcPr anchor="ctr" marL="73152" marR="73152" marT="36576" marB="36576">
                    <a:solidFill>
                      <a:srgbClr val="141B2D"/>
                    </a:solidFill>
                  </a:tcPr>
                </a:tc>
                <a:tc>
                  <a:txBody>
                    <a:bodyPr/>
                    <a:lstStyle/>
                    <a:p>
                      <a:pPr>
                        <a:defRPr sz="1100">
                          <a:solidFill>
                            <a:srgbClr val="B0B8CC"/>
                          </a:solidFill>
                          <a:latin typeface="Calibri"/>
                        </a:defRPr>
                      </a:pPr>
                      <a:r>
                        <a:t>54.6 million km</a:t>
                      </a:r>
                    </a:p>
                  </a:txBody>
                  <a:tcPr anchor="ctr" marL="73152" marR="73152" marT="36576" marB="36576">
                    <a:solidFill>
                      <a:srgbClr val="141B2D"/>
                    </a:solidFill>
                  </a:tcPr>
                </a:tc>
              </a:tr>
              <a:tr h="418011">
                <a:tc>
                  <a:txBody>
                    <a:bodyPr/>
                    <a:lstStyle/>
                    <a:p>
                      <a:pPr>
                        <a:defRPr sz="1100">
                          <a:solidFill>
                            <a:srgbClr val="B0B8CC"/>
                          </a:solidFill>
                          <a:latin typeface="Calibri"/>
                        </a:defRPr>
                      </a:pPr>
                      <a:r>
                        <a:t>Farthest distance</a:t>
                      </a:r>
                    </a:p>
                  </a:txBody>
                  <a:tcPr anchor="ctr" marL="73152" marR="73152" marT="36576" marB="36576">
                    <a:solidFill>
                      <a:srgbClr val="182236"/>
                    </a:solidFill>
                  </a:tcPr>
                </a:tc>
                <a:tc>
                  <a:txBody>
                    <a:bodyPr/>
                    <a:lstStyle/>
                    <a:p>
                      <a:pPr>
                        <a:defRPr sz="1100">
                          <a:solidFill>
                            <a:srgbClr val="B0B8CC"/>
                          </a:solidFill>
                          <a:latin typeface="Calibri"/>
                        </a:defRPr>
                      </a:pPr>
                      <a:r>
                        <a:t>401 million km</a:t>
                      </a:r>
                    </a:p>
                  </a:txBody>
                  <a:tcPr anchor="ctr" marL="73152" marR="73152" marT="36576" marB="36576">
                    <a:solidFill>
                      <a:srgbClr val="182236"/>
                    </a:solidFill>
                  </a:tcPr>
                </a:tc>
              </a:tr>
              <a:tr h="418011">
                <a:tc>
                  <a:txBody>
                    <a:bodyPr/>
                    <a:lstStyle/>
                    <a:p>
                      <a:pPr>
                        <a:defRPr sz="1100">
                          <a:solidFill>
                            <a:srgbClr val="B0B8CC"/>
                          </a:solidFill>
                          <a:latin typeface="Calibri"/>
                        </a:defRPr>
                      </a:pPr>
                      <a:r>
                        <a:t>Distance variation</a:t>
                      </a:r>
                    </a:p>
                  </a:txBody>
                  <a:tcPr anchor="ctr" marL="73152" marR="73152" marT="36576" marB="36576">
                    <a:solidFill>
                      <a:srgbClr val="141B2D"/>
                    </a:solidFill>
                  </a:tcPr>
                </a:tc>
                <a:tc>
                  <a:txBody>
                    <a:bodyPr/>
                    <a:lstStyle/>
                    <a:p>
                      <a:pPr>
                        <a:defRPr sz="1100">
                          <a:solidFill>
                            <a:srgbClr val="B0B8CC"/>
                          </a:solidFill>
                          <a:latin typeface="Calibri"/>
                        </a:defRPr>
                      </a:pPr>
                      <a:r>
                        <a:t>7.3× (735%)</a:t>
                      </a:r>
                    </a:p>
                  </a:txBody>
                  <a:tcPr anchor="ctr" marL="73152" marR="73152" marT="36576" marB="36576">
                    <a:solidFill>
                      <a:srgbClr val="141B2D"/>
                    </a:solidFill>
                  </a:tcPr>
                </a:tc>
              </a:tr>
              <a:tr h="418011">
                <a:tc>
                  <a:txBody>
                    <a:bodyPr/>
                    <a:lstStyle/>
                    <a:p>
                      <a:pPr>
                        <a:defRPr sz="1100">
                          <a:solidFill>
                            <a:srgbClr val="B0B8CC"/>
                          </a:solidFill>
                          <a:latin typeface="Calibri"/>
                        </a:defRPr>
                      </a:pPr>
                      <a:r>
                        <a:t>One-way light time</a:t>
                      </a:r>
                    </a:p>
                  </a:txBody>
                  <a:tcPr anchor="ctr" marL="73152" marR="73152" marT="36576" marB="36576">
                    <a:solidFill>
                      <a:srgbClr val="182236"/>
                    </a:solidFill>
                  </a:tcPr>
                </a:tc>
                <a:tc>
                  <a:txBody>
                    <a:bodyPr/>
                    <a:lstStyle/>
                    <a:p>
                      <a:pPr>
                        <a:defRPr sz="1100">
                          <a:solidFill>
                            <a:srgbClr val="B0B8CC"/>
                          </a:solidFill>
                          <a:latin typeface="Calibri"/>
                        </a:defRPr>
                      </a:pPr>
                      <a:r>
                        <a:t>3 – 22 minutes</a:t>
                      </a:r>
                    </a:p>
                  </a:txBody>
                  <a:tcPr anchor="ctr" marL="73152" marR="73152" marT="36576" marB="36576">
                    <a:solidFill>
                      <a:srgbClr val="182236"/>
                    </a:solidFill>
                  </a:tcPr>
                </a:tc>
              </a:tr>
              <a:tr h="418011">
                <a:tc>
                  <a:txBody>
                    <a:bodyPr/>
                    <a:lstStyle/>
                    <a:p>
                      <a:pPr>
                        <a:defRPr sz="1100">
                          <a:solidFill>
                            <a:srgbClr val="B0B8CC"/>
                          </a:solidFill>
                          <a:latin typeface="Calibri"/>
                        </a:defRPr>
                      </a:pPr>
                      <a:r>
                        <a:t>Synodic period</a:t>
                      </a:r>
                    </a:p>
                  </a:txBody>
                  <a:tcPr anchor="ctr" marL="73152" marR="73152" marT="36576" marB="36576">
                    <a:solidFill>
                      <a:srgbClr val="141B2D"/>
                    </a:solidFill>
                  </a:tcPr>
                </a:tc>
                <a:tc>
                  <a:txBody>
                    <a:bodyPr/>
                    <a:lstStyle/>
                    <a:p>
                      <a:pPr>
                        <a:defRPr sz="1100">
                          <a:solidFill>
                            <a:srgbClr val="B0B8CC"/>
                          </a:solidFill>
                          <a:latin typeface="Calibri"/>
                        </a:defRPr>
                      </a:pPr>
                      <a:r>
                        <a:t>780 days (26 months)</a:t>
                      </a:r>
                    </a:p>
                  </a:txBody>
                  <a:tcPr anchor="ctr" marL="73152" marR="73152" marT="36576" marB="36576">
                    <a:solidFill>
                      <a:srgbClr val="141B2D"/>
                    </a:solidFill>
                  </a:tcPr>
                </a:tc>
              </a:tr>
              <a:tr h="418014">
                <a:tc>
                  <a:txBody>
                    <a:bodyPr/>
                    <a:lstStyle/>
                    <a:p>
                      <a:pPr>
                        <a:defRPr sz="1100">
                          <a:solidFill>
                            <a:srgbClr val="B0B8CC"/>
                          </a:solidFill>
                          <a:latin typeface="Calibri"/>
                        </a:defRPr>
                      </a:pPr>
                      <a:r>
                        <a:t>Solar conjunction blackout</a:t>
                      </a:r>
                    </a:p>
                  </a:txBody>
                  <a:tcPr anchor="ctr" marL="73152" marR="73152" marT="36576" marB="36576">
                    <a:solidFill>
                      <a:srgbClr val="182236"/>
                    </a:solidFill>
                  </a:tcPr>
                </a:tc>
                <a:tc>
                  <a:txBody>
                    <a:bodyPr/>
                    <a:lstStyle/>
                    <a:p>
                      <a:pPr>
                        <a:defRPr sz="1100">
                          <a:solidFill>
                            <a:srgbClr val="B0B8CC"/>
                          </a:solidFill>
                          <a:latin typeface="Calibri"/>
                        </a:defRPr>
                      </a:pPr>
                      <a:r>
                        <a:t>~2 weeks (twice/period)</a:t>
                      </a:r>
                    </a:p>
                  </a:txBody>
                  <a:tcPr anchor="ctr" marL="73152" marR="73152" marT="36576" marB="36576">
                    <a:solidFill>
                      <a:srgbClr val="182236"/>
                    </a:solidFill>
                  </a:tcPr>
                </a:tc>
              </a:tr>
            </a:tbl>
          </a:graphicData>
        </a:graphic>
      </p:graphicFrame>
      <p:graphicFrame>
        <p:nvGraphicFramePr>
          <p:cNvPr id="8" name="Table 7"/>
          <p:cNvGraphicFramePr>
            <a:graphicFrameLocks noGrp="1"/>
          </p:cNvGraphicFramePr>
          <p:nvPr/>
        </p:nvGraphicFramePr>
        <p:xfrm>
          <a:off x="6126480" y="1371600"/>
          <a:ext cx="5120640" cy="2011680"/>
        </p:xfrm>
        <a:graphic>
          <a:graphicData uri="http://schemas.openxmlformats.org/drawingml/2006/table">
            <a:tbl>
              <a:tblPr firstRow="1" bandRow="1">
                <a:tableStyleId>{5C22544A-7EE6-4342-B048-85BDC9FD1C3A}</a:tableStyleId>
              </a:tblPr>
              <a:tblGrid>
                <a:gridCol w="2560320"/>
                <a:gridCol w="2560320"/>
              </a:tblGrid>
              <a:tr h="402336">
                <a:tc>
                  <a:txBody>
                    <a:bodyPr/>
                    <a:lstStyle/>
                    <a:p>
                      <a:pPr algn="ctr">
                        <a:defRPr b="1" sz="1200">
                          <a:solidFill>
                            <a:srgbClr val="FFFFFF"/>
                          </a:solidFill>
                          <a:latin typeface="Calibri"/>
                        </a:defRPr>
                      </a:pPr>
                      <a:r>
                        <a:t>TCP/IP Assumption</a:t>
                      </a:r>
                    </a:p>
                  </a:txBody>
                  <a:tcPr anchor="ctr" marL="73152" marR="73152" marT="36576" marB="36576">
                    <a:solidFill>
                      <a:srgbClr val="FF8C00"/>
                    </a:solidFill>
                  </a:tcPr>
                </a:tc>
                <a:tc>
                  <a:txBody>
                    <a:bodyPr/>
                    <a:lstStyle/>
                    <a:p>
                      <a:pPr algn="ctr">
                        <a:defRPr b="1" sz="1200">
                          <a:solidFill>
                            <a:srgbClr val="FFFFFF"/>
                          </a:solidFill>
                          <a:latin typeface="Calibri"/>
                        </a:defRPr>
                      </a:pPr>
                      <a:r>
                        <a:t>Deep-Space Reality</a:t>
                      </a:r>
                    </a:p>
                  </a:txBody>
                  <a:tcPr anchor="ctr" marL="73152" marR="73152" marT="36576" marB="36576">
                    <a:solidFill>
                      <a:srgbClr val="FF8C00"/>
                    </a:solidFill>
                  </a:tcPr>
                </a:tc>
              </a:tr>
              <a:tr h="402336">
                <a:tc>
                  <a:txBody>
                    <a:bodyPr/>
                    <a:lstStyle/>
                    <a:p>
                      <a:pPr>
                        <a:defRPr sz="1100">
                          <a:solidFill>
                            <a:srgbClr val="B0B8CC"/>
                          </a:solidFill>
                          <a:latin typeface="Calibri"/>
                        </a:defRPr>
                      </a:pPr>
                      <a:r>
                        <a:t>Low latency (&lt; 200 ms)</a:t>
                      </a:r>
                    </a:p>
                  </a:txBody>
                  <a:tcPr anchor="ctr" marL="73152" marR="73152" marT="36576" marB="36576">
                    <a:solidFill>
                      <a:srgbClr val="141B2D"/>
                    </a:solidFill>
                  </a:tcPr>
                </a:tc>
                <a:tc>
                  <a:txBody>
                    <a:bodyPr/>
                    <a:lstStyle/>
                    <a:p>
                      <a:pPr>
                        <a:defRPr sz="1100">
                          <a:solidFill>
                            <a:srgbClr val="B0B8CC"/>
                          </a:solidFill>
                          <a:latin typeface="Calibri"/>
                        </a:defRPr>
                      </a:pPr>
                      <a:r>
                        <a:t>6 – 44 min round trip</a:t>
                      </a:r>
                    </a:p>
                  </a:txBody>
                  <a:tcPr anchor="ctr" marL="73152" marR="73152" marT="36576" marB="36576">
                    <a:solidFill>
                      <a:srgbClr val="141B2D"/>
                    </a:solidFill>
                  </a:tcPr>
                </a:tc>
              </a:tr>
              <a:tr h="402336">
                <a:tc>
                  <a:txBody>
                    <a:bodyPr/>
                    <a:lstStyle/>
                    <a:p>
                      <a:pPr>
                        <a:defRPr sz="1100">
                          <a:solidFill>
                            <a:srgbClr val="B0B8CC"/>
                          </a:solidFill>
                          <a:latin typeface="Calibri"/>
                        </a:defRPr>
                      </a:pPr>
                      <a:r>
                        <a:t>Continuous connectivity</a:t>
                      </a:r>
                    </a:p>
                  </a:txBody>
                  <a:tcPr anchor="ctr" marL="73152" marR="73152" marT="36576" marB="36576">
                    <a:solidFill>
                      <a:srgbClr val="182236"/>
                    </a:solidFill>
                  </a:tcPr>
                </a:tc>
                <a:tc>
                  <a:txBody>
                    <a:bodyPr/>
                    <a:lstStyle/>
                    <a:p>
                      <a:pPr>
                        <a:defRPr sz="1100">
                          <a:solidFill>
                            <a:srgbClr val="B0B8CC"/>
                          </a:solidFill>
                          <a:latin typeface="Calibri"/>
                        </a:defRPr>
                      </a:pPr>
                      <a:r>
                        <a:t>Scheduled contact windows only</a:t>
                      </a:r>
                    </a:p>
                  </a:txBody>
                  <a:tcPr anchor="ctr" marL="73152" marR="73152" marT="36576" marB="36576">
                    <a:solidFill>
                      <a:srgbClr val="182236"/>
                    </a:solidFill>
                  </a:tcPr>
                </a:tc>
              </a:tr>
              <a:tr h="402336">
                <a:tc>
                  <a:txBody>
                    <a:bodyPr/>
                    <a:lstStyle/>
                    <a:p>
                      <a:pPr>
                        <a:defRPr sz="1100">
                          <a:solidFill>
                            <a:srgbClr val="B0B8CC"/>
                          </a:solidFill>
                          <a:latin typeface="Calibri"/>
                        </a:defRPr>
                      </a:pPr>
                      <a:r>
                        <a:t>End-to-end path exists</a:t>
                      </a:r>
                    </a:p>
                  </a:txBody>
                  <a:tcPr anchor="ctr" marL="73152" marR="73152" marT="36576" marB="36576">
                    <a:solidFill>
                      <a:srgbClr val="141B2D"/>
                    </a:solidFill>
                  </a:tcPr>
                </a:tc>
                <a:tc>
                  <a:txBody>
                    <a:bodyPr/>
                    <a:lstStyle/>
                    <a:p>
                      <a:pPr>
                        <a:defRPr sz="1100">
                          <a:solidFill>
                            <a:srgbClr val="B0B8CC"/>
                          </a:solidFill>
                          <a:latin typeface="Calibri"/>
                        </a:defRPr>
                      </a:pPr>
                      <a:r>
                        <a:t>No simultaneous path possible</a:t>
                      </a:r>
                    </a:p>
                  </a:txBody>
                  <a:tcPr anchor="ctr" marL="73152" marR="73152" marT="36576" marB="36576">
                    <a:solidFill>
                      <a:srgbClr val="141B2D"/>
                    </a:solidFill>
                  </a:tcPr>
                </a:tc>
              </a:tr>
              <a:tr h="402336">
                <a:tc>
                  <a:txBody>
                    <a:bodyPr/>
                    <a:lstStyle/>
                    <a:p>
                      <a:pPr>
                        <a:defRPr sz="1100">
                          <a:solidFill>
                            <a:srgbClr val="B0B8CC"/>
                          </a:solidFill>
                          <a:latin typeface="Calibri"/>
                        </a:defRPr>
                      </a:pPr>
                      <a:r>
                        <a:t>Reliable ACKs in seconds</a:t>
                      </a:r>
                    </a:p>
                  </a:txBody>
                  <a:tcPr anchor="ctr" marL="73152" marR="73152" marT="36576" marB="36576">
                    <a:solidFill>
                      <a:srgbClr val="182236"/>
                    </a:solidFill>
                  </a:tcPr>
                </a:tc>
                <a:tc>
                  <a:txBody>
                    <a:bodyPr/>
                    <a:lstStyle/>
                    <a:p>
                      <a:pPr>
                        <a:defRPr sz="1100">
                          <a:solidFill>
                            <a:srgbClr val="B0B8CC"/>
                          </a:solidFill>
                          <a:latin typeface="Calibri"/>
                        </a:defRPr>
                      </a:pPr>
                      <a:r>
                        <a:t>ACKs take minutes to hours</a:t>
                      </a:r>
                    </a:p>
                  </a:txBody>
                  <a:tcPr anchor="ctr" marL="73152" marR="73152" marT="36576" marB="36576">
                    <a:solidFill>
                      <a:srgbClr val="182236"/>
                    </a:solidFill>
                  </a:tcPr>
                </a:tc>
              </a:tr>
            </a:tbl>
          </a:graphicData>
        </a:graphic>
      </p:graphicFrame>
      <p:sp>
        <p:nvSpPr>
          <p:cNvPr id="9" name="Rounded Rectangle 8"/>
          <p:cNvSpPr/>
          <p:nvPr/>
        </p:nvSpPr>
        <p:spPr>
          <a:xfrm>
            <a:off x="6126480" y="3657600"/>
            <a:ext cx="5120640" cy="1188720"/>
          </a:xfrm>
          <a:prstGeom prst="roundRect">
            <a:avLst/>
          </a:prstGeom>
          <a:solidFill>
            <a:srgbClr val="141B2D"/>
          </a:solidFill>
          <a:ln w="12700">
            <a:solidFill>
              <a:srgbClr val="FF8C00"/>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defRPr sz="1600" b="1">
                <a:solidFill>
                  <a:srgbClr val="009EFF"/>
                </a:solidFill>
                <a:latin typeface="Calibri"/>
              </a:defRPr>
            </a:pPr>
          </a:p>
        </p:txBody>
      </p:sp>
      <p:sp>
        <p:nvSpPr>
          <p:cNvPr id="10" name="TextBox 9"/>
          <p:cNvSpPr txBox="1"/>
          <p:nvPr/>
        </p:nvSpPr>
        <p:spPr>
          <a:xfrm>
            <a:off x="6309360" y="3749039"/>
            <a:ext cx="4754880" cy="1005840"/>
          </a:xfrm>
          <a:prstGeom prst="rect">
            <a:avLst/>
          </a:prstGeom>
          <a:noFill/>
        </p:spPr>
        <p:txBody>
          <a:bodyPr wrap="square">
            <a:spAutoFit/>
          </a:bodyPr>
          <a:lstStyle/>
          <a:p>
            <a:pPr algn="ctr">
              <a:defRPr sz="1200" b="1">
                <a:solidFill>
                  <a:srgbClr val="FF8C00"/>
                </a:solidFill>
                <a:latin typeface="Calibri"/>
              </a:defRPr>
            </a:pPr>
            <a:r>
              <a:t>"TCP/IP assumes the network is fast, reliable, and always connected.</a:t>
            </a:r>
            <a:br/>
            <a:r>
              <a:t>Deep space is none of those things."</a:t>
            </a:r>
          </a:p>
        </p:txBody>
      </p:sp>
      <p:sp>
        <p:nvSpPr>
          <p:cNvPr id="11" name="Rounded Rectangle 10"/>
          <p:cNvSpPr/>
          <p:nvPr/>
        </p:nvSpPr>
        <p:spPr>
          <a:xfrm>
            <a:off x="640080" y="5120640"/>
            <a:ext cx="2468880" cy="1005840"/>
          </a:xfrm>
          <a:prstGeom prst="roundRect">
            <a:avLst/>
          </a:prstGeom>
          <a:solidFill>
            <a:srgbClr val="14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 y="5120640"/>
            <a:ext cx="2468880" cy="38100"/>
          </a:xfrm>
          <a:prstGeom prst="rect">
            <a:avLst/>
          </a:prstGeom>
          <a:solidFill>
            <a:srgbClr val="00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257800"/>
            <a:ext cx="2194560" cy="411480"/>
          </a:xfrm>
          <a:prstGeom prst="rect">
            <a:avLst/>
          </a:prstGeom>
          <a:noFill/>
        </p:spPr>
        <p:txBody>
          <a:bodyPr wrap="square">
            <a:spAutoFit/>
          </a:bodyPr>
          <a:lstStyle/>
          <a:p>
            <a:pPr algn="ctr">
              <a:defRPr sz="2200" b="1">
                <a:solidFill>
                  <a:srgbClr val="009EFF"/>
                </a:solidFill>
                <a:latin typeface="Calibri"/>
              </a:defRPr>
            </a:pPr>
            <a:r>
              <a:t>54.6M km</a:t>
            </a:r>
          </a:p>
        </p:txBody>
      </p:sp>
      <p:sp>
        <p:nvSpPr>
          <p:cNvPr id="14" name="TextBox 13"/>
          <p:cNvSpPr txBox="1"/>
          <p:nvPr/>
        </p:nvSpPr>
        <p:spPr>
          <a:xfrm>
            <a:off x="777240" y="5669280"/>
            <a:ext cx="2194560" cy="320040"/>
          </a:xfrm>
          <a:prstGeom prst="rect">
            <a:avLst/>
          </a:prstGeom>
          <a:noFill/>
        </p:spPr>
        <p:txBody>
          <a:bodyPr wrap="square">
            <a:spAutoFit/>
          </a:bodyPr>
          <a:lstStyle/>
          <a:p>
            <a:pPr algn="ctr">
              <a:defRPr sz="1100" b="0">
                <a:solidFill>
                  <a:srgbClr val="B0B8CC"/>
                </a:solidFill>
                <a:latin typeface="Calibri"/>
              </a:defRPr>
            </a:pPr>
            <a:r>
              <a:t>Min Distance</a:t>
            </a:r>
          </a:p>
        </p:txBody>
      </p:sp>
      <p:sp>
        <p:nvSpPr>
          <p:cNvPr id="15" name="Rounded Rectangle 14"/>
          <p:cNvSpPr/>
          <p:nvPr/>
        </p:nvSpPr>
        <p:spPr>
          <a:xfrm>
            <a:off x="3383280" y="5120640"/>
            <a:ext cx="2468880" cy="1005840"/>
          </a:xfrm>
          <a:prstGeom prst="roundRect">
            <a:avLst/>
          </a:prstGeom>
          <a:solidFill>
            <a:srgbClr val="14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83280" y="5120640"/>
            <a:ext cx="2468880" cy="38100"/>
          </a:xfrm>
          <a:prstGeom prst="rect">
            <a:avLst/>
          </a:prstGeom>
          <a:solidFill>
            <a:srgbClr val="FF4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20440" y="5257800"/>
            <a:ext cx="2194560" cy="411480"/>
          </a:xfrm>
          <a:prstGeom prst="rect">
            <a:avLst/>
          </a:prstGeom>
          <a:noFill/>
        </p:spPr>
        <p:txBody>
          <a:bodyPr wrap="square">
            <a:spAutoFit/>
          </a:bodyPr>
          <a:lstStyle/>
          <a:p>
            <a:pPr algn="ctr">
              <a:defRPr sz="2200" b="1">
                <a:solidFill>
                  <a:srgbClr val="FF4D4D"/>
                </a:solidFill>
                <a:latin typeface="Calibri"/>
              </a:defRPr>
            </a:pPr>
            <a:r>
              <a:t>401M km</a:t>
            </a:r>
          </a:p>
        </p:txBody>
      </p:sp>
      <p:sp>
        <p:nvSpPr>
          <p:cNvPr id="18" name="TextBox 17"/>
          <p:cNvSpPr txBox="1"/>
          <p:nvPr/>
        </p:nvSpPr>
        <p:spPr>
          <a:xfrm>
            <a:off x="3520440" y="5669280"/>
            <a:ext cx="2194560" cy="320040"/>
          </a:xfrm>
          <a:prstGeom prst="rect">
            <a:avLst/>
          </a:prstGeom>
          <a:noFill/>
        </p:spPr>
        <p:txBody>
          <a:bodyPr wrap="square">
            <a:spAutoFit/>
          </a:bodyPr>
          <a:lstStyle/>
          <a:p>
            <a:pPr algn="ctr">
              <a:defRPr sz="1100" b="0">
                <a:solidFill>
                  <a:srgbClr val="B0B8CC"/>
                </a:solidFill>
                <a:latin typeface="Calibri"/>
              </a:defRPr>
            </a:pPr>
            <a:r>
              <a:t>Max Distance</a:t>
            </a:r>
          </a:p>
        </p:txBody>
      </p:sp>
      <p:sp>
        <p:nvSpPr>
          <p:cNvPr id="19" name="Rounded Rectangle 18"/>
          <p:cNvSpPr/>
          <p:nvPr/>
        </p:nvSpPr>
        <p:spPr>
          <a:xfrm>
            <a:off x="6126480" y="5120640"/>
            <a:ext cx="2468880" cy="1005840"/>
          </a:xfrm>
          <a:prstGeom prst="roundRect">
            <a:avLst/>
          </a:prstGeom>
          <a:solidFill>
            <a:srgbClr val="14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26480" y="5120640"/>
            <a:ext cx="2468880" cy="38100"/>
          </a:xfrm>
          <a:prstGeom prst="rect">
            <a:avLst/>
          </a:prstGeom>
          <a:solidFill>
            <a:srgbClr val="FF8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63640" y="5257800"/>
            <a:ext cx="2194560" cy="411480"/>
          </a:xfrm>
          <a:prstGeom prst="rect">
            <a:avLst/>
          </a:prstGeom>
          <a:noFill/>
        </p:spPr>
        <p:txBody>
          <a:bodyPr wrap="square">
            <a:spAutoFit/>
          </a:bodyPr>
          <a:lstStyle/>
          <a:p>
            <a:pPr algn="ctr">
              <a:defRPr sz="2200" b="1">
                <a:solidFill>
                  <a:srgbClr val="FF8C00"/>
                </a:solidFill>
                <a:latin typeface="Calibri"/>
              </a:defRPr>
            </a:pPr>
            <a:r>
              <a:t>780 days</a:t>
            </a:r>
          </a:p>
        </p:txBody>
      </p:sp>
      <p:sp>
        <p:nvSpPr>
          <p:cNvPr id="22" name="TextBox 21"/>
          <p:cNvSpPr txBox="1"/>
          <p:nvPr/>
        </p:nvSpPr>
        <p:spPr>
          <a:xfrm>
            <a:off x="6263640" y="5669280"/>
            <a:ext cx="2194560" cy="320040"/>
          </a:xfrm>
          <a:prstGeom prst="rect">
            <a:avLst/>
          </a:prstGeom>
          <a:noFill/>
        </p:spPr>
        <p:txBody>
          <a:bodyPr wrap="square">
            <a:spAutoFit/>
          </a:bodyPr>
          <a:lstStyle/>
          <a:p>
            <a:pPr algn="ctr">
              <a:defRPr sz="1100" b="0">
                <a:solidFill>
                  <a:srgbClr val="B0B8CC"/>
                </a:solidFill>
                <a:latin typeface="Calibri"/>
              </a:defRPr>
            </a:pPr>
            <a:r>
              <a:t>Synodic Period</a:t>
            </a:r>
          </a:p>
        </p:txBody>
      </p:sp>
      <p:sp>
        <p:nvSpPr>
          <p:cNvPr id="23" name="Rounded Rectangle 22"/>
          <p:cNvSpPr/>
          <p:nvPr/>
        </p:nvSpPr>
        <p:spPr>
          <a:xfrm>
            <a:off x="8869680" y="5120640"/>
            <a:ext cx="2468880" cy="1005840"/>
          </a:xfrm>
          <a:prstGeom prst="roundRect">
            <a:avLst/>
          </a:prstGeom>
          <a:solidFill>
            <a:srgbClr val="14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869680" y="5120640"/>
            <a:ext cx="2468880" cy="381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06840" y="5257800"/>
            <a:ext cx="2194560" cy="411480"/>
          </a:xfrm>
          <a:prstGeom prst="rect">
            <a:avLst/>
          </a:prstGeom>
          <a:noFill/>
        </p:spPr>
        <p:txBody>
          <a:bodyPr wrap="square">
            <a:spAutoFit/>
          </a:bodyPr>
          <a:lstStyle/>
          <a:p>
            <a:pPr algn="ctr">
              <a:defRPr sz="2200" b="1">
                <a:solidFill>
                  <a:srgbClr val="00D4AA"/>
                </a:solidFill>
                <a:latin typeface="Calibri"/>
              </a:defRPr>
            </a:pPr>
            <a:r>
              <a:t>0.5–6 Mbps</a:t>
            </a:r>
          </a:p>
        </p:txBody>
      </p:sp>
      <p:sp>
        <p:nvSpPr>
          <p:cNvPr id="26" name="TextBox 25"/>
          <p:cNvSpPr txBox="1"/>
          <p:nvPr/>
        </p:nvSpPr>
        <p:spPr>
          <a:xfrm>
            <a:off x="9006840" y="5669280"/>
            <a:ext cx="2194560" cy="320040"/>
          </a:xfrm>
          <a:prstGeom prst="rect">
            <a:avLst/>
          </a:prstGeom>
          <a:noFill/>
        </p:spPr>
        <p:txBody>
          <a:bodyPr wrap="square">
            <a:spAutoFit/>
          </a:bodyPr>
          <a:lstStyle/>
          <a:p>
            <a:pPr algn="ctr">
              <a:defRPr sz="1100" b="0">
                <a:solidFill>
                  <a:srgbClr val="B0B8CC"/>
                </a:solidFill>
                <a:latin typeface="Calibri"/>
              </a:defRPr>
            </a:pPr>
            <a:r>
              <a:t>Current DSN Rate</a:t>
            </a:r>
          </a:p>
        </p:txBody>
      </p:sp>
    </p:spTree>
  </p:cSld>
  <p:transition spd="med" advClick="1">
    <p:push dir="l"/>
  </p:transition>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0E1A"/>
        </a:solidFill>
        <a:effectLst/>
      </p:bgPr>
    </p:bg>
    <p:spTree>
      <p:nvGrpSpPr>
        <p:cNvPr id="1" name=""/>
        <p:cNvGrpSpPr/>
        <p:nvPr/>
      </p:nvGrpSpPr>
      <p:grpSpPr/>
      <p:sp>
        <p:nvSpPr>
          <p:cNvPr id="2" name="TextBox 1"/>
          <p:cNvSpPr txBox="1"/>
          <p:nvPr/>
        </p:nvSpPr>
        <p:spPr>
          <a:xfrm>
            <a:off x="640080" y="274320"/>
            <a:ext cx="10058400" cy="640080"/>
          </a:xfrm>
          <a:prstGeom prst="rect">
            <a:avLst/>
          </a:prstGeom>
          <a:noFill/>
        </p:spPr>
        <p:txBody>
          <a:bodyPr wrap="square">
            <a:spAutoFit/>
          </a:bodyPr>
          <a:lstStyle/>
          <a:p>
            <a:pPr algn="l">
              <a:defRPr sz="3200" b="1">
                <a:solidFill>
                  <a:srgbClr val="FFFFFF"/>
                </a:solidFill>
                <a:latin typeface="Calibri"/>
              </a:defRPr>
            </a:pPr>
            <a:r>
              <a:t>DISTANCE OVER TIME</a:t>
            </a:r>
          </a:p>
        </p:txBody>
      </p:sp>
      <p:sp>
        <p:nvSpPr>
          <p:cNvPr id="3" name="TextBox 2"/>
          <p:cNvSpPr txBox="1"/>
          <p:nvPr/>
        </p:nvSpPr>
        <p:spPr>
          <a:xfrm>
            <a:off x="640080" y="822960"/>
            <a:ext cx="10058400" cy="365760"/>
          </a:xfrm>
          <a:prstGeom prst="rect">
            <a:avLst/>
          </a:prstGeom>
          <a:noFill/>
        </p:spPr>
        <p:txBody>
          <a:bodyPr wrap="square">
            <a:spAutoFit/>
          </a:bodyPr>
          <a:lstStyle/>
          <a:p>
            <a:pPr algn="l">
              <a:defRPr sz="1600" b="0">
                <a:solidFill>
                  <a:srgbClr val="FF4D4D"/>
                </a:solidFill>
                <a:latin typeface="Calibri"/>
              </a:defRPr>
            </a:pPr>
            <a:r>
              <a:t>Earth-Mars Distance Variation</a:t>
            </a:r>
          </a:p>
        </p:txBody>
      </p:sp>
      <p:sp>
        <p:nvSpPr>
          <p:cNvPr id="4" name="Rectangle 3"/>
          <p:cNvSpPr/>
          <p:nvPr/>
        </p:nvSpPr>
        <p:spPr>
          <a:xfrm>
            <a:off x="640080" y="1234440"/>
            <a:ext cx="2286000" cy="38100"/>
          </a:xfrm>
          <a:prstGeom prst="rect">
            <a:avLst/>
          </a:prstGeom>
          <a:solidFill>
            <a:srgbClr val="FF4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istance_over_time.png"/>
          <p:cNvPicPr>
            <a:picLocks noChangeAspect="1"/>
          </p:cNvPicPr>
          <p:nvPr/>
        </p:nvPicPr>
        <p:blipFill>
          <a:blip r:embed="rId2"/>
          <a:stretch>
            <a:fillRect/>
          </a:stretch>
        </p:blipFill>
        <p:spPr>
          <a:xfrm>
            <a:off x="640080" y="1371600"/>
            <a:ext cx="6400800" cy="4114800"/>
          </a:xfrm>
          <a:prstGeom prst="rect">
            <a:avLst/>
          </a:prstGeom>
        </p:spPr>
      </p:pic>
      <p:sp>
        <p:nvSpPr>
          <p:cNvPr id="6" name="TextBox 5"/>
          <p:cNvSpPr txBox="1"/>
          <p:nvPr/>
        </p:nvSpPr>
        <p:spPr>
          <a:xfrm>
            <a:off x="640080" y="5669280"/>
            <a:ext cx="10058400" cy="274320"/>
          </a:xfrm>
          <a:prstGeom prst="rect">
            <a:avLst/>
          </a:prstGeom>
          <a:noFill/>
        </p:spPr>
        <p:txBody>
          <a:bodyPr wrap="square">
            <a:spAutoFit/>
          </a:bodyPr>
          <a:lstStyle/>
          <a:p>
            <a:pPr algn="ctr">
              <a:defRPr sz="1000" b="0">
                <a:solidFill>
                  <a:srgbClr val="6B7B96"/>
                </a:solidFill>
                <a:latin typeface="Calibri"/>
              </a:defRPr>
            </a:pPr>
            <a:r>
              <a:t>Earth-Mars distance over the 780-day synodic period</a:t>
            </a:r>
          </a:p>
        </p:txBody>
      </p:sp>
      <p:sp>
        <p:nvSpPr>
          <p:cNvPr id="7" name="TextBox 6"/>
          <p:cNvSpPr txBox="1"/>
          <p:nvPr/>
        </p:nvSpPr>
        <p:spPr>
          <a:xfrm>
            <a:off x="457200" y="6400800"/>
            <a:ext cx="4572000" cy="365760"/>
          </a:xfrm>
          <a:prstGeom prst="rect">
            <a:avLst/>
          </a:prstGeom>
          <a:noFill/>
        </p:spPr>
        <p:txBody>
          <a:bodyPr wrap="square">
            <a:spAutoFit/>
          </a:bodyPr>
          <a:lstStyle/>
          <a:p>
            <a:pPr algn="l">
              <a:defRPr sz="1000" b="0">
                <a:solidFill>
                  <a:srgbClr val="6B7B96"/>
                </a:solidFill>
                <a:latin typeface="Calibri"/>
              </a:defRPr>
            </a:pPr>
            <a:r>
              <a:t>AETHERIX — Interplanetary Communication Network</a:t>
            </a:r>
          </a:p>
        </p:txBody>
      </p:sp>
      <p:sp>
        <p:nvSpPr>
          <p:cNvPr id="8" name="TextBox 7"/>
          <p:cNvSpPr txBox="1"/>
          <p:nvPr/>
        </p:nvSpPr>
        <p:spPr>
          <a:xfrm>
            <a:off x="10058400" y="6400800"/>
            <a:ext cx="1828800" cy="365760"/>
          </a:xfrm>
          <a:prstGeom prst="rect">
            <a:avLst/>
          </a:prstGeom>
          <a:noFill/>
        </p:spPr>
        <p:txBody>
          <a:bodyPr wrap="square">
            <a:spAutoFit/>
          </a:bodyPr>
          <a:lstStyle/>
          <a:p>
            <a:pPr algn="r">
              <a:defRPr sz="1000" b="0">
                <a:solidFill>
                  <a:srgbClr val="6B7B96"/>
                </a:solidFill>
                <a:latin typeface="Calibri"/>
              </a:defRPr>
            </a:pPr>
            <a:r>
              <a:t>5 / 46</a:t>
            </a:r>
          </a:p>
        </p:txBody>
      </p:sp>
    </p:spTree>
  </p:cSld>
  <p:transition spd="med" advClick="1">
    <p:fade/>
  </p:transition>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0E1A"/>
        </a:solidFill>
        <a:effectLst/>
      </p:bgPr>
    </p:bg>
    <p:spTree>
      <p:nvGrpSpPr>
        <p:cNvPr id="1" name=""/>
        <p:cNvGrpSpPr/>
        <p:nvPr/>
      </p:nvGrpSpPr>
      <p:grpSpPr/>
      <p:sp>
        <p:nvSpPr>
          <p:cNvPr id="2" name="TextBox 1"/>
          <p:cNvSpPr txBox="1"/>
          <p:nvPr/>
        </p:nvSpPr>
        <p:spPr>
          <a:xfrm>
            <a:off x="640080" y="274320"/>
            <a:ext cx="10058400" cy="640080"/>
          </a:xfrm>
          <a:prstGeom prst="rect">
            <a:avLst/>
          </a:prstGeom>
          <a:noFill/>
        </p:spPr>
        <p:txBody>
          <a:bodyPr wrap="square">
            <a:spAutoFit/>
          </a:bodyPr>
          <a:lstStyle/>
          <a:p>
            <a:pPr algn="l">
              <a:defRPr sz="3200" b="1">
                <a:solidFill>
                  <a:srgbClr val="FFFFFF"/>
                </a:solidFill>
                <a:latin typeface="Calibri"/>
              </a:defRPr>
            </a:pPr>
            <a:r>
              <a:t>LIGHT TIME DELAY</a:t>
            </a:r>
          </a:p>
        </p:txBody>
      </p:sp>
      <p:sp>
        <p:nvSpPr>
          <p:cNvPr id="3" name="TextBox 2"/>
          <p:cNvSpPr txBox="1"/>
          <p:nvPr/>
        </p:nvSpPr>
        <p:spPr>
          <a:xfrm>
            <a:off x="640080" y="822960"/>
            <a:ext cx="10058400" cy="365760"/>
          </a:xfrm>
          <a:prstGeom prst="rect">
            <a:avLst/>
          </a:prstGeom>
          <a:noFill/>
        </p:spPr>
        <p:txBody>
          <a:bodyPr wrap="square">
            <a:spAutoFit/>
          </a:bodyPr>
          <a:lstStyle/>
          <a:p>
            <a:pPr algn="l">
              <a:defRPr sz="1600" b="0">
                <a:solidFill>
                  <a:srgbClr val="FF8C00"/>
                </a:solidFill>
                <a:latin typeface="Calibri"/>
              </a:defRPr>
            </a:pPr>
            <a:r>
              <a:t>One-Way Signal Propagation Time</a:t>
            </a:r>
          </a:p>
        </p:txBody>
      </p:sp>
      <p:sp>
        <p:nvSpPr>
          <p:cNvPr id="4" name="Rectangle 3"/>
          <p:cNvSpPr/>
          <p:nvPr/>
        </p:nvSpPr>
        <p:spPr>
          <a:xfrm>
            <a:off x="640080" y="1234440"/>
            <a:ext cx="2286000" cy="38100"/>
          </a:xfrm>
          <a:prstGeom prst="rect">
            <a:avLst/>
          </a:prstGeom>
          <a:solidFill>
            <a:srgbClr val="FF8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ight_time_delay.png"/>
          <p:cNvPicPr>
            <a:picLocks noChangeAspect="1"/>
          </p:cNvPicPr>
          <p:nvPr/>
        </p:nvPicPr>
        <p:blipFill>
          <a:blip r:embed="rId2"/>
          <a:stretch>
            <a:fillRect/>
          </a:stretch>
        </p:blipFill>
        <p:spPr>
          <a:xfrm>
            <a:off x="640080" y="1371600"/>
            <a:ext cx="6400800" cy="4114800"/>
          </a:xfrm>
          <a:prstGeom prst="rect">
            <a:avLst/>
          </a:prstGeom>
        </p:spPr>
      </p:pic>
      <p:sp>
        <p:nvSpPr>
          <p:cNvPr id="6" name="TextBox 5"/>
          <p:cNvSpPr txBox="1"/>
          <p:nvPr/>
        </p:nvSpPr>
        <p:spPr>
          <a:xfrm>
            <a:off x="640080" y="5669280"/>
            <a:ext cx="10058400" cy="274320"/>
          </a:xfrm>
          <a:prstGeom prst="rect">
            <a:avLst/>
          </a:prstGeom>
          <a:noFill/>
        </p:spPr>
        <p:txBody>
          <a:bodyPr wrap="square">
            <a:spAutoFit/>
          </a:bodyPr>
          <a:lstStyle/>
          <a:p>
            <a:pPr algn="ctr">
              <a:defRPr sz="1000" b="0">
                <a:solidFill>
                  <a:srgbClr val="6B7B96"/>
                </a:solidFill>
                <a:latin typeface="Calibri"/>
              </a:defRPr>
            </a:pPr>
            <a:r>
              <a:t>Signal delay ranges from 3 to 22 minutes depending on orbital position</a:t>
            </a:r>
          </a:p>
        </p:txBody>
      </p:sp>
      <p:sp>
        <p:nvSpPr>
          <p:cNvPr id="7" name="TextBox 6"/>
          <p:cNvSpPr txBox="1"/>
          <p:nvPr/>
        </p:nvSpPr>
        <p:spPr>
          <a:xfrm>
            <a:off x="457200" y="6400800"/>
            <a:ext cx="4572000" cy="365760"/>
          </a:xfrm>
          <a:prstGeom prst="rect">
            <a:avLst/>
          </a:prstGeom>
          <a:noFill/>
        </p:spPr>
        <p:txBody>
          <a:bodyPr wrap="square">
            <a:spAutoFit/>
          </a:bodyPr>
          <a:lstStyle/>
          <a:p>
            <a:pPr algn="l">
              <a:defRPr sz="1000" b="0">
                <a:solidFill>
                  <a:srgbClr val="6B7B96"/>
                </a:solidFill>
                <a:latin typeface="Calibri"/>
              </a:defRPr>
            </a:pPr>
            <a:r>
              <a:t>AETHERIX — Interplanetary Communication Network</a:t>
            </a:r>
          </a:p>
        </p:txBody>
      </p:sp>
      <p:sp>
        <p:nvSpPr>
          <p:cNvPr id="8" name="TextBox 7"/>
          <p:cNvSpPr txBox="1"/>
          <p:nvPr/>
        </p:nvSpPr>
        <p:spPr>
          <a:xfrm>
            <a:off x="10058400" y="6400800"/>
            <a:ext cx="1828800" cy="365760"/>
          </a:xfrm>
          <a:prstGeom prst="rect">
            <a:avLst/>
          </a:prstGeom>
          <a:noFill/>
        </p:spPr>
        <p:txBody>
          <a:bodyPr wrap="square">
            <a:spAutoFit/>
          </a:bodyPr>
          <a:lstStyle/>
          <a:p>
            <a:pPr algn="r">
              <a:defRPr sz="1000" b="0">
                <a:solidFill>
                  <a:srgbClr val="6B7B96"/>
                </a:solidFill>
                <a:latin typeface="Calibri"/>
              </a:defRPr>
            </a:pPr>
            <a:r>
              <a:t>6 / 46</a:t>
            </a:r>
          </a:p>
        </p:txBody>
      </p:sp>
    </p:spTree>
  </p:cSld>
  <p:transition spd="med" advClick="1">
    <p:fade/>
  </p:transition>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0E1A"/>
        </a:solidFill>
        <a:effectLst/>
      </p:bgPr>
    </p:bg>
    <p:spTree>
      <p:nvGrpSpPr>
        <p:cNvPr id="1" name=""/>
        <p:cNvGrpSpPr/>
        <p:nvPr/>
      </p:nvGrpSpPr>
      <p:grpSpPr/>
      <p:sp>
        <p:nvSpPr>
          <p:cNvPr id="2" name="TextBox 1"/>
          <p:cNvSpPr txBox="1"/>
          <p:nvPr/>
        </p:nvSpPr>
        <p:spPr>
          <a:xfrm>
            <a:off x="640080" y="274320"/>
            <a:ext cx="10058400" cy="640080"/>
          </a:xfrm>
          <a:prstGeom prst="rect">
            <a:avLst/>
          </a:prstGeom>
          <a:noFill/>
        </p:spPr>
        <p:txBody>
          <a:bodyPr wrap="square">
            <a:spAutoFit/>
          </a:bodyPr>
          <a:lstStyle/>
          <a:p>
            <a:pPr algn="l">
              <a:defRPr sz="3600" b="1">
                <a:solidFill>
                  <a:srgbClr val="FFFFFF"/>
                </a:solidFill>
                <a:latin typeface="Calibri"/>
              </a:defRPr>
            </a:pPr>
            <a:r>
              <a:t>THE ANSWER</a:t>
            </a:r>
          </a:p>
        </p:txBody>
      </p:sp>
      <p:sp>
        <p:nvSpPr>
          <p:cNvPr id="3" name="Rectangle 2"/>
          <p:cNvSpPr/>
          <p:nvPr/>
        </p:nvSpPr>
        <p:spPr>
          <a:xfrm>
            <a:off x="640080" y="868680"/>
            <a:ext cx="2743200" cy="381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960120"/>
            <a:ext cx="10058400" cy="365760"/>
          </a:xfrm>
          <a:prstGeom prst="rect">
            <a:avLst/>
          </a:prstGeom>
          <a:noFill/>
        </p:spPr>
        <p:txBody>
          <a:bodyPr wrap="square">
            <a:spAutoFit/>
          </a:bodyPr>
          <a:lstStyle/>
          <a:p>
            <a:pPr algn="l">
              <a:defRPr sz="1600" b="0">
                <a:solidFill>
                  <a:srgbClr val="6B7B96"/>
                </a:solidFill>
                <a:latin typeface="Calibri"/>
              </a:defRPr>
            </a:pPr>
            <a:r>
              <a:t>Delay-Tolerant Networking</a:t>
            </a:r>
          </a:p>
        </p:txBody>
      </p:sp>
      <p:sp>
        <p:nvSpPr>
          <p:cNvPr id="5" name="TextBox 4"/>
          <p:cNvSpPr txBox="1"/>
          <p:nvPr/>
        </p:nvSpPr>
        <p:spPr>
          <a:xfrm>
            <a:off x="457200" y="6400800"/>
            <a:ext cx="4572000" cy="365760"/>
          </a:xfrm>
          <a:prstGeom prst="rect">
            <a:avLst/>
          </a:prstGeom>
          <a:noFill/>
        </p:spPr>
        <p:txBody>
          <a:bodyPr wrap="square">
            <a:spAutoFit/>
          </a:bodyPr>
          <a:lstStyle/>
          <a:p>
            <a:pPr algn="l">
              <a:defRPr sz="1000" b="0">
                <a:solidFill>
                  <a:srgbClr val="6B7B96"/>
                </a:solidFill>
                <a:latin typeface="Calibri"/>
              </a:defRPr>
            </a:pPr>
            <a:r>
              <a:t>AETHERIX — Interplanetary Communication Network</a:t>
            </a:r>
          </a:p>
        </p:txBody>
      </p:sp>
      <p:sp>
        <p:nvSpPr>
          <p:cNvPr id="6" name="TextBox 5"/>
          <p:cNvSpPr txBox="1"/>
          <p:nvPr/>
        </p:nvSpPr>
        <p:spPr>
          <a:xfrm>
            <a:off x="10058400" y="6400800"/>
            <a:ext cx="1828800" cy="365760"/>
          </a:xfrm>
          <a:prstGeom prst="rect">
            <a:avLst/>
          </a:prstGeom>
          <a:noFill/>
        </p:spPr>
        <p:txBody>
          <a:bodyPr wrap="square">
            <a:spAutoFit/>
          </a:bodyPr>
          <a:lstStyle/>
          <a:p>
            <a:pPr algn="r">
              <a:defRPr sz="1000" b="0">
                <a:solidFill>
                  <a:srgbClr val="6B7B96"/>
                </a:solidFill>
                <a:latin typeface="Calibri"/>
              </a:defRPr>
            </a:pPr>
            <a:r>
              <a:t>7 / 46</a:t>
            </a:r>
          </a:p>
        </p:txBody>
      </p:sp>
      <p:sp>
        <p:nvSpPr>
          <p:cNvPr id="7" name="Rounded Rectangle 6"/>
          <p:cNvSpPr/>
          <p:nvPr/>
        </p:nvSpPr>
        <p:spPr>
          <a:xfrm>
            <a:off x="457200" y="1463040"/>
            <a:ext cx="1828800" cy="1463040"/>
          </a:xfrm>
          <a:prstGeom prst="roundRect">
            <a:avLst/>
          </a:prstGeom>
          <a:solidFill>
            <a:srgbClr val="141B2D"/>
          </a:solidFill>
          <a:ln w="12700">
            <a:solidFill>
              <a:srgbClr val="009EFF"/>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defRPr sz="1600" b="1">
                <a:solidFill>
                  <a:srgbClr val="009EFF"/>
                </a:solidFill>
                <a:latin typeface="Calibri"/>
              </a:defRPr>
            </a:pPr>
          </a:p>
        </p:txBody>
      </p:sp>
      <p:sp>
        <p:nvSpPr>
          <p:cNvPr id="8" name="TextBox 7"/>
          <p:cNvSpPr txBox="1"/>
          <p:nvPr/>
        </p:nvSpPr>
        <p:spPr>
          <a:xfrm>
            <a:off x="548640" y="1554480"/>
            <a:ext cx="1645920" cy="320040"/>
          </a:xfrm>
          <a:prstGeom prst="rect">
            <a:avLst/>
          </a:prstGeom>
          <a:noFill/>
        </p:spPr>
        <p:txBody>
          <a:bodyPr wrap="square">
            <a:spAutoFit/>
          </a:bodyPr>
          <a:lstStyle/>
          <a:p>
            <a:pPr algn="ctr">
              <a:defRPr sz="1600" b="1">
                <a:solidFill>
                  <a:srgbClr val="009EFF"/>
                </a:solidFill>
                <a:latin typeface="Calibri"/>
              </a:defRPr>
            </a:pPr>
            <a:r>
              <a:t>Bundle</a:t>
            </a:r>
          </a:p>
        </p:txBody>
      </p:sp>
      <p:sp>
        <p:nvSpPr>
          <p:cNvPr id="9" name="TextBox 8"/>
          <p:cNvSpPr txBox="1"/>
          <p:nvPr/>
        </p:nvSpPr>
        <p:spPr>
          <a:xfrm>
            <a:off x="548640" y="1920240"/>
            <a:ext cx="1645920" cy="822960"/>
          </a:xfrm>
          <a:prstGeom prst="rect">
            <a:avLst/>
          </a:prstGeom>
          <a:noFill/>
        </p:spPr>
        <p:txBody>
          <a:bodyPr wrap="square">
            <a:spAutoFit/>
          </a:bodyPr>
          <a:lstStyle/>
          <a:p>
            <a:pPr algn="ctr">
              <a:defRPr sz="1000" b="0">
                <a:solidFill>
                  <a:srgbClr val="B0B8CC"/>
                </a:solidFill>
                <a:latin typeface="Calibri"/>
              </a:defRPr>
            </a:pPr>
            <a:r>
              <a:t>Create data</a:t>
            </a:r>
            <a:br/>
            <a:r>
              <a:t>bundle (BPv7)</a:t>
            </a:r>
          </a:p>
        </p:txBody>
      </p:sp>
      <p:sp>
        <p:nvSpPr>
          <p:cNvPr id="10" name="TextBox 9"/>
          <p:cNvSpPr txBox="1"/>
          <p:nvPr/>
        </p:nvSpPr>
        <p:spPr>
          <a:xfrm>
            <a:off x="2331720" y="1920240"/>
            <a:ext cx="274320" cy="457200"/>
          </a:xfrm>
          <a:prstGeom prst="rect">
            <a:avLst/>
          </a:prstGeom>
          <a:noFill/>
        </p:spPr>
        <p:txBody>
          <a:bodyPr wrap="square">
            <a:spAutoFit/>
          </a:bodyPr>
          <a:lstStyle/>
          <a:p>
            <a:pPr algn="ctr">
              <a:defRPr sz="2800" b="0">
                <a:solidFill>
                  <a:srgbClr val="6B7B96"/>
                </a:solidFill>
                <a:latin typeface="Calibri"/>
              </a:defRPr>
            </a:pPr>
            <a:r>
              <a:t>→</a:t>
            </a:r>
          </a:p>
        </p:txBody>
      </p:sp>
      <p:sp>
        <p:nvSpPr>
          <p:cNvPr id="11" name="Rounded Rectangle 10"/>
          <p:cNvSpPr/>
          <p:nvPr/>
        </p:nvSpPr>
        <p:spPr>
          <a:xfrm>
            <a:off x="2880360" y="1463040"/>
            <a:ext cx="1828800" cy="1463040"/>
          </a:xfrm>
          <a:prstGeom prst="roundRect">
            <a:avLst/>
          </a:prstGeom>
          <a:solidFill>
            <a:srgbClr val="141B2D"/>
          </a:solidFill>
          <a:ln w="127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defRPr sz="1600" b="1">
                <a:solidFill>
                  <a:srgbClr val="009EFF"/>
                </a:solidFill>
                <a:latin typeface="Calibri"/>
              </a:defRPr>
            </a:pPr>
          </a:p>
        </p:txBody>
      </p:sp>
      <p:sp>
        <p:nvSpPr>
          <p:cNvPr id="12" name="TextBox 11"/>
          <p:cNvSpPr txBox="1"/>
          <p:nvPr/>
        </p:nvSpPr>
        <p:spPr>
          <a:xfrm>
            <a:off x="2971800" y="1554480"/>
            <a:ext cx="1645920" cy="320040"/>
          </a:xfrm>
          <a:prstGeom prst="rect">
            <a:avLst/>
          </a:prstGeom>
          <a:noFill/>
        </p:spPr>
        <p:txBody>
          <a:bodyPr wrap="square">
            <a:spAutoFit/>
          </a:bodyPr>
          <a:lstStyle/>
          <a:p>
            <a:pPr algn="ctr">
              <a:defRPr sz="1600" b="1">
                <a:solidFill>
                  <a:srgbClr val="8B5CF6"/>
                </a:solidFill>
                <a:latin typeface="Calibri"/>
              </a:defRPr>
            </a:pPr>
            <a:r>
              <a:t>Store</a:t>
            </a:r>
          </a:p>
        </p:txBody>
      </p:sp>
      <p:sp>
        <p:nvSpPr>
          <p:cNvPr id="13" name="TextBox 12"/>
          <p:cNvSpPr txBox="1"/>
          <p:nvPr/>
        </p:nvSpPr>
        <p:spPr>
          <a:xfrm>
            <a:off x="2971800" y="1920240"/>
            <a:ext cx="1645920" cy="822960"/>
          </a:xfrm>
          <a:prstGeom prst="rect">
            <a:avLst/>
          </a:prstGeom>
          <a:noFill/>
        </p:spPr>
        <p:txBody>
          <a:bodyPr wrap="square">
            <a:spAutoFit/>
          </a:bodyPr>
          <a:lstStyle/>
          <a:p>
            <a:pPr algn="ctr">
              <a:defRPr sz="1000" b="0">
                <a:solidFill>
                  <a:srgbClr val="B0B8CC"/>
                </a:solidFill>
                <a:latin typeface="Calibri"/>
              </a:defRPr>
            </a:pPr>
            <a:r>
              <a:t>Buffer at</a:t>
            </a:r>
            <a:br/>
            <a:r>
              <a:t>local node</a:t>
            </a:r>
          </a:p>
        </p:txBody>
      </p:sp>
      <p:sp>
        <p:nvSpPr>
          <p:cNvPr id="14" name="TextBox 13"/>
          <p:cNvSpPr txBox="1"/>
          <p:nvPr/>
        </p:nvSpPr>
        <p:spPr>
          <a:xfrm>
            <a:off x="4754880" y="1920240"/>
            <a:ext cx="274320" cy="457200"/>
          </a:xfrm>
          <a:prstGeom prst="rect">
            <a:avLst/>
          </a:prstGeom>
          <a:noFill/>
        </p:spPr>
        <p:txBody>
          <a:bodyPr wrap="square">
            <a:spAutoFit/>
          </a:bodyPr>
          <a:lstStyle/>
          <a:p>
            <a:pPr algn="ctr">
              <a:defRPr sz="2800" b="0">
                <a:solidFill>
                  <a:srgbClr val="6B7B96"/>
                </a:solidFill>
                <a:latin typeface="Calibri"/>
              </a:defRPr>
            </a:pPr>
            <a:r>
              <a:t>→</a:t>
            </a:r>
          </a:p>
        </p:txBody>
      </p:sp>
      <p:sp>
        <p:nvSpPr>
          <p:cNvPr id="15" name="Rounded Rectangle 14"/>
          <p:cNvSpPr/>
          <p:nvPr/>
        </p:nvSpPr>
        <p:spPr>
          <a:xfrm>
            <a:off x="5303520" y="1463040"/>
            <a:ext cx="1828800" cy="1463040"/>
          </a:xfrm>
          <a:prstGeom prst="roundRect">
            <a:avLst/>
          </a:prstGeom>
          <a:solidFill>
            <a:srgbClr val="141B2D"/>
          </a:solidFill>
          <a:ln w="12700">
            <a:solidFill>
              <a:srgbClr val="FF8C00"/>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defRPr sz="1600" b="1">
                <a:solidFill>
                  <a:srgbClr val="009EFF"/>
                </a:solidFill>
                <a:latin typeface="Calibri"/>
              </a:defRPr>
            </a:pPr>
          </a:p>
        </p:txBody>
      </p:sp>
      <p:sp>
        <p:nvSpPr>
          <p:cNvPr id="16" name="TextBox 15"/>
          <p:cNvSpPr txBox="1"/>
          <p:nvPr/>
        </p:nvSpPr>
        <p:spPr>
          <a:xfrm>
            <a:off x="5394960" y="1554480"/>
            <a:ext cx="1645920" cy="320040"/>
          </a:xfrm>
          <a:prstGeom prst="rect">
            <a:avLst/>
          </a:prstGeom>
          <a:noFill/>
        </p:spPr>
        <p:txBody>
          <a:bodyPr wrap="square">
            <a:spAutoFit/>
          </a:bodyPr>
          <a:lstStyle/>
          <a:p>
            <a:pPr algn="ctr">
              <a:defRPr sz="1600" b="1">
                <a:solidFill>
                  <a:srgbClr val="FF8C00"/>
                </a:solidFill>
                <a:latin typeface="Calibri"/>
              </a:defRPr>
            </a:pPr>
            <a:r>
              <a:t>Wait</a:t>
            </a:r>
          </a:p>
        </p:txBody>
      </p:sp>
      <p:sp>
        <p:nvSpPr>
          <p:cNvPr id="17" name="TextBox 16"/>
          <p:cNvSpPr txBox="1"/>
          <p:nvPr/>
        </p:nvSpPr>
        <p:spPr>
          <a:xfrm>
            <a:off x="5394960" y="1920240"/>
            <a:ext cx="1645920" cy="822960"/>
          </a:xfrm>
          <a:prstGeom prst="rect">
            <a:avLst/>
          </a:prstGeom>
          <a:noFill/>
        </p:spPr>
        <p:txBody>
          <a:bodyPr wrap="square">
            <a:spAutoFit/>
          </a:bodyPr>
          <a:lstStyle/>
          <a:p>
            <a:pPr algn="ctr">
              <a:defRPr sz="1000" b="0">
                <a:solidFill>
                  <a:srgbClr val="B0B8CC"/>
                </a:solidFill>
                <a:latin typeface="Calibri"/>
              </a:defRPr>
            </a:pPr>
            <a:r>
              <a:t>Hold until</a:t>
            </a:r>
            <a:br/>
            <a:r>
              <a:t>contact window</a:t>
            </a:r>
          </a:p>
        </p:txBody>
      </p:sp>
      <p:sp>
        <p:nvSpPr>
          <p:cNvPr id="18" name="TextBox 17"/>
          <p:cNvSpPr txBox="1"/>
          <p:nvPr/>
        </p:nvSpPr>
        <p:spPr>
          <a:xfrm>
            <a:off x="7178040" y="1920240"/>
            <a:ext cx="274320" cy="457200"/>
          </a:xfrm>
          <a:prstGeom prst="rect">
            <a:avLst/>
          </a:prstGeom>
          <a:noFill/>
        </p:spPr>
        <p:txBody>
          <a:bodyPr wrap="square">
            <a:spAutoFit/>
          </a:bodyPr>
          <a:lstStyle/>
          <a:p>
            <a:pPr algn="ctr">
              <a:defRPr sz="2800" b="0">
                <a:solidFill>
                  <a:srgbClr val="6B7B96"/>
                </a:solidFill>
                <a:latin typeface="Calibri"/>
              </a:defRPr>
            </a:pPr>
            <a:r>
              <a:t>→</a:t>
            </a:r>
          </a:p>
        </p:txBody>
      </p:sp>
      <p:sp>
        <p:nvSpPr>
          <p:cNvPr id="19" name="Rounded Rectangle 18"/>
          <p:cNvSpPr/>
          <p:nvPr/>
        </p:nvSpPr>
        <p:spPr>
          <a:xfrm>
            <a:off x="7726680" y="1463040"/>
            <a:ext cx="1828800" cy="1463040"/>
          </a:xfrm>
          <a:prstGeom prst="roundRect">
            <a:avLst/>
          </a:prstGeom>
          <a:solidFill>
            <a:srgbClr val="141B2D"/>
          </a:solidFill>
          <a:ln w="12700">
            <a:solidFill>
              <a:srgbClr val="00D4A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defRPr sz="1600" b="1">
                <a:solidFill>
                  <a:srgbClr val="009EFF"/>
                </a:solidFill>
                <a:latin typeface="Calibri"/>
              </a:defRPr>
            </a:pPr>
          </a:p>
        </p:txBody>
      </p:sp>
      <p:sp>
        <p:nvSpPr>
          <p:cNvPr id="20" name="TextBox 19"/>
          <p:cNvSpPr txBox="1"/>
          <p:nvPr/>
        </p:nvSpPr>
        <p:spPr>
          <a:xfrm>
            <a:off x="7818120" y="1554480"/>
            <a:ext cx="1645920" cy="320040"/>
          </a:xfrm>
          <a:prstGeom prst="rect">
            <a:avLst/>
          </a:prstGeom>
          <a:noFill/>
        </p:spPr>
        <p:txBody>
          <a:bodyPr wrap="square">
            <a:spAutoFit/>
          </a:bodyPr>
          <a:lstStyle/>
          <a:p>
            <a:pPr algn="ctr">
              <a:defRPr sz="1600" b="1">
                <a:solidFill>
                  <a:srgbClr val="00D4AA"/>
                </a:solidFill>
                <a:latin typeface="Calibri"/>
              </a:defRPr>
            </a:pPr>
            <a:r>
              <a:t>Forward</a:t>
            </a:r>
          </a:p>
        </p:txBody>
      </p:sp>
      <p:sp>
        <p:nvSpPr>
          <p:cNvPr id="21" name="TextBox 20"/>
          <p:cNvSpPr txBox="1"/>
          <p:nvPr/>
        </p:nvSpPr>
        <p:spPr>
          <a:xfrm>
            <a:off x="7818120" y="1920240"/>
            <a:ext cx="1645920" cy="822960"/>
          </a:xfrm>
          <a:prstGeom prst="rect">
            <a:avLst/>
          </a:prstGeom>
          <a:noFill/>
        </p:spPr>
        <p:txBody>
          <a:bodyPr wrap="square">
            <a:spAutoFit/>
          </a:bodyPr>
          <a:lstStyle/>
          <a:p>
            <a:pPr algn="ctr">
              <a:defRPr sz="1000" b="0">
                <a:solidFill>
                  <a:srgbClr val="B0B8CC"/>
                </a:solidFill>
                <a:latin typeface="Calibri"/>
              </a:defRPr>
            </a:pPr>
            <a:r>
              <a:t>Transmit to</a:t>
            </a:r>
            <a:br/>
            <a:r>
              <a:t>next hop</a:t>
            </a:r>
          </a:p>
        </p:txBody>
      </p:sp>
      <p:sp>
        <p:nvSpPr>
          <p:cNvPr id="22" name="TextBox 21"/>
          <p:cNvSpPr txBox="1"/>
          <p:nvPr/>
        </p:nvSpPr>
        <p:spPr>
          <a:xfrm>
            <a:off x="9601200" y="1920240"/>
            <a:ext cx="274320" cy="457200"/>
          </a:xfrm>
          <a:prstGeom prst="rect">
            <a:avLst/>
          </a:prstGeom>
          <a:noFill/>
        </p:spPr>
        <p:txBody>
          <a:bodyPr wrap="square">
            <a:spAutoFit/>
          </a:bodyPr>
          <a:lstStyle/>
          <a:p>
            <a:pPr algn="ctr">
              <a:defRPr sz="2800" b="0">
                <a:solidFill>
                  <a:srgbClr val="6B7B96"/>
                </a:solidFill>
                <a:latin typeface="Calibri"/>
              </a:defRPr>
            </a:pPr>
            <a:r>
              <a:t>→</a:t>
            </a:r>
          </a:p>
        </p:txBody>
      </p:sp>
      <p:sp>
        <p:nvSpPr>
          <p:cNvPr id="23" name="Rounded Rectangle 22"/>
          <p:cNvSpPr/>
          <p:nvPr/>
        </p:nvSpPr>
        <p:spPr>
          <a:xfrm>
            <a:off x="10149840" y="1463040"/>
            <a:ext cx="1828800" cy="1463040"/>
          </a:xfrm>
          <a:prstGeom prst="roundRect">
            <a:avLst/>
          </a:prstGeom>
          <a:solidFill>
            <a:srgbClr val="141B2D"/>
          </a:solidFill>
          <a:ln w="12700">
            <a:solidFill>
              <a:srgbClr val="2ECC71"/>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defRPr sz="1600" b="1">
                <a:solidFill>
                  <a:srgbClr val="009EFF"/>
                </a:solidFill>
                <a:latin typeface="Calibri"/>
              </a:defRPr>
            </a:pPr>
          </a:p>
        </p:txBody>
      </p:sp>
      <p:sp>
        <p:nvSpPr>
          <p:cNvPr id="24" name="TextBox 23"/>
          <p:cNvSpPr txBox="1"/>
          <p:nvPr/>
        </p:nvSpPr>
        <p:spPr>
          <a:xfrm>
            <a:off x="10241280" y="1554480"/>
            <a:ext cx="1645920" cy="320040"/>
          </a:xfrm>
          <a:prstGeom prst="rect">
            <a:avLst/>
          </a:prstGeom>
          <a:noFill/>
        </p:spPr>
        <p:txBody>
          <a:bodyPr wrap="square">
            <a:spAutoFit/>
          </a:bodyPr>
          <a:lstStyle/>
          <a:p>
            <a:pPr algn="ctr">
              <a:defRPr sz="1600" b="1">
                <a:solidFill>
                  <a:srgbClr val="2ECC71"/>
                </a:solidFill>
                <a:latin typeface="Calibri"/>
              </a:defRPr>
            </a:pPr>
            <a:r>
              <a:t>Deliver</a:t>
            </a:r>
          </a:p>
        </p:txBody>
      </p:sp>
      <p:sp>
        <p:nvSpPr>
          <p:cNvPr id="25" name="TextBox 24"/>
          <p:cNvSpPr txBox="1"/>
          <p:nvPr/>
        </p:nvSpPr>
        <p:spPr>
          <a:xfrm>
            <a:off x="10241280" y="1920240"/>
            <a:ext cx="1645920" cy="822960"/>
          </a:xfrm>
          <a:prstGeom prst="rect">
            <a:avLst/>
          </a:prstGeom>
          <a:noFill/>
        </p:spPr>
        <p:txBody>
          <a:bodyPr wrap="square">
            <a:spAutoFit/>
          </a:bodyPr>
          <a:lstStyle/>
          <a:p>
            <a:pPr algn="ctr">
              <a:defRPr sz="1000" b="0">
                <a:solidFill>
                  <a:srgbClr val="B0B8CC"/>
                </a:solidFill>
                <a:latin typeface="Calibri"/>
              </a:defRPr>
            </a:pPr>
            <a:r>
              <a:t>Reach final</a:t>
            </a:r>
            <a:br/>
            <a:r>
              <a:t>destination</a:t>
            </a:r>
          </a:p>
        </p:txBody>
      </p:sp>
      <p:sp>
        <p:nvSpPr>
          <p:cNvPr id="26" name="Rounded Rectangle 25"/>
          <p:cNvSpPr/>
          <p:nvPr/>
        </p:nvSpPr>
        <p:spPr>
          <a:xfrm>
            <a:off x="640080" y="3200400"/>
            <a:ext cx="3291840" cy="1280160"/>
          </a:xfrm>
          <a:prstGeom prst="roundRect">
            <a:avLst/>
          </a:prstGeom>
          <a:solidFill>
            <a:srgbClr val="141B2D"/>
          </a:solidFill>
          <a:ln w="12700">
            <a:solidFill>
              <a:srgbClr val="009E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400" b="1">
                <a:solidFill>
                  <a:srgbClr val="009EFF"/>
                </a:solidFill>
                <a:latin typeface="Calibri"/>
              </a:defRPr>
            </a:pPr>
            <a:r>
              <a:t>BPv7</a:t>
            </a:r>
          </a:p>
          <a:p>
            <a:pPr algn="ctr">
              <a:spcBef>
                <a:spcPts val="200"/>
              </a:spcBef>
              <a:spcAft>
                <a:spcPts val="400"/>
              </a:spcAft>
              <a:defRPr sz="1000" b="0">
                <a:solidFill>
                  <a:srgbClr val="B0B8CC"/>
                </a:solidFill>
                <a:latin typeface="Calibri"/>
              </a:defRPr>
            </a:pPr>
            <a:r>
              <a:t>Bundle Protocol v7</a:t>
            </a:r>
            <a:br/>
            <a:r>
              <a:t>RFC 9171 — store &amp;</a:t>
            </a:r>
            <a:br/>
            <a:r>
              <a:t>forward with custody</a:t>
            </a:r>
          </a:p>
        </p:txBody>
      </p:sp>
      <p:sp>
        <p:nvSpPr>
          <p:cNvPr id="27" name="Rounded Rectangle 26"/>
          <p:cNvSpPr/>
          <p:nvPr/>
        </p:nvSpPr>
        <p:spPr>
          <a:xfrm>
            <a:off x="4297680" y="3200400"/>
            <a:ext cx="3291840" cy="1280160"/>
          </a:xfrm>
          <a:prstGeom prst="roundRect">
            <a:avLst/>
          </a:prstGeom>
          <a:solidFill>
            <a:srgbClr val="141B2D"/>
          </a:solidFill>
          <a:ln w="127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400" b="1">
                <a:solidFill>
                  <a:srgbClr val="8B5CF6"/>
                </a:solidFill>
                <a:latin typeface="Calibri"/>
              </a:defRPr>
            </a:pPr>
            <a:r>
              <a:t>AI Routing</a:t>
            </a:r>
          </a:p>
          <a:p>
            <a:pPr algn="ctr">
              <a:spcBef>
                <a:spcPts val="200"/>
              </a:spcBef>
              <a:spcAft>
                <a:spcPts val="400"/>
              </a:spcAft>
              <a:defRPr sz="1000" b="0">
                <a:solidFill>
                  <a:srgbClr val="B0B8CC"/>
                </a:solidFill>
                <a:latin typeface="Calibri"/>
              </a:defRPr>
            </a:pPr>
            <a:r>
              <a:t>Multi-agent federated</a:t>
            </a:r>
            <a:br/>
            <a:r>
              <a:t>Q-learning adapts in</a:t>
            </a:r>
            <a:br/>
            <a:r>
              <a:t>real time to contacts</a:t>
            </a:r>
          </a:p>
        </p:txBody>
      </p:sp>
      <p:sp>
        <p:nvSpPr>
          <p:cNvPr id="28" name="Rounded Rectangle 27"/>
          <p:cNvSpPr/>
          <p:nvPr/>
        </p:nvSpPr>
        <p:spPr>
          <a:xfrm>
            <a:off x="7955280" y="3200400"/>
            <a:ext cx="3291840" cy="1280160"/>
          </a:xfrm>
          <a:prstGeom prst="roundRect">
            <a:avLst/>
          </a:prstGeom>
          <a:solidFill>
            <a:srgbClr val="141B2D"/>
          </a:solidFill>
          <a:ln w="12700">
            <a:solidFill>
              <a:srgbClr val="00D4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400" b="1">
                <a:solidFill>
                  <a:srgbClr val="00D4AA"/>
                </a:solidFill>
                <a:latin typeface="Calibri"/>
              </a:defRPr>
            </a:pPr>
            <a:r>
              <a:t>QKD</a:t>
            </a:r>
          </a:p>
          <a:p>
            <a:pPr algn="ctr">
              <a:spcBef>
                <a:spcPts val="200"/>
              </a:spcBef>
              <a:spcAft>
                <a:spcPts val="400"/>
              </a:spcAft>
              <a:defRPr sz="1000" b="0">
                <a:solidFill>
                  <a:srgbClr val="B0B8CC"/>
                </a:solidFill>
                <a:latin typeface="Calibri"/>
              </a:defRPr>
            </a:pPr>
            <a:r>
              <a:t>BB84 &amp; E91 quantum</a:t>
            </a:r>
            <a:br/>
            <a:r>
              <a:t>key distribution with</a:t>
            </a:r>
            <a:br/>
            <a:r>
              <a:t>repeater chains</a:t>
            </a:r>
          </a:p>
        </p:txBody>
      </p:sp>
      <p:sp>
        <p:nvSpPr>
          <p:cNvPr id="29" name="Rounded Rectangle 28"/>
          <p:cNvSpPr/>
          <p:nvPr/>
        </p:nvSpPr>
        <p:spPr>
          <a:xfrm>
            <a:off x="640080" y="4754880"/>
            <a:ext cx="10607040" cy="914400"/>
          </a:xfrm>
          <a:prstGeom prst="roundRect">
            <a:avLst/>
          </a:prstGeom>
          <a:solidFill>
            <a:srgbClr val="141B2D"/>
          </a:solidFill>
          <a:ln w="12700">
            <a:solidFill>
              <a:srgbClr val="009EFF"/>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defRPr sz="1600" b="1">
                <a:solidFill>
                  <a:srgbClr val="009EFF"/>
                </a:solidFill>
                <a:latin typeface="Calibri"/>
              </a:defRPr>
            </a:pPr>
          </a:p>
        </p:txBody>
      </p:sp>
      <p:sp>
        <p:nvSpPr>
          <p:cNvPr id="30" name="TextBox 29"/>
          <p:cNvSpPr txBox="1"/>
          <p:nvPr/>
        </p:nvSpPr>
        <p:spPr>
          <a:xfrm>
            <a:off x="914400" y="4846320"/>
            <a:ext cx="10058400" cy="731520"/>
          </a:xfrm>
          <a:prstGeom prst="rect">
            <a:avLst/>
          </a:prstGeom>
          <a:noFill/>
        </p:spPr>
        <p:txBody>
          <a:bodyPr wrap="square">
            <a:spAutoFit/>
          </a:bodyPr>
          <a:lstStyle/>
          <a:p>
            <a:pPr algn="ctr">
              <a:defRPr sz="1200" b="0">
                <a:solidFill>
                  <a:srgbClr val="B0B8CC"/>
                </a:solidFill>
                <a:latin typeface="Calibri"/>
              </a:defRPr>
            </a:pPr>
            <a:r>
              <a:t>Think of it like the postal service: you don't need a continuous connection between sender and receiver — each post office (node) stores the letter (bundle) until the next truck (contact window) is available, then forwards it one hop closer to the destination.</a:t>
            </a:r>
          </a:p>
        </p:txBody>
      </p:sp>
    </p:spTree>
  </p:cSld>
  <p:transition spd="med" advClick="1">
    <p:wipe dir="d"/>
  </p:transition>
  <p:clrMapOvr>
    <a:masterClrMapping/>
  </p:clrMapOvr>
  <p:timing>
    <p:tnLst>
      <p:par>
        <p:cTn id="1" dur="indefinite" restart="never" nodeType="tmRoot">
          <p:childTnLst>
            <p:par>
              <p:cTn id="2" fill="hold">
                <p:stCondLst>
                  <p:cond delay="0"/>
                </p:stCondLst>
                <p:childTnLst>
                  <p:par>
                    <p:cTn id="3" fill="hold">
                      <p:stCondLst>
                        <p:cond delay="0"/>
                      </p:stCondLst>
                      <p:childTnLst>
                        <p:par>
                          <p:cTn id="4" presetID="10" presetClass="entr" presetSubtype="0" fill="hold" nodeType="afterEffect">
                            <p:stCondLst>
                              <p:cond delay="0"/>
                            </p:stCondLst>
                            <p:childTnLst>
                              <p:set>
                                <p:cBhvr>
                                  <p:cTn id="5" dur="500" fill="hold">
                                    <p:stCondLst>
                                      <p:cond delay="0"/>
                                    </p:stCondLst>
                                  </p:cTn>
                                  <p:tgtEl>
                                    <p:spTgt spid="7"/>
                                  </p:tgtEl>
                                  <p:attrNameLst>
                                    <p:attrName>style.visibility</p:attrName>
                                  </p:attrNameLst>
                                </p:cBhvr>
                                <p:to>
                                  <p:strVal val="visible"/>
                                </p:to>
                              </p:set>
                              <p:animEffect transition="in" filter="fade">
                                <p:cBhvr>
                                  <p:cTn id="6" dur="500"/>
                                  <p:tgtEl>
                                    <p:spTgt spid="7"/>
                                  </p:tgtEl>
                                </p:cBhvr>
                              </p:animEffect>
                            </p:childTnLst>
                          </p:cTn>
                        </p:par>
                      </p:childTnLst>
                    </p:cTn>
                  </p:par>
                </p:childTnLst>
              </p:cTn>
            </p:par>
            <p:par>
              <p:cTn id="3" fill="hold">
                <p:stCondLst>
                  <p:cond delay="150"/>
                </p:stCondLst>
                <p:childTnLst>
                  <p:par>
                    <p:cTn id="4" fill="hold">
                      <p:stCondLst>
                        <p:cond delay="0"/>
                      </p:stCondLst>
                      <p:childTnLst>
                        <p:par>
                          <p:cTn id="5" presetID="10" presetClass="entr" presetSubtype="0" fill="hold" nodeType="afterEffect">
                            <p:stCondLst>
                              <p:cond delay="150"/>
                            </p:stCondLst>
                            <p:childTnLst>
                              <p:set>
                                <p:cBhvr>
                                  <p:cTn id="6" dur="500"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4" fill="hold">
                <p:stCondLst>
                  <p:cond delay="300"/>
                </p:stCondLst>
                <p:childTnLst>
                  <p:par>
                    <p:cTn id="5" fill="hold">
                      <p:stCondLst>
                        <p:cond delay="0"/>
                      </p:stCondLst>
                      <p:childTnLst>
                        <p:par>
                          <p:cTn id="6" presetID="10" presetClass="entr" presetSubtype="0" fill="hold" nodeType="afterEffect">
                            <p:stCondLst>
                              <p:cond delay="300"/>
                            </p:stCondLst>
                            <p:childTnLst>
                              <p:set>
                                <p:cBhvr>
                                  <p:cTn id="7" dur="500" fill="hold">
                                    <p:stCondLst>
                                      <p:cond delay="0"/>
                                    </p:stCondLst>
                                  </p:cTn>
                                  <p:tgtEl>
                                    <p:spTgt spid="15"/>
                                  </p:tgtEl>
                                  <p:attrNameLst>
                                    <p:attrName>style.visibility</p:attrName>
                                  </p:attrNameLst>
                                </p:cBhvr>
                                <p:to>
                                  <p:strVal val="visible"/>
                                </p:to>
                              </p:set>
                              <p:animEffect transition="in" filter="fade">
                                <p:cBhvr>
                                  <p:cTn id="8" dur="500"/>
                                  <p:tgtEl>
                                    <p:spTgt spid="15"/>
                                  </p:tgtEl>
                                </p:cBhvr>
                              </p:animEffect>
                            </p:childTnLst>
                          </p:cTn>
                        </p:par>
                      </p:childTnLst>
                    </p:cTn>
                  </p:par>
                </p:childTnLst>
              </p:cTn>
            </p:par>
            <p:par>
              <p:cTn id="5" fill="hold">
                <p:stCondLst>
                  <p:cond delay="450"/>
                </p:stCondLst>
                <p:childTnLst>
                  <p:par>
                    <p:cTn id="6" fill="hold">
                      <p:stCondLst>
                        <p:cond delay="0"/>
                      </p:stCondLst>
                      <p:childTnLst>
                        <p:par>
                          <p:cTn id="7" presetID="10" presetClass="entr" presetSubtype="0" fill="hold" nodeType="afterEffect">
                            <p:stCondLst>
                              <p:cond delay="450"/>
                            </p:stCondLst>
                            <p:childTnLst>
                              <p:set>
                                <p:cBhvr>
                                  <p:cTn id="8" dur="500" fill="hold">
                                    <p:stCondLst>
                                      <p:cond delay="0"/>
                                    </p:stCondLst>
                                  </p:cTn>
                                  <p:tgtEl>
                                    <p:spTgt spid="19"/>
                                  </p:tgtEl>
                                  <p:attrNameLst>
                                    <p:attrName>style.visibility</p:attrName>
                                  </p:attrNameLst>
                                </p:cBhvr>
                                <p:to>
                                  <p:strVal val="visible"/>
                                </p:to>
                              </p:set>
                              <p:animEffect transition="in" filter="fade">
                                <p:cBhvr>
                                  <p:cTn id="9" dur="500"/>
                                  <p:tgtEl>
                                    <p:spTgt spid="19"/>
                                  </p:tgtEl>
                                </p:cBhvr>
                              </p:animEffect>
                            </p:childTnLst>
                          </p:cTn>
                        </p:par>
                      </p:childTnLst>
                    </p:cTn>
                  </p:par>
                </p:childTnLst>
              </p:cTn>
            </p:par>
            <p:par>
              <p:cTn id="6" fill="hold">
                <p:stCondLst>
                  <p:cond delay="600"/>
                </p:stCondLst>
                <p:childTnLst>
                  <p:par>
                    <p:cTn id="7" fill="hold">
                      <p:stCondLst>
                        <p:cond delay="0"/>
                      </p:stCondLst>
                      <p:childTnLst>
                        <p:par>
                          <p:cTn id="8" presetID="10" presetClass="entr" presetSubtype="0" fill="hold" nodeType="afterEffect">
                            <p:stCondLst>
                              <p:cond delay="600"/>
                            </p:stCondLst>
                            <p:childTnLst>
                              <p:set>
                                <p:cBhvr>
                                  <p:cTn id="9" dur="500" fill="hold">
                                    <p:stCondLst>
                                      <p:cond delay="0"/>
                                    </p:stCondLst>
                                  </p:cTn>
                                  <p:tgtEl>
                                    <p:spTgt spid="23"/>
                                  </p:tgtEl>
                                  <p:attrNameLst>
                                    <p:attrName>style.visibility</p:attrName>
                                  </p:attrNameLst>
                                </p:cBhvr>
                                <p:to>
                                  <p:strVal val="visible"/>
                                </p:to>
                              </p:set>
                              <p:animEffect transition="in" filter="fade">
                                <p:cBhvr>
                                  <p:cTn id="10" dur="500"/>
                                  <p:tgtEl>
                                    <p:spTgt spid="23"/>
                                  </p:tgtEl>
                                </p:cBhvr>
                              </p:animEffect>
                            </p:childTnLst>
                          </p:cTn>
                        </p:par>
                      </p:childTnLst>
                    </p:cTn>
                  </p:par>
                </p:childTnLst>
              </p:cTn>
            </p:par>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0E1A"/>
        </a:solidFill>
        <a:effectLst/>
      </p:bgPr>
    </p:bg>
    <p:spTree>
      <p:nvGrpSpPr>
        <p:cNvPr id="1" name=""/>
        <p:cNvGrpSpPr/>
        <p:nvPr/>
      </p:nvGrpSpPr>
      <p:grpSpPr/>
      <p:sp>
        <p:nvSpPr>
          <p:cNvPr id="2" name="TextBox 1"/>
          <p:cNvSpPr txBox="1"/>
          <p:nvPr/>
        </p:nvSpPr>
        <p:spPr>
          <a:xfrm>
            <a:off x="640080" y="274320"/>
            <a:ext cx="10058400" cy="640080"/>
          </a:xfrm>
          <a:prstGeom prst="rect">
            <a:avLst/>
          </a:prstGeom>
          <a:noFill/>
        </p:spPr>
        <p:txBody>
          <a:bodyPr wrap="square">
            <a:spAutoFit/>
          </a:bodyPr>
          <a:lstStyle/>
          <a:p>
            <a:pPr algn="l">
              <a:defRPr sz="3600" b="1">
                <a:solidFill>
                  <a:srgbClr val="FFFFFF"/>
                </a:solidFill>
                <a:latin typeface="Calibri"/>
              </a:defRPr>
            </a:pPr>
            <a:r>
              <a:t>SYSTEM ARCHITECTURE</a:t>
            </a:r>
          </a:p>
        </p:txBody>
      </p:sp>
      <p:sp>
        <p:nvSpPr>
          <p:cNvPr id="3" name="Rectangle 2"/>
          <p:cNvSpPr/>
          <p:nvPr/>
        </p:nvSpPr>
        <p:spPr>
          <a:xfrm>
            <a:off x="640080" y="868680"/>
            <a:ext cx="2743200" cy="381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960120"/>
            <a:ext cx="10058400" cy="365760"/>
          </a:xfrm>
          <a:prstGeom prst="rect">
            <a:avLst/>
          </a:prstGeom>
          <a:noFill/>
        </p:spPr>
        <p:txBody>
          <a:bodyPr wrap="square">
            <a:spAutoFit/>
          </a:bodyPr>
          <a:lstStyle/>
          <a:p>
            <a:pPr algn="l">
              <a:defRPr sz="1600" b="0">
                <a:solidFill>
                  <a:srgbClr val="6B7B96"/>
                </a:solidFill>
                <a:latin typeface="Calibri"/>
              </a:defRPr>
            </a:pPr>
            <a:r>
              <a:t>Five Core Modules</a:t>
            </a:r>
          </a:p>
        </p:txBody>
      </p:sp>
      <p:sp>
        <p:nvSpPr>
          <p:cNvPr id="5" name="TextBox 4"/>
          <p:cNvSpPr txBox="1"/>
          <p:nvPr/>
        </p:nvSpPr>
        <p:spPr>
          <a:xfrm>
            <a:off x="457200" y="6400800"/>
            <a:ext cx="4572000" cy="365760"/>
          </a:xfrm>
          <a:prstGeom prst="rect">
            <a:avLst/>
          </a:prstGeom>
          <a:noFill/>
        </p:spPr>
        <p:txBody>
          <a:bodyPr wrap="square">
            <a:spAutoFit/>
          </a:bodyPr>
          <a:lstStyle/>
          <a:p>
            <a:pPr algn="l">
              <a:defRPr sz="1000" b="0">
                <a:solidFill>
                  <a:srgbClr val="6B7B96"/>
                </a:solidFill>
                <a:latin typeface="Calibri"/>
              </a:defRPr>
            </a:pPr>
            <a:r>
              <a:t>AETHERIX — Interplanetary Communication Network</a:t>
            </a:r>
          </a:p>
        </p:txBody>
      </p:sp>
      <p:sp>
        <p:nvSpPr>
          <p:cNvPr id="6" name="TextBox 5"/>
          <p:cNvSpPr txBox="1"/>
          <p:nvPr/>
        </p:nvSpPr>
        <p:spPr>
          <a:xfrm>
            <a:off x="10058400" y="6400800"/>
            <a:ext cx="1828800" cy="365760"/>
          </a:xfrm>
          <a:prstGeom prst="rect">
            <a:avLst/>
          </a:prstGeom>
          <a:noFill/>
        </p:spPr>
        <p:txBody>
          <a:bodyPr wrap="square">
            <a:spAutoFit/>
          </a:bodyPr>
          <a:lstStyle/>
          <a:p>
            <a:pPr algn="r">
              <a:defRPr sz="1000" b="0">
                <a:solidFill>
                  <a:srgbClr val="6B7B96"/>
                </a:solidFill>
                <a:latin typeface="Calibri"/>
              </a:defRPr>
            </a:pPr>
            <a:r>
              <a:t>8 / 46</a:t>
            </a:r>
          </a:p>
        </p:txBody>
      </p:sp>
      <p:sp>
        <p:nvSpPr>
          <p:cNvPr id="7" name="Oval 6"/>
          <p:cNvSpPr/>
          <p:nvPr/>
        </p:nvSpPr>
        <p:spPr>
          <a:xfrm>
            <a:off x="640080" y="1463040"/>
            <a:ext cx="548640" cy="548640"/>
          </a:xfrm>
          <a:prstGeom prst="ellipse">
            <a:avLst/>
          </a:prstGeom>
          <a:solidFill>
            <a:srgbClr val="00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536192"/>
            <a:ext cx="548640" cy="411480"/>
          </a:xfrm>
          <a:prstGeom prst="rect">
            <a:avLst/>
          </a:prstGeom>
          <a:noFill/>
        </p:spPr>
        <p:txBody>
          <a:bodyPr wrap="square">
            <a:spAutoFit/>
          </a:bodyPr>
          <a:lstStyle/>
          <a:p>
            <a:pPr algn="ctr">
              <a:defRPr sz="1800" b="1">
                <a:solidFill>
                  <a:srgbClr val="FFFFFF"/>
                </a:solidFill>
                <a:latin typeface="Calibri"/>
              </a:defRPr>
            </a:pPr>
            <a:r>
              <a:t>1</a:t>
            </a:r>
          </a:p>
        </p:txBody>
      </p:sp>
      <p:sp>
        <p:nvSpPr>
          <p:cNvPr id="9" name="TextBox 8"/>
          <p:cNvSpPr txBox="1"/>
          <p:nvPr/>
        </p:nvSpPr>
        <p:spPr>
          <a:xfrm>
            <a:off x="1371600" y="1463040"/>
            <a:ext cx="3657600" cy="320040"/>
          </a:xfrm>
          <a:prstGeom prst="rect">
            <a:avLst/>
          </a:prstGeom>
          <a:noFill/>
        </p:spPr>
        <p:txBody>
          <a:bodyPr wrap="square">
            <a:spAutoFit/>
          </a:bodyPr>
          <a:lstStyle/>
          <a:p>
            <a:pPr algn="l">
              <a:defRPr sz="1600" b="1">
                <a:solidFill>
                  <a:srgbClr val="009EFF"/>
                </a:solidFill>
                <a:latin typeface="Calibri"/>
              </a:defRPr>
            </a:pPr>
            <a:r>
              <a:t>Infrastructure</a:t>
            </a:r>
          </a:p>
        </p:txBody>
      </p:sp>
      <p:sp>
        <p:nvSpPr>
          <p:cNvPr id="10" name="TextBox 9"/>
          <p:cNvSpPr txBox="1"/>
          <p:nvPr/>
        </p:nvSpPr>
        <p:spPr>
          <a:xfrm>
            <a:off x="1371600" y="1783080"/>
            <a:ext cx="3657600" cy="320040"/>
          </a:xfrm>
          <a:prstGeom prst="rect">
            <a:avLst/>
          </a:prstGeom>
          <a:noFill/>
        </p:spPr>
        <p:txBody>
          <a:bodyPr wrap="square">
            <a:spAutoFit/>
          </a:bodyPr>
          <a:lstStyle/>
          <a:p>
            <a:pPr algn="l">
              <a:defRPr sz="1100" b="0">
                <a:solidFill>
                  <a:srgbClr val="B0B8CC"/>
                </a:solidFill>
                <a:latin typeface="Calibri"/>
              </a:defRPr>
            </a:pPr>
            <a:r>
              <a:t>Link budget &amp; RF/optical analysis</a:t>
            </a:r>
          </a:p>
        </p:txBody>
      </p:sp>
      <p:sp>
        <p:nvSpPr>
          <p:cNvPr id="11" name="Oval 10"/>
          <p:cNvSpPr/>
          <p:nvPr/>
        </p:nvSpPr>
        <p:spPr>
          <a:xfrm>
            <a:off x="640080" y="2331720"/>
            <a:ext cx="548640" cy="548640"/>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2404872"/>
            <a:ext cx="548640" cy="411480"/>
          </a:xfrm>
          <a:prstGeom prst="rect">
            <a:avLst/>
          </a:prstGeom>
          <a:noFill/>
        </p:spPr>
        <p:txBody>
          <a:bodyPr wrap="square">
            <a:spAutoFit/>
          </a:bodyPr>
          <a:lstStyle/>
          <a:p>
            <a:pPr algn="ctr">
              <a:defRPr sz="1800" b="1">
                <a:solidFill>
                  <a:srgbClr val="FFFFFF"/>
                </a:solidFill>
                <a:latin typeface="Calibri"/>
              </a:defRPr>
            </a:pPr>
            <a:r>
              <a:t>2</a:t>
            </a:r>
          </a:p>
        </p:txBody>
      </p:sp>
      <p:sp>
        <p:nvSpPr>
          <p:cNvPr id="13" name="TextBox 12"/>
          <p:cNvSpPr txBox="1"/>
          <p:nvPr/>
        </p:nvSpPr>
        <p:spPr>
          <a:xfrm>
            <a:off x="1371600" y="2331720"/>
            <a:ext cx="3657600" cy="320040"/>
          </a:xfrm>
          <a:prstGeom prst="rect">
            <a:avLst/>
          </a:prstGeom>
          <a:noFill/>
        </p:spPr>
        <p:txBody>
          <a:bodyPr wrap="square">
            <a:spAutoFit/>
          </a:bodyPr>
          <a:lstStyle/>
          <a:p>
            <a:pPr algn="l">
              <a:defRPr sz="1600" b="1">
                <a:solidFill>
                  <a:srgbClr val="8B5CF6"/>
                </a:solidFill>
                <a:latin typeface="Calibri"/>
              </a:defRPr>
            </a:pPr>
            <a:r>
              <a:t>Routing</a:t>
            </a:r>
          </a:p>
        </p:txBody>
      </p:sp>
      <p:sp>
        <p:nvSpPr>
          <p:cNvPr id="14" name="TextBox 13"/>
          <p:cNvSpPr txBox="1"/>
          <p:nvPr/>
        </p:nvSpPr>
        <p:spPr>
          <a:xfrm>
            <a:off x="1371600" y="2651760"/>
            <a:ext cx="3657600" cy="320040"/>
          </a:xfrm>
          <a:prstGeom prst="rect">
            <a:avLst/>
          </a:prstGeom>
          <a:noFill/>
        </p:spPr>
        <p:txBody>
          <a:bodyPr wrap="square">
            <a:spAutoFit/>
          </a:bodyPr>
          <a:lstStyle/>
          <a:p>
            <a:pPr algn="l">
              <a:defRPr sz="1100" b="0">
                <a:solidFill>
                  <a:srgbClr val="B0B8CC"/>
                </a:solidFill>
                <a:latin typeface="Calibri"/>
              </a:defRPr>
            </a:pPr>
            <a:r>
              <a:t>RL agent, BPv7, store-and-forward</a:t>
            </a:r>
          </a:p>
        </p:txBody>
      </p:sp>
      <p:sp>
        <p:nvSpPr>
          <p:cNvPr id="15" name="Oval 14"/>
          <p:cNvSpPr/>
          <p:nvPr/>
        </p:nvSpPr>
        <p:spPr>
          <a:xfrm>
            <a:off x="640080" y="3200400"/>
            <a:ext cx="548640" cy="548640"/>
          </a:xfrm>
          <a:prstGeom prst="ellipse">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273552"/>
            <a:ext cx="548640" cy="411480"/>
          </a:xfrm>
          <a:prstGeom prst="rect">
            <a:avLst/>
          </a:prstGeom>
          <a:noFill/>
        </p:spPr>
        <p:txBody>
          <a:bodyPr wrap="square">
            <a:spAutoFit/>
          </a:bodyPr>
          <a:lstStyle/>
          <a:p>
            <a:pPr algn="ctr">
              <a:defRPr sz="1800" b="1">
                <a:solidFill>
                  <a:srgbClr val="FFFFFF"/>
                </a:solidFill>
                <a:latin typeface="Calibri"/>
              </a:defRPr>
            </a:pPr>
            <a:r>
              <a:t>3</a:t>
            </a:r>
          </a:p>
        </p:txBody>
      </p:sp>
      <p:sp>
        <p:nvSpPr>
          <p:cNvPr id="17" name="TextBox 16"/>
          <p:cNvSpPr txBox="1"/>
          <p:nvPr/>
        </p:nvSpPr>
        <p:spPr>
          <a:xfrm>
            <a:off x="1371600" y="3200400"/>
            <a:ext cx="3657600" cy="320040"/>
          </a:xfrm>
          <a:prstGeom prst="rect">
            <a:avLst/>
          </a:prstGeom>
          <a:noFill/>
        </p:spPr>
        <p:txBody>
          <a:bodyPr wrap="square">
            <a:spAutoFit/>
          </a:bodyPr>
          <a:lstStyle/>
          <a:p>
            <a:pPr algn="l">
              <a:defRPr sz="1600" b="1">
                <a:solidFill>
                  <a:srgbClr val="00D4AA"/>
                </a:solidFill>
                <a:latin typeface="Calibri"/>
              </a:defRPr>
            </a:pPr>
            <a:r>
              <a:t>Security</a:t>
            </a:r>
          </a:p>
        </p:txBody>
      </p:sp>
      <p:sp>
        <p:nvSpPr>
          <p:cNvPr id="18" name="TextBox 17"/>
          <p:cNvSpPr txBox="1"/>
          <p:nvPr/>
        </p:nvSpPr>
        <p:spPr>
          <a:xfrm>
            <a:off x="1371600" y="3520440"/>
            <a:ext cx="3657600" cy="320040"/>
          </a:xfrm>
          <a:prstGeom prst="rect">
            <a:avLst/>
          </a:prstGeom>
          <a:noFill/>
        </p:spPr>
        <p:txBody>
          <a:bodyPr wrap="square">
            <a:spAutoFit/>
          </a:bodyPr>
          <a:lstStyle/>
          <a:p>
            <a:pPr algn="l">
              <a:defRPr sz="1100" b="0">
                <a:solidFill>
                  <a:srgbClr val="B0B8CC"/>
                </a:solidFill>
                <a:latin typeface="Calibri"/>
              </a:defRPr>
            </a:pPr>
            <a:r>
              <a:t>QKD (BB84/E91) &amp; repeater chains</a:t>
            </a:r>
          </a:p>
        </p:txBody>
      </p:sp>
      <p:sp>
        <p:nvSpPr>
          <p:cNvPr id="19" name="Oval 18"/>
          <p:cNvSpPr/>
          <p:nvPr/>
        </p:nvSpPr>
        <p:spPr>
          <a:xfrm>
            <a:off x="640080" y="4069080"/>
            <a:ext cx="548640" cy="548640"/>
          </a:xfrm>
          <a:prstGeom prst="ellipse">
            <a:avLst/>
          </a:prstGeom>
          <a:solidFill>
            <a:srgbClr val="FF8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4142232"/>
            <a:ext cx="548640" cy="411480"/>
          </a:xfrm>
          <a:prstGeom prst="rect">
            <a:avLst/>
          </a:prstGeom>
          <a:noFill/>
        </p:spPr>
        <p:txBody>
          <a:bodyPr wrap="square">
            <a:spAutoFit/>
          </a:bodyPr>
          <a:lstStyle/>
          <a:p>
            <a:pPr algn="ctr">
              <a:defRPr sz="1800" b="1">
                <a:solidFill>
                  <a:srgbClr val="FFFFFF"/>
                </a:solidFill>
                <a:latin typeface="Calibri"/>
              </a:defRPr>
            </a:pPr>
            <a:r>
              <a:t>4</a:t>
            </a:r>
          </a:p>
        </p:txBody>
      </p:sp>
      <p:sp>
        <p:nvSpPr>
          <p:cNvPr id="21" name="TextBox 20"/>
          <p:cNvSpPr txBox="1"/>
          <p:nvPr/>
        </p:nvSpPr>
        <p:spPr>
          <a:xfrm>
            <a:off x="1371600" y="4069080"/>
            <a:ext cx="3657600" cy="320040"/>
          </a:xfrm>
          <a:prstGeom prst="rect">
            <a:avLst/>
          </a:prstGeom>
          <a:noFill/>
        </p:spPr>
        <p:txBody>
          <a:bodyPr wrap="square">
            <a:spAutoFit/>
          </a:bodyPr>
          <a:lstStyle/>
          <a:p>
            <a:pPr algn="l">
              <a:defRPr sz="1600" b="1">
                <a:solidFill>
                  <a:srgbClr val="FF8C00"/>
                </a:solidFill>
                <a:latin typeface="Calibri"/>
              </a:defRPr>
            </a:pPr>
            <a:r>
              <a:t>Orbital</a:t>
            </a:r>
          </a:p>
        </p:txBody>
      </p:sp>
      <p:sp>
        <p:nvSpPr>
          <p:cNvPr id="22" name="TextBox 21"/>
          <p:cNvSpPr txBox="1"/>
          <p:nvPr/>
        </p:nvSpPr>
        <p:spPr>
          <a:xfrm>
            <a:off x="1371600" y="4389120"/>
            <a:ext cx="3657600" cy="320040"/>
          </a:xfrm>
          <a:prstGeom prst="rect">
            <a:avLst/>
          </a:prstGeom>
          <a:noFill/>
        </p:spPr>
        <p:txBody>
          <a:bodyPr wrap="square">
            <a:spAutoFit/>
          </a:bodyPr>
          <a:lstStyle/>
          <a:p>
            <a:pPr algn="l">
              <a:defRPr sz="1100" b="0">
                <a:solidFill>
                  <a:srgbClr val="B0B8CC"/>
                </a:solidFill>
                <a:latin typeface="Calibri"/>
              </a:defRPr>
            </a:pPr>
            <a:r>
              <a:t>Contact windows &amp; Doppler analysis</a:t>
            </a:r>
          </a:p>
        </p:txBody>
      </p:sp>
      <p:sp>
        <p:nvSpPr>
          <p:cNvPr id="23" name="Oval 22"/>
          <p:cNvSpPr/>
          <p:nvPr/>
        </p:nvSpPr>
        <p:spPr>
          <a:xfrm>
            <a:off x="640080" y="4937760"/>
            <a:ext cx="548640" cy="548640"/>
          </a:xfrm>
          <a:prstGeom prst="ellipse">
            <a:avLst/>
          </a:prstGeom>
          <a:solidFill>
            <a:srgbClr val="2EC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5010912"/>
            <a:ext cx="548640" cy="411480"/>
          </a:xfrm>
          <a:prstGeom prst="rect">
            <a:avLst/>
          </a:prstGeom>
          <a:noFill/>
        </p:spPr>
        <p:txBody>
          <a:bodyPr wrap="square">
            <a:spAutoFit/>
          </a:bodyPr>
          <a:lstStyle/>
          <a:p>
            <a:pPr algn="ctr">
              <a:defRPr sz="1800" b="1">
                <a:solidFill>
                  <a:srgbClr val="FFFFFF"/>
                </a:solidFill>
                <a:latin typeface="Calibri"/>
              </a:defRPr>
            </a:pPr>
            <a:r>
              <a:t>5</a:t>
            </a:r>
          </a:p>
        </p:txBody>
      </p:sp>
      <p:sp>
        <p:nvSpPr>
          <p:cNvPr id="25" name="TextBox 24"/>
          <p:cNvSpPr txBox="1"/>
          <p:nvPr/>
        </p:nvSpPr>
        <p:spPr>
          <a:xfrm>
            <a:off x="1371600" y="4937760"/>
            <a:ext cx="3657600" cy="320040"/>
          </a:xfrm>
          <a:prstGeom prst="rect">
            <a:avLst/>
          </a:prstGeom>
          <a:noFill/>
        </p:spPr>
        <p:txBody>
          <a:bodyPr wrap="square">
            <a:spAutoFit/>
          </a:bodyPr>
          <a:lstStyle/>
          <a:p>
            <a:pPr algn="l">
              <a:defRPr sz="1600" b="1">
                <a:solidFill>
                  <a:srgbClr val="2ECC71"/>
                </a:solidFill>
                <a:latin typeface="Calibri"/>
              </a:defRPr>
            </a:pPr>
            <a:r>
              <a:t>Simulation</a:t>
            </a:r>
          </a:p>
        </p:txBody>
      </p:sp>
      <p:sp>
        <p:nvSpPr>
          <p:cNvPr id="26" name="TextBox 25"/>
          <p:cNvSpPr txBox="1"/>
          <p:nvPr/>
        </p:nvSpPr>
        <p:spPr>
          <a:xfrm>
            <a:off x="1371600" y="5257800"/>
            <a:ext cx="3657600" cy="320040"/>
          </a:xfrm>
          <a:prstGeom prst="rect">
            <a:avLst/>
          </a:prstGeom>
          <a:noFill/>
        </p:spPr>
        <p:txBody>
          <a:bodyPr wrap="square">
            <a:spAutoFit/>
          </a:bodyPr>
          <a:lstStyle/>
          <a:p>
            <a:pPr algn="l">
              <a:defRPr sz="1100" b="0">
                <a:solidFill>
                  <a:srgbClr val="B0B8CC"/>
                </a:solidFill>
                <a:latin typeface="Calibri"/>
              </a:defRPr>
            </a:pPr>
            <a:r>
              <a:t>Full network simulation engine</a:t>
            </a:r>
          </a:p>
        </p:txBody>
      </p:sp>
      <p:graphicFrame>
        <p:nvGraphicFramePr>
          <p:cNvPr id="27" name="Table 26"/>
          <p:cNvGraphicFramePr>
            <a:graphicFrameLocks noGrp="1"/>
          </p:cNvGraphicFramePr>
          <p:nvPr/>
        </p:nvGraphicFramePr>
        <p:xfrm>
          <a:off x="5852160" y="1463040"/>
          <a:ext cx="5486400" cy="4114800"/>
        </p:xfrm>
        <a:graphic>
          <a:graphicData uri="http://schemas.openxmlformats.org/drawingml/2006/table">
            <a:tbl>
              <a:tblPr firstRow="1" bandRow="1">
                <a:tableStyleId>{5C22544A-7EE6-4342-B048-85BDC9FD1C3A}</a:tableStyleId>
              </a:tblPr>
              <a:tblGrid>
                <a:gridCol w="1828800"/>
                <a:gridCol w="1828800"/>
                <a:gridCol w="1828800"/>
              </a:tblGrid>
              <a:tr h="685800">
                <a:tc>
                  <a:txBody>
                    <a:bodyPr/>
                    <a:lstStyle/>
                    <a:p>
                      <a:pPr algn="ctr">
                        <a:defRPr b="1" sz="1200">
                          <a:solidFill>
                            <a:srgbClr val="FFFFFF"/>
                          </a:solidFill>
                          <a:latin typeface="Calibri"/>
                        </a:defRPr>
                      </a:pPr>
                      <a:r>
                        <a:t>Module</a:t>
                      </a:r>
                    </a:p>
                  </a:txBody>
                  <a:tcPr anchor="ctr" marL="73152" marR="73152" marT="36576" marB="36576">
                    <a:solidFill>
                      <a:srgbClr val="009EFF"/>
                    </a:solidFill>
                  </a:tcPr>
                </a:tc>
                <a:tc>
                  <a:txBody>
                    <a:bodyPr/>
                    <a:lstStyle/>
                    <a:p>
                      <a:pPr algn="ctr">
                        <a:defRPr b="1" sz="1200">
                          <a:solidFill>
                            <a:srgbClr val="FFFFFF"/>
                          </a:solidFill>
                          <a:latin typeface="Calibri"/>
                        </a:defRPr>
                      </a:pPr>
                      <a:r>
                        <a:t>Engine</a:t>
                      </a:r>
                    </a:p>
                  </a:txBody>
                  <a:tcPr anchor="ctr" marL="73152" marR="73152" marT="36576" marB="36576">
                    <a:solidFill>
                      <a:srgbClr val="009EFF"/>
                    </a:solidFill>
                  </a:tcPr>
                </a:tc>
                <a:tc>
                  <a:txBody>
                    <a:bodyPr/>
                    <a:lstStyle/>
                    <a:p>
                      <a:pPr algn="ctr">
                        <a:defRPr b="1" sz="1200">
                          <a:solidFill>
                            <a:srgbClr val="FFFFFF"/>
                          </a:solidFill>
                          <a:latin typeface="Calibri"/>
                        </a:defRPr>
                      </a:pPr>
                      <a:r>
                        <a:t>Showcase</a:t>
                      </a:r>
                    </a:p>
                  </a:txBody>
                  <a:tcPr anchor="ctr" marL="73152" marR="73152" marT="36576" marB="36576">
                    <a:solidFill>
                      <a:srgbClr val="009EFF"/>
                    </a:solidFill>
                  </a:tcPr>
                </a:tc>
              </a:tr>
              <a:tr h="685800">
                <a:tc>
                  <a:txBody>
                    <a:bodyPr/>
                    <a:lstStyle/>
                    <a:p>
                      <a:pPr>
                        <a:defRPr sz="1100">
                          <a:solidFill>
                            <a:srgbClr val="B0B8CC"/>
                          </a:solidFill>
                          <a:latin typeface="Calibri"/>
                        </a:defRPr>
                      </a:pPr>
                      <a:r>
                        <a:t>Infrastructure</a:t>
                      </a:r>
                    </a:p>
                  </a:txBody>
                  <a:tcPr anchor="ctr" marL="73152" marR="73152" marT="36576" marB="36576">
                    <a:solidFill>
                      <a:srgbClr val="141B2D"/>
                    </a:solidFill>
                  </a:tcPr>
                </a:tc>
                <a:tc>
                  <a:txBody>
                    <a:bodyPr/>
                    <a:lstStyle/>
                    <a:p>
                      <a:pPr>
                        <a:defRPr sz="1100">
                          <a:solidFill>
                            <a:srgbClr val="B0B8CC"/>
                          </a:solidFill>
                          <a:latin typeface="Calibri"/>
                        </a:defRPr>
                      </a:pPr>
                      <a:r>
                        <a:t>OpticalLinkBudget + RFLinkBudget</a:t>
                      </a:r>
                    </a:p>
                  </a:txBody>
                  <a:tcPr anchor="ctr" marL="73152" marR="73152" marT="36576" marB="36576">
                    <a:solidFill>
                      <a:srgbClr val="141B2D"/>
                    </a:solidFill>
                  </a:tcPr>
                </a:tc>
                <a:tc>
                  <a:txBody>
                    <a:bodyPr/>
                    <a:lstStyle/>
                    <a:p>
                      <a:pPr>
                        <a:defRPr sz="1100">
                          <a:solidFill>
                            <a:srgbClr val="B0B8CC"/>
                          </a:solidFill>
                          <a:latin typeface="Calibri"/>
                        </a:defRPr>
                      </a:pPr>
                      <a:r>
                        <a:t>Earth-Mars link analysis</a:t>
                      </a:r>
                    </a:p>
                  </a:txBody>
                  <a:tcPr anchor="ctr" marL="73152" marR="73152" marT="36576" marB="36576">
                    <a:solidFill>
                      <a:srgbClr val="141B2D"/>
                    </a:solidFill>
                  </a:tcPr>
                </a:tc>
              </a:tr>
              <a:tr h="685800">
                <a:tc>
                  <a:txBody>
                    <a:bodyPr/>
                    <a:lstStyle/>
                    <a:p>
                      <a:pPr>
                        <a:defRPr sz="1100">
                          <a:solidFill>
                            <a:srgbClr val="B0B8CC"/>
                          </a:solidFill>
                          <a:latin typeface="Calibri"/>
                        </a:defRPr>
                      </a:pPr>
                      <a:r>
                        <a:t>Routing</a:t>
                      </a:r>
                    </a:p>
                  </a:txBody>
                  <a:tcPr anchor="ctr" marL="73152" marR="73152" marT="36576" marB="36576">
                    <a:solidFill>
                      <a:srgbClr val="182236"/>
                    </a:solidFill>
                  </a:tcPr>
                </a:tc>
                <a:tc>
                  <a:txBody>
                    <a:bodyPr/>
                    <a:lstStyle/>
                    <a:p>
                      <a:pPr>
                        <a:defRPr sz="1100">
                          <a:solidFill>
                            <a:srgbClr val="B0B8CC"/>
                          </a:solidFill>
                          <a:latin typeface="Calibri"/>
                        </a:defRPr>
                      </a:pPr>
                      <a:r>
                        <a:t>RLRoutingAgent + ForwardingEngine</a:t>
                      </a:r>
                    </a:p>
                  </a:txBody>
                  <a:tcPr anchor="ctr" marL="73152" marR="73152" marT="36576" marB="36576">
                    <a:solidFill>
                      <a:srgbClr val="182236"/>
                    </a:solidFill>
                  </a:tcPr>
                </a:tc>
                <a:tc>
                  <a:txBody>
                    <a:bodyPr/>
                    <a:lstStyle/>
                    <a:p>
                      <a:pPr>
                        <a:defRPr sz="1100">
                          <a:solidFill>
                            <a:srgbClr val="B0B8CC"/>
                          </a:solidFill>
                          <a:latin typeface="Calibri"/>
                        </a:defRPr>
                      </a:pPr>
                      <a:r>
                        <a:t>Multi-hop DTN delivery</a:t>
                      </a:r>
                    </a:p>
                  </a:txBody>
                  <a:tcPr anchor="ctr" marL="73152" marR="73152" marT="36576" marB="36576">
                    <a:solidFill>
                      <a:srgbClr val="182236"/>
                    </a:solidFill>
                  </a:tcPr>
                </a:tc>
              </a:tr>
              <a:tr h="685800">
                <a:tc>
                  <a:txBody>
                    <a:bodyPr/>
                    <a:lstStyle/>
                    <a:p>
                      <a:pPr>
                        <a:defRPr sz="1100">
                          <a:solidFill>
                            <a:srgbClr val="B0B8CC"/>
                          </a:solidFill>
                          <a:latin typeface="Calibri"/>
                        </a:defRPr>
                      </a:pPr>
                      <a:r>
                        <a:t>Security</a:t>
                      </a:r>
                    </a:p>
                  </a:txBody>
                  <a:tcPr anchor="ctr" marL="73152" marR="73152" marT="36576" marB="36576">
                    <a:solidFill>
                      <a:srgbClr val="141B2D"/>
                    </a:solidFill>
                  </a:tcPr>
                </a:tc>
                <a:tc>
                  <a:txBody>
                    <a:bodyPr/>
                    <a:lstStyle/>
                    <a:p>
                      <a:pPr>
                        <a:defRPr sz="1100">
                          <a:solidFill>
                            <a:srgbClr val="B0B8CC"/>
                          </a:solidFill>
                          <a:latin typeface="Calibri"/>
                        </a:defRPr>
                      </a:pPr>
                      <a:r>
                        <a:t>BB84Protocol + E91Protocol</a:t>
                      </a:r>
                    </a:p>
                  </a:txBody>
                  <a:tcPr anchor="ctr" marL="73152" marR="73152" marT="36576" marB="36576">
                    <a:solidFill>
                      <a:srgbClr val="141B2D"/>
                    </a:solidFill>
                  </a:tcPr>
                </a:tc>
                <a:tc>
                  <a:txBody>
                    <a:bodyPr/>
                    <a:lstStyle/>
                    <a:p>
                      <a:pPr>
                        <a:defRPr sz="1100">
                          <a:solidFill>
                            <a:srgbClr val="B0B8CC"/>
                          </a:solidFill>
                          <a:latin typeface="Calibri"/>
                        </a:defRPr>
                      </a:pPr>
                      <a:r>
                        <a:t>Quantum-secured key exchange</a:t>
                      </a:r>
                    </a:p>
                  </a:txBody>
                  <a:tcPr anchor="ctr" marL="73152" marR="73152" marT="36576" marB="36576">
                    <a:solidFill>
                      <a:srgbClr val="141B2D"/>
                    </a:solidFill>
                  </a:tcPr>
                </a:tc>
              </a:tr>
              <a:tr h="685800">
                <a:tc>
                  <a:txBody>
                    <a:bodyPr/>
                    <a:lstStyle/>
                    <a:p>
                      <a:pPr>
                        <a:defRPr sz="1100">
                          <a:solidFill>
                            <a:srgbClr val="B0B8CC"/>
                          </a:solidFill>
                          <a:latin typeface="Calibri"/>
                        </a:defRPr>
                      </a:pPr>
                      <a:r>
                        <a:t>Orbital</a:t>
                      </a:r>
                    </a:p>
                  </a:txBody>
                  <a:tcPr anchor="ctr" marL="73152" marR="73152" marT="36576" marB="36576">
                    <a:solidFill>
                      <a:srgbClr val="182236"/>
                    </a:solidFill>
                  </a:tcPr>
                </a:tc>
                <a:tc>
                  <a:txBody>
                    <a:bodyPr/>
                    <a:lstStyle/>
                    <a:p>
                      <a:pPr>
                        <a:defRPr sz="1100">
                          <a:solidFill>
                            <a:srgbClr val="B0B8CC"/>
                          </a:solidFill>
                          <a:latin typeface="Calibri"/>
                        </a:defRPr>
                      </a:pPr>
                      <a:r>
                        <a:t>ContactWindows + Doppler</a:t>
                      </a:r>
                    </a:p>
                  </a:txBody>
                  <a:tcPr anchor="ctr" marL="73152" marR="73152" marT="36576" marB="36576">
                    <a:solidFill>
                      <a:srgbClr val="182236"/>
                    </a:solidFill>
                  </a:tcPr>
                </a:tc>
                <a:tc>
                  <a:txBody>
                    <a:bodyPr/>
                    <a:lstStyle/>
                    <a:p>
                      <a:pPr>
                        <a:defRPr sz="1100">
                          <a:solidFill>
                            <a:srgbClr val="B0B8CC"/>
                          </a:solidFill>
                          <a:latin typeface="Calibri"/>
                        </a:defRPr>
                      </a:pPr>
                      <a:r>
                        <a:t>Synodic contact prediction</a:t>
                      </a:r>
                    </a:p>
                  </a:txBody>
                  <a:tcPr anchor="ctr" marL="73152" marR="73152" marT="36576" marB="36576">
                    <a:solidFill>
                      <a:srgbClr val="182236"/>
                    </a:solidFill>
                  </a:tcPr>
                </a:tc>
              </a:tr>
              <a:tr h="685800">
                <a:tc>
                  <a:txBody>
                    <a:bodyPr/>
                    <a:lstStyle/>
                    <a:p>
                      <a:pPr>
                        <a:defRPr sz="1100">
                          <a:solidFill>
                            <a:srgbClr val="B0B8CC"/>
                          </a:solidFill>
                          <a:latin typeface="Calibri"/>
                        </a:defRPr>
                      </a:pPr>
                      <a:r>
                        <a:t>Simulation</a:t>
                      </a:r>
                    </a:p>
                  </a:txBody>
                  <a:tcPr anchor="ctr" marL="73152" marR="73152" marT="36576" marB="36576">
                    <a:solidFill>
                      <a:srgbClr val="141B2D"/>
                    </a:solidFill>
                  </a:tcPr>
                </a:tc>
                <a:tc>
                  <a:txBody>
                    <a:bodyPr/>
                    <a:lstStyle/>
                    <a:p>
                      <a:pPr>
                        <a:defRPr sz="1100">
                          <a:solidFill>
                            <a:srgbClr val="B0B8CC"/>
                          </a:solidFill>
                          <a:latin typeface="Calibri"/>
                        </a:defRPr>
                      </a:pPr>
                      <a:r>
                        <a:t>Simulator + PolicyEngine</a:t>
                      </a:r>
                    </a:p>
                  </a:txBody>
                  <a:tcPr anchor="ctr" marL="73152" marR="73152" marT="36576" marB="36576">
                    <a:solidFill>
                      <a:srgbClr val="141B2D"/>
                    </a:solidFill>
                  </a:tcPr>
                </a:tc>
                <a:tc>
                  <a:txBody>
                    <a:bodyPr/>
                    <a:lstStyle/>
                    <a:p>
                      <a:pPr>
                        <a:defRPr sz="1100">
                          <a:solidFill>
                            <a:srgbClr val="B0B8CC"/>
                          </a:solidFill>
                          <a:latin typeface="Calibri"/>
                        </a:defRPr>
                      </a:pPr>
                      <a:r>
                        <a:t>End-to-end scenario runs</a:t>
                      </a:r>
                    </a:p>
                  </a:txBody>
                  <a:tcPr anchor="ctr" marL="73152" marR="73152" marT="36576" marB="36576">
                    <a:solidFill>
                      <a:srgbClr val="141B2D"/>
                    </a:solidFill>
                  </a:tcPr>
                </a:tc>
              </a:tr>
            </a:tbl>
          </a:graphicData>
        </a:graphic>
      </p:graphicFrame>
    </p:spTree>
  </p:cSld>
  <p:transition spd="med" advClick="1">
    <p:cover dir="l"/>
  </p:transition>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0E1A"/>
        </a:solidFill>
        <a:effectLst/>
      </p:bgPr>
    </p:bg>
    <p:spTree>
      <p:nvGrpSpPr>
        <p:cNvPr id="1" name=""/>
        <p:cNvGrpSpPr/>
        <p:nvPr/>
      </p:nvGrpSpPr>
      <p:grpSpPr/>
      <p:sp>
        <p:nvSpPr>
          <p:cNvPr id="2" name="TextBox 1"/>
          <p:cNvSpPr txBox="1"/>
          <p:nvPr/>
        </p:nvSpPr>
        <p:spPr>
          <a:xfrm>
            <a:off x="640080" y="274320"/>
            <a:ext cx="10058400" cy="640080"/>
          </a:xfrm>
          <a:prstGeom prst="rect">
            <a:avLst/>
          </a:prstGeom>
          <a:noFill/>
        </p:spPr>
        <p:txBody>
          <a:bodyPr wrap="square">
            <a:spAutoFit/>
          </a:bodyPr>
          <a:lstStyle/>
          <a:p>
            <a:pPr algn="l">
              <a:defRPr sz="3600" b="1">
                <a:solidFill>
                  <a:srgbClr val="FFFFFF"/>
                </a:solidFill>
                <a:latin typeface="Calibri"/>
              </a:defRPr>
            </a:pPr>
            <a:r>
              <a:t>ARCHITECTURE DIAGRAM</a:t>
            </a:r>
          </a:p>
        </p:txBody>
      </p:sp>
      <p:sp>
        <p:nvSpPr>
          <p:cNvPr id="3" name="Rectangle 2"/>
          <p:cNvSpPr/>
          <p:nvPr/>
        </p:nvSpPr>
        <p:spPr>
          <a:xfrm>
            <a:off x="640080" y="868680"/>
            <a:ext cx="2743200" cy="381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00800"/>
            <a:ext cx="4572000" cy="365760"/>
          </a:xfrm>
          <a:prstGeom prst="rect">
            <a:avLst/>
          </a:prstGeom>
          <a:noFill/>
        </p:spPr>
        <p:txBody>
          <a:bodyPr wrap="square">
            <a:spAutoFit/>
          </a:bodyPr>
          <a:lstStyle/>
          <a:p>
            <a:pPr algn="l">
              <a:defRPr sz="1000" b="0">
                <a:solidFill>
                  <a:srgbClr val="6B7B96"/>
                </a:solidFill>
                <a:latin typeface="Calibri"/>
              </a:defRPr>
            </a:pPr>
            <a:r>
              <a:t>AETHERIX — Interplanetary Communication Network</a:t>
            </a:r>
          </a:p>
        </p:txBody>
      </p:sp>
      <p:sp>
        <p:nvSpPr>
          <p:cNvPr id="5" name="TextBox 4"/>
          <p:cNvSpPr txBox="1"/>
          <p:nvPr/>
        </p:nvSpPr>
        <p:spPr>
          <a:xfrm>
            <a:off x="10058400" y="6400800"/>
            <a:ext cx="1828800" cy="365760"/>
          </a:xfrm>
          <a:prstGeom prst="rect">
            <a:avLst/>
          </a:prstGeom>
          <a:noFill/>
        </p:spPr>
        <p:txBody>
          <a:bodyPr wrap="square">
            <a:spAutoFit/>
          </a:bodyPr>
          <a:lstStyle/>
          <a:p>
            <a:pPr algn="r">
              <a:defRPr sz="1000" b="0">
                <a:solidFill>
                  <a:srgbClr val="6B7B96"/>
                </a:solidFill>
                <a:latin typeface="Calibri"/>
              </a:defRPr>
            </a:pPr>
            <a:r>
              <a:t>9 / 46</a:t>
            </a:r>
          </a:p>
        </p:txBody>
      </p:sp>
      <p:pic>
        <p:nvPicPr>
          <p:cNvPr id="6" name="Picture 5" descr="system_architecture.png"/>
          <p:cNvPicPr>
            <a:picLocks noChangeAspect="1"/>
          </p:cNvPicPr>
          <p:nvPr/>
        </p:nvPicPr>
        <p:blipFill>
          <a:blip r:embed="rId2"/>
          <a:stretch>
            <a:fillRect/>
          </a:stretch>
        </p:blipFill>
        <p:spPr>
          <a:xfrm>
            <a:off x="640080" y="1097280"/>
            <a:ext cx="10607040" cy="5303520"/>
          </a:xfrm>
          <a:prstGeom prst="rect">
            <a:avLst/>
          </a:prstGeom>
        </p:spPr>
      </p:pic>
    </p:spTree>
  </p:cSld>
  <p:transition spd="med" advClick="1">
    <p:fade/>
  </p:transition>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0E1A"/>
        </a:solidFill>
        <a:effectLst/>
      </p:bgPr>
    </p:bg>
    <p:spTree>
      <p:nvGrpSpPr>
        <p:cNvPr id="1" name=""/>
        <p:cNvGrpSpPr/>
        <p:nvPr/>
      </p:nvGrpSpPr>
      <p:grpSpPr/>
      <p:sp>
        <p:nvSpPr>
          <p:cNvPr id="2" name="TextBox 1"/>
          <p:cNvSpPr txBox="1"/>
          <p:nvPr/>
        </p:nvSpPr>
        <p:spPr>
          <a:xfrm>
            <a:off x="640080" y="274320"/>
            <a:ext cx="10058400" cy="640080"/>
          </a:xfrm>
          <a:prstGeom prst="rect">
            <a:avLst/>
          </a:prstGeom>
          <a:noFill/>
        </p:spPr>
        <p:txBody>
          <a:bodyPr wrap="square">
            <a:spAutoFit/>
          </a:bodyPr>
          <a:lstStyle/>
          <a:p>
            <a:pPr algn="l">
              <a:defRPr sz="3200" b="1">
                <a:solidFill>
                  <a:srgbClr val="FFFFFF"/>
                </a:solidFill>
                <a:latin typeface="Calibri"/>
              </a:defRPr>
            </a:pPr>
            <a:r>
              <a:t>NETWORK TIER DISTRIBUTION</a:t>
            </a:r>
          </a:p>
        </p:txBody>
      </p:sp>
      <p:sp>
        <p:nvSpPr>
          <p:cNvPr id="3" name="TextBox 2"/>
          <p:cNvSpPr txBox="1"/>
          <p:nvPr/>
        </p:nvSpPr>
        <p:spPr>
          <a:xfrm>
            <a:off x="640080" y="822960"/>
            <a:ext cx="10058400" cy="365760"/>
          </a:xfrm>
          <a:prstGeom prst="rect">
            <a:avLst/>
          </a:prstGeom>
          <a:noFill/>
        </p:spPr>
        <p:txBody>
          <a:bodyPr wrap="square">
            <a:spAutoFit/>
          </a:bodyPr>
          <a:lstStyle/>
          <a:p>
            <a:pPr algn="l">
              <a:defRPr sz="1600" b="0">
                <a:solidFill>
                  <a:srgbClr val="009EFF"/>
                </a:solidFill>
                <a:latin typeface="Calibri"/>
              </a:defRPr>
            </a:pPr>
            <a:r>
              <a:t>241 Nodes Across 5 Tiers</a:t>
            </a:r>
          </a:p>
        </p:txBody>
      </p:sp>
      <p:sp>
        <p:nvSpPr>
          <p:cNvPr id="4" name="Rectangle 3"/>
          <p:cNvSpPr/>
          <p:nvPr/>
        </p:nvSpPr>
        <p:spPr>
          <a:xfrm>
            <a:off x="640080" y="1234440"/>
            <a:ext cx="2286000" cy="38100"/>
          </a:xfrm>
          <a:prstGeom prst="rect">
            <a:avLst/>
          </a:prstGeom>
          <a:solidFill>
            <a:srgbClr val="00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network_tier_distribution.png"/>
          <p:cNvPicPr>
            <a:picLocks noChangeAspect="1"/>
          </p:cNvPicPr>
          <p:nvPr/>
        </p:nvPicPr>
        <p:blipFill>
          <a:blip r:embed="rId2"/>
          <a:stretch>
            <a:fillRect/>
          </a:stretch>
        </p:blipFill>
        <p:spPr>
          <a:xfrm>
            <a:off x="640080" y="1371600"/>
            <a:ext cx="6400800" cy="4114800"/>
          </a:xfrm>
          <a:prstGeom prst="rect">
            <a:avLst/>
          </a:prstGeom>
        </p:spPr>
      </p:pic>
      <p:sp>
        <p:nvSpPr>
          <p:cNvPr id="6" name="TextBox 5"/>
          <p:cNvSpPr txBox="1"/>
          <p:nvPr/>
        </p:nvSpPr>
        <p:spPr>
          <a:xfrm>
            <a:off x="640080" y="5669280"/>
            <a:ext cx="10058400" cy="274320"/>
          </a:xfrm>
          <a:prstGeom prst="rect">
            <a:avLst/>
          </a:prstGeom>
          <a:noFill/>
        </p:spPr>
        <p:txBody>
          <a:bodyPr wrap="square">
            <a:spAutoFit/>
          </a:bodyPr>
          <a:lstStyle/>
          <a:p>
            <a:pPr algn="ctr">
              <a:defRPr sz="1000" b="0">
                <a:solidFill>
                  <a:srgbClr val="6B7B96"/>
                </a:solidFill>
                <a:latin typeface="Calibri"/>
              </a:defRPr>
            </a:pPr>
            <a:r>
              <a:t>Node count by network tier — Mars Surface is the most populated</a:t>
            </a:r>
          </a:p>
        </p:txBody>
      </p:sp>
      <p:sp>
        <p:nvSpPr>
          <p:cNvPr id="7" name="TextBox 6"/>
          <p:cNvSpPr txBox="1"/>
          <p:nvPr/>
        </p:nvSpPr>
        <p:spPr>
          <a:xfrm>
            <a:off x="457200" y="6400800"/>
            <a:ext cx="4572000" cy="365760"/>
          </a:xfrm>
          <a:prstGeom prst="rect">
            <a:avLst/>
          </a:prstGeom>
          <a:noFill/>
        </p:spPr>
        <p:txBody>
          <a:bodyPr wrap="square">
            <a:spAutoFit/>
          </a:bodyPr>
          <a:lstStyle/>
          <a:p>
            <a:pPr algn="l">
              <a:defRPr sz="1000" b="0">
                <a:solidFill>
                  <a:srgbClr val="6B7B96"/>
                </a:solidFill>
                <a:latin typeface="Calibri"/>
              </a:defRPr>
            </a:pPr>
            <a:r>
              <a:t>AETHERIX — Interplanetary Communication Network</a:t>
            </a:r>
          </a:p>
        </p:txBody>
      </p:sp>
      <p:sp>
        <p:nvSpPr>
          <p:cNvPr id="8" name="TextBox 7"/>
          <p:cNvSpPr txBox="1"/>
          <p:nvPr/>
        </p:nvSpPr>
        <p:spPr>
          <a:xfrm>
            <a:off x="10058400" y="6400800"/>
            <a:ext cx="1828800" cy="365760"/>
          </a:xfrm>
          <a:prstGeom prst="rect">
            <a:avLst/>
          </a:prstGeom>
          <a:noFill/>
        </p:spPr>
        <p:txBody>
          <a:bodyPr wrap="square">
            <a:spAutoFit/>
          </a:bodyPr>
          <a:lstStyle/>
          <a:p>
            <a:pPr algn="r">
              <a:defRPr sz="1000" b="0">
                <a:solidFill>
                  <a:srgbClr val="6B7B96"/>
                </a:solidFill>
                <a:latin typeface="Calibri"/>
              </a:defRPr>
            </a:pPr>
            <a:r>
              <a:t>10 / 46</a:t>
            </a:r>
          </a:p>
        </p:txBody>
      </p:sp>
    </p:spTree>
  </p:cSld>
  <p:transition spd="med" advClick="1">
    <p:fade/>
  </p:transition>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0E1A"/>
        </a:solidFill>
        <a:effectLst/>
      </p:bgPr>
    </p:bg>
    <p:spTree>
      <p:nvGrpSpPr>
        <p:cNvPr id="1" name=""/>
        <p:cNvGrpSpPr/>
        <p:nvPr/>
      </p:nvGrpSpPr>
      <p:grpSpPr/>
      <p:sp>
        <p:nvSpPr>
          <p:cNvPr id="2" name="TextBox 1"/>
          <p:cNvSpPr txBox="1"/>
          <p:nvPr/>
        </p:nvSpPr>
        <p:spPr>
          <a:xfrm>
            <a:off x="640080" y="274320"/>
            <a:ext cx="10058400" cy="640080"/>
          </a:xfrm>
          <a:prstGeom prst="rect">
            <a:avLst/>
          </a:prstGeom>
          <a:noFill/>
        </p:spPr>
        <p:txBody>
          <a:bodyPr wrap="square">
            <a:spAutoFit/>
          </a:bodyPr>
          <a:lstStyle/>
          <a:p>
            <a:pPr algn="l">
              <a:defRPr sz="3600" b="1">
                <a:solidFill>
                  <a:srgbClr val="FFFFFF"/>
                </a:solidFill>
                <a:latin typeface="Calibri"/>
              </a:defRPr>
            </a:pPr>
            <a:r>
              <a:t>BPv7 DEEP DIVE</a:t>
            </a:r>
          </a:p>
        </p:txBody>
      </p:sp>
      <p:sp>
        <p:nvSpPr>
          <p:cNvPr id="3" name="Rectangle 2"/>
          <p:cNvSpPr/>
          <p:nvPr/>
        </p:nvSpPr>
        <p:spPr>
          <a:xfrm>
            <a:off x="640080" y="868680"/>
            <a:ext cx="2743200" cy="381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960120"/>
            <a:ext cx="10058400" cy="365760"/>
          </a:xfrm>
          <a:prstGeom prst="rect">
            <a:avLst/>
          </a:prstGeom>
          <a:noFill/>
        </p:spPr>
        <p:txBody>
          <a:bodyPr wrap="square">
            <a:spAutoFit/>
          </a:bodyPr>
          <a:lstStyle/>
          <a:p>
            <a:pPr algn="l">
              <a:defRPr sz="1600" b="0">
                <a:solidFill>
                  <a:srgbClr val="6B7B96"/>
                </a:solidFill>
                <a:latin typeface="Calibri"/>
              </a:defRPr>
            </a:pPr>
            <a:r>
              <a:t>The Foundation</a:t>
            </a:r>
          </a:p>
        </p:txBody>
      </p:sp>
      <p:sp>
        <p:nvSpPr>
          <p:cNvPr id="5" name="TextBox 4"/>
          <p:cNvSpPr txBox="1"/>
          <p:nvPr/>
        </p:nvSpPr>
        <p:spPr>
          <a:xfrm>
            <a:off x="457200" y="6400800"/>
            <a:ext cx="4572000" cy="365760"/>
          </a:xfrm>
          <a:prstGeom prst="rect">
            <a:avLst/>
          </a:prstGeom>
          <a:noFill/>
        </p:spPr>
        <p:txBody>
          <a:bodyPr wrap="square">
            <a:spAutoFit/>
          </a:bodyPr>
          <a:lstStyle/>
          <a:p>
            <a:pPr algn="l">
              <a:defRPr sz="1000" b="0">
                <a:solidFill>
                  <a:srgbClr val="6B7B96"/>
                </a:solidFill>
                <a:latin typeface="Calibri"/>
              </a:defRPr>
            </a:pPr>
            <a:r>
              <a:t>AETHERIX — Interplanetary Communication Network</a:t>
            </a:r>
          </a:p>
        </p:txBody>
      </p:sp>
      <p:sp>
        <p:nvSpPr>
          <p:cNvPr id="6" name="TextBox 5"/>
          <p:cNvSpPr txBox="1"/>
          <p:nvPr/>
        </p:nvSpPr>
        <p:spPr>
          <a:xfrm>
            <a:off x="10058400" y="6400800"/>
            <a:ext cx="1828800" cy="365760"/>
          </a:xfrm>
          <a:prstGeom prst="rect">
            <a:avLst/>
          </a:prstGeom>
          <a:noFill/>
        </p:spPr>
        <p:txBody>
          <a:bodyPr wrap="square">
            <a:spAutoFit/>
          </a:bodyPr>
          <a:lstStyle/>
          <a:p>
            <a:pPr algn="r">
              <a:defRPr sz="1000" b="0">
                <a:solidFill>
                  <a:srgbClr val="6B7B96"/>
                </a:solidFill>
                <a:latin typeface="Calibri"/>
              </a:defRPr>
            </a:pPr>
            <a:r>
              <a:t>11 / 46</a:t>
            </a:r>
          </a:p>
        </p:txBody>
      </p:sp>
      <p:sp>
        <p:nvSpPr>
          <p:cNvPr id="7" name="Rounded Rectangle 6"/>
          <p:cNvSpPr/>
          <p:nvPr/>
        </p:nvSpPr>
        <p:spPr>
          <a:xfrm>
            <a:off x="640080" y="1463040"/>
            <a:ext cx="5120640" cy="822960"/>
          </a:xfrm>
          <a:prstGeom prst="roundRect">
            <a:avLst/>
          </a:prstGeom>
          <a:solidFill>
            <a:srgbClr val="141B2D"/>
          </a:solidFill>
          <a:ln w="12700">
            <a:solidFill>
              <a:srgbClr val="009EFF"/>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defRPr sz="1600" b="1">
                <a:solidFill>
                  <a:srgbClr val="009EFF"/>
                </a:solidFill>
                <a:latin typeface="Calibri"/>
              </a:defRPr>
            </a:pPr>
          </a:p>
        </p:txBody>
      </p:sp>
      <p:sp>
        <p:nvSpPr>
          <p:cNvPr id="8" name="TextBox 7"/>
          <p:cNvSpPr txBox="1"/>
          <p:nvPr/>
        </p:nvSpPr>
        <p:spPr>
          <a:xfrm>
            <a:off x="822960" y="1508760"/>
            <a:ext cx="4754880" cy="320040"/>
          </a:xfrm>
          <a:prstGeom prst="rect">
            <a:avLst/>
          </a:prstGeom>
          <a:noFill/>
        </p:spPr>
        <p:txBody>
          <a:bodyPr wrap="square">
            <a:spAutoFit/>
          </a:bodyPr>
          <a:lstStyle/>
          <a:p>
            <a:pPr algn="l">
              <a:defRPr sz="1400" b="1">
                <a:solidFill>
                  <a:srgbClr val="009EFF"/>
                </a:solidFill>
                <a:latin typeface="Calibri"/>
              </a:defRPr>
            </a:pPr>
            <a:r>
              <a:t>Application Layer</a:t>
            </a:r>
          </a:p>
        </p:txBody>
      </p:sp>
      <p:sp>
        <p:nvSpPr>
          <p:cNvPr id="9" name="TextBox 8"/>
          <p:cNvSpPr txBox="1"/>
          <p:nvPr/>
        </p:nvSpPr>
        <p:spPr>
          <a:xfrm>
            <a:off x="822960" y="1847088"/>
            <a:ext cx="4754880" cy="365760"/>
          </a:xfrm>
          <a:prstGeom prst="rect">
            <a:avLst/>
          </a:prstGeom>
          <a:noFill/>
        </p:spPr>
        <p:txBody>
          <a:bodyPr wrap="square">
            <a:spAutoFit/>
          </a:bodyPr>
          <a:lstStyle/>
          <a:p>
            <a:pPr algn="l">
              <a:defRPr sz="1000" b="0">
                <a:solidFill>
                  <a:srgbClr val="B0B8CC"/>
                </a:solidFill>
                <a:latin typeface="Calibri"/>
              </a:defRPr>
            </a:pPr>
            <a:r>
              <a:t>User data, commands, telemetry</a:t>
            </a:r>
          </a:p>
        </p:txBody>
      </p:sp>
      <p:sp>
        <p:nvSpPr>
          <p:cNvPr id="10" name="TextBox 9"/>
          <p:cNvSpPr txBox="1"/>
          <p:nvPr/>
        </p:nvSpPr>
        <p:spPr>
          <a:xfrm>
            <a:off x="2834640" y="2240280"/>
            <a:ext cx="914400" cy="228600"/>
          </a:xfrm>
          <a:prstGeom prst="rect">
            <a:avLst/>
          </a:prstGeom>
          <a:noFill/>
        </p:spPr>
        <p:txBody>
          <a:bodyPr wrap="square">
            <a:spAutoFit/>
          </a:bodyPr>
          <a:lstStyle/>
          <a:p>
            <a:pPr algn="ctr">
              <a:defRPr sz="1400" b="0">
                <a:solidFill>
                  <a:srgbClr val="6B7B96"/>
                </a:solidFill>
                <a:latin typeface="Calibri"/>
              </a:defRPr>
            </a:pPr>
            <a:r>
              <a:t>▼</a:t>
            </a:r>
          </a:p>
        </p:txBody>
      </p:sp>
      <p:sp>
        <p:nvSpPr>
          <p:cNvPr id="11" name="Rounded Rectangle 10"/>
          <p:cNvSpPr/>
          <p:nvPr/>
        </p:nvSpPr>
        <p:spPr>
          <a:xfrm>
            <a:off x="640080" y="2423160"/>
            <a:ext cx="5120640" cy="822960"/>
          </a:xfrm>
          <a:prstGeom prst="roundRect">
            <a:avLst/>
          </a:prstGeom>
          <a:solidFill>
            <a:srgbClr val="141B2D"/>
          </a:solidFill>
          <a:ln w="127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defRPr sz="1600" b="1">
                <a:solidFill>
                  <a:srgbClr val="009EFF"/>
                </a:solidFill>
                <a:latin typeface="Calibri"/>
              </a:defRPr>
            </a:pPr>
          </a:p>
        </p:txBody>
      </p:sp>
      <p:sp>
        <p:nvSpPr>
          <p:cNvPr id="12" name="TextBox 11"/>
          <p:cNvSpPr txBox="1"/>
          <p:nvPr/>
        </p:nvSpPr>
        <p:spPr>
          <a:xfrm>
            <a:off x="822960" y="2468880"/>
            <a:ext cx="4754880" cy="320040"/>
          </a:xfrm>
          <a:prstGeom prst="rect">
            <a:avLst/>
          </a:prstGeom>
          <a:noFill/>
        </p:spPr>
        <p:txBody>
          <a:bodyPr wrap="square">
            <a:spAutoFit/>
          </a:bodyPr>
          <a:lstStyle/>
          <a:p>
            <a:pPr algn="l">
              <a:defRPr sz="1400" b="1">
                <a:solidFill>
                  <a:srgbClr val="8B5CF6"/>
                </a:solidFill>
                <a:latin typeface="Calibri"/>
              </a:defRPr>
            </a:pPr>
            <a:r>
              <a:t>Bundle Protocol v7</a:t>
            </a:r>
          </a:p>
        </p:txBody>
      </p:sp>
      <p:sp>
        <p:nvSpPr>
          <p:cNvPr id="13" name="TextBox 12"/>
          <p:cNvSpPr txBox="1"/>
          <p:nvPr/>
        </p:nvSpPr>
        <p:spPr>
          <a:xfrm>
            <a:off x="822960" y="2807208"/>
            <a:ext cx="4754880" cy="365760"/>
          </a:xfrm>
          <a:prstGeom prst="rect">
            <a:avLst/>
          </a:prstGeom>
          <a:noFill/>
        </p:spPr>
        <p:txBody>
          <a:bodyPr wrap="square">
            <a:spAutoFit/>
          </a:bodyPr>
          <a:lstStyle/>
          <a:p>
            <a:pPr algn="l">
              <a:defRPr sz="1000" b="0">
                <a:solidFill>
                  <a:srgbClr val="B0B8CC"/>
                </a:solidFill>
                <a:latin typeface="Calibri"/>
              </a:defRPr>
            </a:pPr>
            <a:r>
              <a:t>Routing, custody, fragmentation, TTL</a:t>
            </a:r>
          </a:p>
        </p:txBody>
      </p:sp>
      <p:sp>
        <p:nvSpPr>
          <p:cNvPr id="14" name="TextBox 13"/>
          <p:cNvSpPr txBox="1"/>
          <p:nvPr/>
        </p:nvSpPr>
        <p:spPr>
          <a:xfrm>
            <a:off x="2834640" y="3200400"/>
            <a:ext cx="914400" cy="228600"/>
          </a:xfrm>
          <a:prstGeom prst="rect">
            <a:avLst/>
          </a:prstGeom>
          <a:noFill/>
        </p:spPr>
        <p:txBody>
          <a:bodyPr wrap="square">
            <a:spAutoFit/>
          </a:bodyPr>
          <a:lstStyle/>
          <a:p>
            <a:pPr algn="ctr">
              <a:defRPr sz="1400" b="0">
                <a:solidFill>
                  <a:srgbClr val="6B7B96"/>
                </a:solidFill>
                <a:latin typeface="Calibri"/>
              </a:defRPr>
            </a:pPr>
            <a:r>
              <a:t>▼</a:t>
            </a:r>
          </a:p>
        </p:txBody>
      </p:sp>
      <p:sp>
        <p:nvSpPr>
          <p:cNvPr id="15" name="Rounded Rectangle 14"/>
          <p:cNvSpPr/>
          <p:nvPr/>
        </p:nvSpPr>
        <p:spPr>
          <a:xfrm>
            <a:off x="640080" y="3383280"/>
            <a:ext cx="5120640" cy="822960"/>
          </a:xfrm>
          <a:prstGeom prst="roundRect">
            <a:avLst/>
          </a:prstGeom>
          <a:solidFill>
            <a:srgbClr val="141B2D"/>
          </a:solidFill>
          <a:ln w="12700">
            <a:solidFill>
              <a:srgbClr val="00D4A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defRPr sz="1600" b="1">
                <a:solidFill>
                  <a:srgbClr val="009EFF"/>
                </a:solidFill>
                <a:latin typeface="Calibri"/>
              </a:defRPr>
            </a:pPr>
          </a:p>
        </p:txBody>
      </p:sp>
      <p:sp>
        <p:nvSpPr>
          <p:cNvPr id="16" name="TextBox 15"/>
          <p:cNvSpPr txBox="1"/>
          <p:nvPr/>
        </p:nvSpPr>
        <p:spPr>
          <a:xfrm>
            <a:off x="822960" y="3429000"/>
            <a:ext cx="4754880" cy="320040"/>
          </a:xfrm>
          <a:prstGeom prst="rect">
            <a:avLst/>
          </a:prstGeom>
          <a:noFill/>
        </p:spPr>
        <p:txBody>
          <a:bodyPr wrap="square">
            <a:spAutoFit/>
          </a:bodyPr>
          <a:lstStyle/>
          <a:p>
            <a:pPr algn="l">
              <a:defRPr sz="1400" b="1">
                <a:solidFill>
                  <a:srgbClr val="00D4AA"/>
                </a:solidFill>
                <a:latin typeface="Calibri"/>
              </a:defRPr>
            </a:pPr>
            <a:r>
              <a:t>Convergence Layer</a:t>
            </a:r>
          </a:p>
        </p:txBody>
      </p:sp>
      <p:sp>
        <p:nvSpPr>
          <p:cNvPr id="17" name="TextBox 16"/>
          <p:cNvSpPr txBox="1"/>
          <p:nvPr/>
        </p:nvSpPr>
        <p:spPr>
          <a:xfrm>
            <a:off x="822960" y="3767328"/>
            <a:ext cx="4754880" cy="365760"/>
          </a:xfrm>
          <a:prstGeom prst="rect">
            <a:avLst/>
          </a:prstGeom>
          <a:noFill/>
        </p:spPr>
        <p:txBody>
          <a:bodyPr wrap="square">
            <a:spAutoFit/>
          </a:bodyPr>
          <a:lstStyle/>
          <a:p>
            <a:pPr algn="l">
              <a:defRPr sz="1000" b="0">
                <a:solidFill>
                  <a:srgbClr val="B0B8CC"/>
                </a:solidFill>
                <a:latin typeface="Calibri"/>
              </a:defRPr>
            </a:pPr>
            <a:r>
              <a:t>LTP (space), TCPCL (Earth), UDPCL (ISL)</a:t>
            </a:r>
          </a:p>
        </p:txBody>
      </p:sp>
      <p:sp>
        <p:nvSpPr>
          <p:cNvPr id="18" name="TextBox 17"/>
          <p:cNvSpPr txBox="1"/>
          <p:nvPr/>
        </p:nvSpPr>
        <p:spPr>
          <a:xfrm>
            <a:off x="2834640" y="4160520"/>
            <a:ext cx="914400" cy="228600"/>
          </a:xfrm>
          <a:prstGeom prst="rect">
            <a:avLst/>
          </a:prstGeom>
          <a:noFill/>
        </p:spPr>
        <p:txBody>
          <a:bodyPr wrap="square">
            <a:spAutoFit/>
          </a:bodyPr>
          <a:lstStyle/>
          <a:p>
            <a:pPr algn="ctr">
              <a:defRPr sz="1400" b="0">
                <a:solidFill>
                  <a:srgbClr val="6B7B96"/>
                </a:solidFill>
                <a:latin typeface="Calibri"/>
              </a:defRPr>
            </a:pPr>
            <a:r>
              <a:t>▼</a:t>
            </a:r>
          </a:p>
        </p:txBody>
      </p:sp>
      <p:sp>
        <p:nvSpPr>
          <p:cNvPr id="19" name="Rounded Rectangle 18"/>
          <p:cNvSpPr/>
          <p:nvPr/>
        </p:nvSpPr>
        <p:spPr>
          <a:xfrm>
            <a:off x="640080" y="4343400"/>
            <a:ext cx="5120640" cy="822960"/>
          </a:xfrm>
          <a:prstGeom prst="roundRect">
            <a:avLst/>
          </a:prstGeom>
          <a:solidFill>
            <a:srgbClr val="141B2D"/>
          </a:solidFill>
          <a:ln w="12700">
            <a:solidFill>
              <a:srgbClr val="FF8C00"/>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defRPr sz="1600" b="1">
                <a:solidFill>
                  <a:srgbClr val="009EFF"/>
                </a:solidFill>
                <a:latin typeface="Calibri"/>
              </a:defRPr>
            </a:pPr>
          </a:p>
        </p:txBody>
      </p:sp>
      <p:sp>
        <p:nvSpPr>
          <p:cNvPr id="20" name="TextBox 19"/>
          <p:cNvSpPr txBox="1"/>
          <p:nvPr/>
        </p:nvSpPr>
        <p:spPr>
          <a:xfrm>
            <a:off x="822960" y="4389120"/>
            <a:ext cx="4754880" cy="320040"/>
          </a:xfrm>
          <a:prstGeom prst="rect">
            <a:avLst/>
          </a:prstGeom>
          <a:noFill/>
        </p:spPr>
        <p:txBody>
          <a:bodyPr wrap="square">
            <a:spAutoFit/>
          </a:bodyPr>
          <a:lstStyle/>
          <a:p>
            <a:pPr algn="l">
              <a:defRPr sz="1400" b="1">
                <a:solidFill>
                  <a:srgbClr val="FF8C00"/>
                </a:solidFill>
                <a:latin typeface="Calibri"/>
              </a:defRPr>
            </a:pPr>
            <a:r>
              <a:t>Physical Layer</a:t>
            </a:r>
          </a:p>
        </p:txBody>
      </p:sp>
      <p:sp>
        <p:nvSpPr>
          <p:cNvPr id="21" name="TextBox 20"/>
          <p:cNvSpPr txBox="1"/>
          <p:nvPr/>
        </p:nvSpPr>
        <p:spPr>
          <a:xfrm>
            <a:off x="822960" y="4727448"/>
            <a:ext cx="4754880" cy="365760"/>
          </a:xfrm>
          <a:prstGeom prst="rect">
            <a:avLst/>
          </a:prstGeom>
          <a:noFill/>
        </p:spPr>
        <p:txBody>
          <a:bodyPr wrap="square">
            <a:spAutoFit/>
          </a:bodyPr>
          <a:lstStyle/>
          <a:p>
            <a:pPr algn="l">
              <a:defRPr sz="1000" b="0">
                <a:solidFill>
                  <a:srgbClr val="B0B8CC"/>
                </a:solidFill>
                <a:latin typeface="Calibri"/>
              </a:defRPr>
            </a:pPr>
            <a:r>
              <a:t>Optical 1550nm / Ka-band RF links</a:t>
            </a:r>
          </a:p>
        </p:txBody>
      </p:sp>
      <p:graphicFrame>
        <p:nvGraphicFramePr>
          <p:cNvPr id="22" name="Table 21"/>
          <p:cNvGraphicFramePr>
            <a:graphicFrameLocks noGrp="1"/>
          </p:cNvGraphicFramePr>
          <p:nvPr/>
        </p:nvGraphicFramePr>
        <p:xfrm>
          <a:off x="6126480" y="1463040"/>
          <a:ext cx="5120640" cy="2377440"/>
        </p:xfrm>
        <a:graphic>
          <a:graphicData uri="http://schemas.openxmlformats.org/drawingml/2006/table">
            <a:tbl>
              <a:tblPr firstRow="1" bandRow="1">
                <a:tableStyleId>{5C22544A-7EE6-4342-B048-85BDC9FD1C3A}</a:tableStyleId>
              </a:tblPr>
              <a:tblGrid>
                <a:gridCol w="1706880"/>
                <a:gridCol w="1706880"/>
                <a:gridCol w="1706880"/>
              </a:tblGrid>
              <a:tr h="396240">
                <a:tc>
                  <a:txBody>
                    <a:bodyPr/>
                    <a:lstStyle/>
                    <a:p>
                      <a:pPr algn="ctr">
                        <a:defRPr b="1" sz="1200">
                          <a:solidFill>
                            <a:srgbClr val="FFFFFF"/>
                          </a:solidFill>
                          <a:latin typeface="Calibri"/>
                        </a:defRPr>
                      </a:pPr>
                      <a:r>
                        <a:t>Priority</a:t>
                      </a:r>
                    </a:p>
                  </a:txBody>
                  <a:tcPr anchor="ctr" marL="73152" marR="73152" marT="36576" marB="36576">
                    <a:solidFill>
                      <a:srgbClr val="8B5CF6"/>
                    </a:solidFill>
                  </a:tcPr>
                </a:tc>
                <a:tc>
                  <a:txBody>
                    <a:bodyPr/>
                    <a:lstStyle/>
                    <a:p>
                      <a:pPr algn="ctr">
                        <a:defRPr b="1" sz="1200">
                          <a:solidFill>
                            <a:srgbClr val="FFFFFF"/>
                          </a:solidFill>
                          <a:latin typeface="Calibri"/>
                        </a:defRPr>
                      </a:pPr>
                      <a:r>
                        <a:t>Class</a:t>
                      </a:r>
                    </a:p>
                  </a:txBody>
                  <a:tcPr anchor="ctr" marL="73152" marR="73152" marT="36576" marB="36576">
                    <a:solidFill>
                      <a:srgbClr val="8B5CF6"/>
                    </a:solidFill>
                  </a:tcPr>
                </a:tc>
                <a:tc>
                  <a:txBody>
                    <a:bodyPr/>
                    <a:lstStyle/>
                    <a:p>
                      <a:pPr algn="ctr">
                        <a:defRPr b="1" sz="1200">
                          <a:solidFill>
                            <a:srgbClr val="FFFFFF"/>
                          </a:solidFill>
                          <a:latin typeface="Calibri"/>
                        </a:defRPr>
                      </a:pPr>
                      <a:r>
                        <a:t>Use Case</a:t>
                      </a:r>
                    </a:p>
                  </a:txBody>
                  <a:tcPr anchor="ctr" marL="73152" marR="73152" marT="36576" marB="36576">
                    <a:solidFill>
                      <a:srgbClr val="8B5CF6"/>
                    </a:solidFill>
                  </a:tcPr>
                </a:tc>
              </a:tr>
              <a:tr h="396240">
                <a:tc>
                  <a:txBody>
                    <a:bodyPr/>
                    <a:lstStyle/>
                    <a:p>
                      <a:pPr>
                        <a:defRPr sz="1100">
                          <a:solidFill>
                            <a:srgbClr val="B0B8CC"/>
                          </a:solidFill>
                          <a:latin typeface="Calibri"/>
                        </a:defRPr>
                      </a:pPr>
                      <a:r>
                        <a:t>P0</a:t>
                      </a:r>
                    </a:p>
                  </a:txBody>
                  <a:tcPr anchor="ctr" marL="73152" marR="73152" marT="36576" marB="36576">
                    <a:solidFill>
                      <a:srgbClr val="141B2D"/>
                    </a:solidFill>
                  </a:tcPr>
                </a:tc>
                <a:tc>
                  <a:txBody>
                    <a:bodyPr/>
                    <a:lstStyle/>
                    <a:p>
                      <a:pPr>
                        <a:defRPr sz="1100">
                          <a:solidFill>
                            <a:srgbClr val="B0B8CC"/>
                          </a:solidFill>
                          <a:latin typeface="Calibri"/>
                        </a:defRPr>
                      </a:pPr>
                      <a:r>
                        <a:t>EMERGENCY</a:t>
                      </a:r>
                    </a:p>
                  </a:txBody>
                  <a:tcPr anchor="ctr" marL="73152" marR="73152" marT="36576" marB="36576">
                    <a:solidFill>
                      <a:srgbClr val="141B2D"/>
                    </a:solidFill>
                  </a:tcPr>
                </a:tc>
                <a:tc>
                  <a:txBody>
                    <a:bodyPr/>
                    <a:lstStyle/>
                    <a:p>
                      <a:pPr>
                        <a:defRPr sz="1100">
                          <a:solidFill>
                            <a:srgbClr val="B0B8CC"/>
                          </a:solidFill>
                          <a:latin typeface="Calibri"/>
                        </a:defRPr>
                      </a:pPr>
                      <a:r>
                        <a:t>Life-critical alerts, abort commands</a:t>
                      </a:r>
                    </a:p>
                  </a:txBody>
                  <a:tcPr anchor="ctr" marL="73152" marR="73152" marT="36576" marB="36576">
                    <a:solidFill>
                      <a:srgbClr val="141B2D"/>
                    </a:solidFill>
                  </a:tcPr>
                </a:tc>
              </a:tr>
              <a:tr h="396240">
                <a:tc>
                  <a:txBody>
                    <a:bodyPr/>
                    <a:lstStyle/>
                    <a:p>
                      <a:pPr>
                        <a:defRPr sz="1100">
                          <a:solidFill>
                            <a:srgbClr val="B0B8CC"/>
                          </a:solidFill>
                          <a:latin typeface="Calibri"/>
                        </a:defRPr>
                      </a:pPr>
                      <a:r>
                        <a:t>P1</a:t>
                      </a:r>
                    </a:p>
                  </a:txBody>
                  <a:tcPr anchor="ctr" marL="73152" marR="73152" marT="36576" marB="36576">
                    <a:solidFill>
                      <a:srgbClr val="182236"/>
                    </a:solidFill>
                  </a:tcPr>
                </a:tc>
                <a:tc>
                  <a:txBody>
                    <a:bodyPr/>
                    <a:lstStyle/>
                    <a:p>
                      <a:pPr>
                        <a:defRPr sz="1100">
                          <a:solidFill>
                            <a:srgbClr val="B0B8CC"/>
                          </a:solidFill>
                          <a:latin typeface="Calibri"/>
                        </a:defRPr>
                      </a:pPr>
                      <a:r>
                        <a:t>URGENT</a:t>
                      </a:r>
                    </a:p>
                  </a:txBody>
                  <a:tcPr anchor="ctr" marL="73152" marR="73152" marT="36576" marB="36576">
                    <a:solidFill>
                      <a:srgbClr val="182236"/>
                    </a:solidFill>
                  </a:tcPr>
                </a:tc>
                <a:tc>
                  <a:txBody>
                    <a:bodyPr/>
                    <a:lstStyle/>
                    <a:p>
                      <a:pPr>
                        <a:defRPr sz="1100">
                          <a:solidFill>
                            <a:srgbClr val="B0B8CC"/>
                          </a:solidFill>
                          <a:latin typeface="Calibri"/>
                        </a:defRPr>
                      </a:pPr>
                      <a:r>
                        <a:t>Navigation corrections, hazard warnings</a:t>
                      </a:r>
                    </a:p>
                  </a:txBody>
                  <a:tcPr anchor="ctr" marL="73152" marR="73152" marT="36576" marB="36576">
                    <a:solidFill>
                      <a:srgbClr val="182236"/>
                    </a:solidFill>
                  </a:tcPr>
                </a:tc>
              </a:tr>
              <a:tr h="396240">
                <a:tc>
                  <a:txBody>
                    <a:bodyPr/>
                    <a:lstStyle/>
                    <a:p>
                      <a:pPr>
                        <a:defRPr sz="1100">
                          <a:solidFill>
                            <a:srgbClr val="B0B8CC"/>
                          </a:solidFill>
                          <a:latin typeface="Calibri"/>
                        </a:defRPr>
                      </a:pPr>
                      <a:r>
                        <a:t>P2</a:t>
                      </a:r>
                    </a:p>
                  </a:txBody>
                  <a:tcPr anchor="ctr" marL="73152" marR="73152" marT="36576" marB="36576">
                    <a:solidFill>
                      <a:srgbClr val="141B2D"/>
                    </a:solidFill>
                  </a:tcPr>
                </a:tc>
                <a:tc>
                  <a:txBody>
                    <a:bodyPr/>
                    <a:lstStyle/>
                    <a:p>
                      <a:pPr>
                        <a:defRPr sz="1100">
                          <a:solidFill>
                            <a:srgbClr val="B0B8CC"/>
                          </a:solidFill>
                          <a:latin typeface="Calibri"/>
                        </a:defRPr>
                      </a:pPr>
                      <a:r>
                        <a:t>NORMAL</a:t>
                      </a:r>
                    </a:p>
                  </a:txBody>
                  <a:tcPr anchor="ctr" marL="73152" marR="73152" marT="36576" marB="36576">
                    <a:solidFill>
                      <a:srgbClr val="141B2D"/>
                    </a:solidFill>
                  </a:tcPr>
                </a:tc>
                <a:tc>
                  <a:txBody>
                    <a:bodyPr/>
                    <a:lstStyle/>
                    <a:p>
                      <a:pPr>
                        <a:defRPr sz="1100">
                          <a:solidFill>
                            <a:srgbClr val="B0B8CC"/>
                          </a:solidFill>
                          <a:latin typeface="Calibri"/>
                        </a:defRPr>
                      </a:pPr>
                      <a:r>
                        <a:t>Telemetry, science data, commands</a:t>
                      </a:r>
                    </a:p>
                  </a:txBody>
                  <a:tcPr anchor="ctr" marL="73152" marR="73152" marT="36576" marB="36576">
                    <a:solidFill>
                      <a:srgbClr val="141B2D"/>
                    </a:solidFill>
                  </a:tcPr>
                </a:tc>
              </a:tr>
              <a:tr h="396240">
                <a:tc>
                  <a:txBody>
                    <a:bodyPr/>
                    <a:lstStyle/>
                    <a:p>
                      <a:pPr>
                        <a:defRPr sz="1100">
                          <a:solidFill>
                            <a:srgbClr val="B0B8CC"/>
                          </a:solidFill>
                          <a:latin typeface="Calibri"/>
                        </a:defRPr>
                      </a:pPr>
                      <a:r>
                        <a:t>P3</a:t>
                      </a:r>
                    </a:p>
                  </a:txBody>
                  <a:tcPr anchor="ctr" marL="73152" marR="73152" marT="36576" marB="36576">
                    <a:solidFill>
                      <a:srgbClr val="182236"/>
                    </a:solidFill>
                  </a:tcPr>
                </a:tc>
                <a:tc>
                  <a:txBody>
                    <a:bodyPr/>
                    <a:lstStyle/>
                    <a:p>
                      <a:pPr>
                        <a:defRPr sz="1100">
                          <a:solidFill>
                            <a:srgbClr val="B0B8CC"/>
                          </a:solidFill>
                          <a:latin typeface="Calibri"/>
                        </a:defRPr>
                      </a:pPr>
                      <a:r>
                        <a:t>LOW</a:t>
                      </a:r>
                    </a:p>
                  </a:txBody>
                  <a:tcPr anchor="ctr" marL="73152" marR="73152" marT="36576" marB="36576">
                    <a:solidFill>
                      <a:srgbClr val="182236"/>
                    </a:solidFill>
                  </a:tcPr>
                </a:tc>
                <a:tc>
                  <a:txBody>
                    <a:bodyPr/>
                    <a:lstStyle/>
                    <a:p>
                      <a:pPr>
                        <a:defRPr sz="1100">
                          <a:solidFill>
                            <a:srgbClr val="B0B8CC"/>
                          </a:solidFill>
                          <a:latin typeface="Calibri"/>
                        </a:defRPr>
                      </a:pPr>
                      <a:r>
                        <a:t>Software updates, bulk file transfer</a:t>
                      </a:r>
                    </a:p>
                  </a:txBody>
                  <a:tcPr anchor="ctr" marL="73152" marR="73152" marT="36576" marB="36576">
                    <a:solidFill>
                      <a:srgbClr val="182236"/>
                    </a:solidFill>
                  </a:tcPr>
                </a:tc>
              </a:tr>
              <a:tr h="396240">
                <a:tc>
                  <a:txBody>
                    <a:bodyPr/>
                    <a:lstStyle/>
                    <a:p>
                      <a:pPr>
                        <a:defRPr sz="1100">
                          <a:solidFill>
                            <a:srgbClr val="B0B8CC"/>
                          </a:solidFill>
                          <a:latin typeface="Calibri"/>
                        </a:defRPr>
                      </a:pPr>
                      <a:r>
                        <a:t>P4</a:t>
                      </a:r>
                    </a:p>
                  </a:txBody>
                  <a:tcPr anchor="ctr" marL="73152" marR="73152" marT="36576" marB="36576">
                    <a:solidFill>
                      <a:srgbClr val="141B2D"/>
                    </a:solidFill>
                  </a:tcPr>
                </a:tc>
                <a:tc>
                  <a:txBody>
                    <a:bodyPr/>
                    <a:lstStyle/>
                    <a:p>
                      <a:pPr>
                        <a:defRPr sz="1100">
                          <a:solidFill>
                            <a:srgbClr val="B0B8CC"/>
                          </a:solidFill>
                          <a:latin typeface="Calibri"/>
                        </a:defRPr>
                      </a:pPr>
                      <a:r>
                        <a:t>BULK</a:t>
                      </a:r>
                    </a:p>
                  </a:txBody>
                  <a:tcPr anchor="ctr" marL="73152" marR="73152" marT="36576" marB="36576">
                    <a:solidFill>
                      <a:srgbClr val="141B2D"/>
                    </a:solidFill>
                  </a:tcPr>
                </a:tc>
                <a:tc>
                  <a:txBody>
                    <a:bodyPr/>
                    <a:lstStyle/>
                    <a:p>
                      <a:pPr>
                        <a:defRPr sz="1100">
                          <a:solidFill>
                            <a:srgbClr val="B0B8CC"/>
                          </a:solidFill>
                          <a:latin typeface="Calibri"/>
                        </a:defRPr>
                      </a:pPr>
                      <a:r>
                        <a:t>Background sync, archival data</a:t>
                      </a:r>
                    </a:p>
                  </a:txBody>
                  <a:tcPr anchor="ctr" marL="73152" marR="73152" marT="36576" marB="36576">
                    <a:solidFill>
                      <a:srgbClr val="141B2D"/>
                    </a:solidFill>
                  </a:tcPr>
                </a:tc>
              </a:tr>
            </a:tbl>
          </a:graphicData>
        </a:graphic>
      </p:graphicFrame>
      <p:sp>
        <p:nvSpPr>
          <p:cNvPr id="23" name="TextBox 22"/>
          <p:cNvSpPr txBox="1"/>
          <p:nvPr/>
        </p:nvSpPr>
        <p:spPr>
          <a:xfrm>
            <a:off x="6126480" y="4023360"/>
            <a:ext cx="5120640" cy="320040"/>
          </a:xfrm>
          <a:prstGeom prst="rect">
            <a:avLst/>
          </a:prstGeom>
          <a:noFill/>
        </p:spPr>
        <p:txBody>
          <a:bodyPr wrap="square">
            <a:spAutoFit/>
          </a:bodyPr>
          <a:lstStyle/>
          <a:p>
            <a:pPr algn="l">
              <a:defRPr sz="1400" b="1">
                <a:solidFill>
                  <a:srgbClr val="00D4AA"/>
                </a:solidFill>
                <a:latin typeface="Calibri"/>
              </a:defRPr>
            </a:pPr>
            <a:r>
              <a:t>Store-and-Forward Steps</a:t>
            </a:r>
          </a:p>
        </p:txBody>
      </p:sp>
      <p:sp>
        <p:nvSpPr>
          <p:cNvPr id="24" name="Rectangle 23"/>
          <p:cNvSpPr/>
          <p:nvPr/>
        </p:nvSpPr>
        <p:spPr>
          <a:xfrm>
            <a:off x="6126480" y="4315968"/>
            <a:ext cx="1828800" cy="254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126480" y="4389120"/>
            <a:ext cx="5120640" cy="274320"/>
          </a:xfrm>
          <a:prstGeom prst="rect">
            <a:avLst/>
          </a:prstGeom>
          <a:noFill/>
        </p:spPr>
        <p:txBody>
          <a:bodyPr wrap="square">
            <a:spAutoFit/>
          </a:bodyPr>
          <a:lstStyle/>
          <a:p>
            <a:pPr algn="l">
              <a:defRPr sz="1000" b="0">
                <a:solidFill>
                  <a:srgbClr val="B0B8CC"/>
                </a:solidFill>
                <a:latin typeface="Calibri"/>
              </a:defRPr>
            </a:pPr>
            <a:r>
              <a:t>1. Bundle created at source with destination EID + TTL</a:t>
            </a:r>
          </a:p>
        </p:txBody>
      </p:sp>
      <p:sp>
        <p:nvSpPr>
          <p:cNvPr id="26" name="TextBox 25"/>
          <p:cNvSpPr txBox="1"/>
          <p:nvPr/>
        </p:nvSpPr>
        <p:spPr>
          <a:xfrm>
            <a:off x="6126480" y="4663440"/>
            <a:ext cx="5120640" cy="274320"/>
          </a:xfrm>
          <a:prstGeom prst="rect">
            <a:avLst/>
          </a:prstGeom>
          <a:noFill/>
        </p:spPr>
        <p:txBody>
          <a:bodyPr wrap="square">
            <a:spAutoFit/>
          </a:bodyPr>
          <a:lstStyle/>
          <a:p>
            <a:pPr algn="l">
              <a:defRPr sz="1000" b="0">
                <a:solidFill>
                  <a:srgbClr val="B0B8CC"/>
                </a:solidFill>
                <a:latin typeface="Calibri"/>
              </a:defRPr>
            </a:pPr>
            <a:r>
              <a:t>2. Node stores bundle in priority queue (buffer mgmt)</a:t>
            </a:r>
          </a:p>
        </p:txBody>
      </p:sp>
      <p:sp>
        <p:nvSpPr>
          <p:cNvPr id="27" name="TextBox 26"/>
          <p:cNvSpPr txBox="1"/>
          <p:nvPr/>
        </p:nvSpPr>
        <p:spPr>
          <a:xfrm>
            <a:off x="6126480" y="4937760"/>
            <a:ext cx="5120640" cy="274320"/>
          </a:xfrm>
          <a:prstGeom prst="rect">
            <a:avLst/>
          </a:prstGeom>
          <a:noFill/>
        </p:spPr>
        <p:txBody>
          <a:bodyPr wrap="square">
            <a:spAutoFit/>
          </a:bodyPr>
          <a:lstStyle/>
          <a:p>
            <a:pPr algn="l">
              <a:defRPr sz="1000" b="0">
                <a:solidFill>
                  <a:srgbClr val="B0B8CC"/>
                </a:solidFill>
                <a:latin typeface="Calibri"/>
              </a:defRPr>
            </a:pPr>
            <a:r>
              <a:t>3. Contact window opens → best next-hop selected by RL</a:t>
            </a:r>
          </a:p>
        </p:txBody>
      </p:sp>
      <p:sp>
        <p:nvSpPr>
          <p:cNvPr id="28" name="TextBox 27"/>
          <p:cNvSpPr txBox="1"/>
          <p:nvPr/>
        </p:nvSpPr>
        <p:spPr>
          <a:xfrm>
            <a:off x="6126480" y="5212080"/>
            <a:ext cx="5120640" cy="274320"/>
          </a:xfrm>
          <a:prstGeom prst="rect">
            <a:avLst/>
          </a:prstGeom>
          <a:noFill/>
        </p:spPr>
        <p:txBody>
          <a:bodyPr wrap="square">
            <a:spAutoFit/>
          </a:bodyPr>
          <a:lstStyle/>
          <a:p>
            <a:pPr algn="l">
              <a:defRPr sz="1000" b="0">
                <a:solidFill>
                  <a:srgbClr val="B0B8CC"/>
                </a:solidFill>
                <a:latin typeface="Calibri"/>
              </a:defRPr>
            </a:pPr>
            <a:r>
              <a:t>4. Bundle transmitted via convergence layer (LTP/TCPCL)</a:t>
            </a:r>
          </a:p>
        </p:txBody>
      </p:sp>
      <p:sp>
        <p:nvSpPr>
          <p:cNvPr id="29" name="TextBox 28"/>
          <p:cNvSpPr txBox="1"/>
          <p:nvPr/>
        </p:nvSpPr>
        <p:spPr>
          <a:xfrm>
            <a:off x="6126480" y="5486400"/>
            <a:ext cx="5120640" cy="274320"/>
          </a:xfrm>
          <a:prstGeom prst="rect">
            <a:avLst/>
          </a:prstGeom>
          <a:noFill/>
        </p:spPr>
        <p:txBody>
          <a:bodyPr wrap="square">
            <a:spAutoFit/>
          </a:bodyPr>
          <a:lstStyle/>
          <a:p>
            <a:pPr algn="l">
              <a:defRPr sz="1000" b="0">
                <a:solidFill>
                  <a:srgbClr val="B0B8CC"/>
                </a:solidFill>
                <a:latin typeface="Calibri"/>
              </a:defRPr>
            </a:pPr>
            <a:r>
              <a:t>5. Custody transfer confirms; repeat until destination</a:t>
            </a:r>
          </a:p>
        </p:txBody>
      </p:sp>
      <p:sp>
        <p:nvSpPr>
          <p:cNvPr id="30" name="Rounded Rectangle 29"/>
          <p:cNvSpPr/>
          <p:nvPr/>
        </p:nvSpPr>
        <p:spPr>
          <a:xfrm>
            <a:off x="640080" y="5669280"/>
            <a:ext cx="10607040" cy="640080"/>
          </a:xfrm>
          <a:prstGeom prst="roundRect">
            <a:avLst/>
          </a:prstGeom>
          <a:solidFill>
            <a:srgbClr val="141B2D"/>
          </a:solidFill>
          <a:ln w="12700">
            <a:solidFill>
              <a:srgbClr val="009EFF"/>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defRPr sz="1600" b="1">
                <a:solidFill>
                  <a:srgbClr val="009EFF"/>
                </a:solidFill>
                <a:latin typeface="Calibri"/>
              </a:defRPr>
            </a:pPr>
          </a:p>
        </p:txBody>
      </p:sp>
      <p:sp>
        <p:nvSpPr>
          <p:cNvPr id="31" name="TextBox 30"/>
          <p:cNvSpPr txBox="1"/>
          <p:nvPr/>
        </p:nvSpPr>
        <p:spPr>
          <a:xfrm>
            <a:off x="822960" y="5760720"/>
            <a:ext cx="10241280" cy="457200"/>
          </a:xfrm>
          <a:prstGeom prst="rect">
            <a:avLst/>
          </a:prstGeom>
          <a:noFill/>
        </p:spPr>
        <p:txBody>
          <a:bodyPr wrap="square">
            <a:spAutoFit/>
          </a:bodyPr>
          <a:lstStyle/>
          <a:p>
            <a:pPr algn="ctr">
              <a:defRPr sz="1100" b="0">
                <a:solidFill>
                  <a:srgbClr val="009EFF"/>
                </a:solidFill>
                <a:latin typeface="Calibri"/>
              </a:defRPr>
            </a:pPr>
            <a:r>
              <a:t>Standards: RFC 9171 (BPv7)  •  RFC 4838 (DTN Arch)  •  RFC 5326 (LTP)  •  CCSDS 734.2-B-1 (Bundle Protocol)  •  CCSDS 734.3-B-1 (SABR)</a:t>
            </a:r>
          </a:p>
        </p:txBody>
      </p:sp>
    </p:spTree>
  </p:cSld>
  <p:transition spd="med" advClick="1">
    <p:push dir="l"/>
  </p:transition>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0E1A"/>
        </a:solidFill>
        <a:effectLst/>
      </p:bgPr>
    </p:bg>
    <p:spTree>
      <p:nvGrpSpPr>
        <p:cNvPr id="1" name=""/>
        <p:cNvGrpSpPr/>
        <p:nvPr/>
      </p:nvGrpSpPr>
      <p:grpSpPr/>
      <p:sp>
        <p:nvSpPr>
          <p:cNvPr id="2" name="TextBox 1"/>
          <p:cNvSpPr txBox="1"/>
          <p:nvPr/>
        </p:nvSpPr>
        <p:spPr>
          <a:xfrm>
            <a:off x="640080" y="274320"/>
            <a:ext cx="10058400" cy="640080"/>
          </a:xfrm>
          <a:prstGeom prst="rect">
            <a:avLst/>
          </a:prstGeom>
          <a:noFill/>
        </p:spPr>
        <p:txBody>
          <a:bodyPr wrap="square">
            <a:spAutoFit/>
          </a:bodyPr>
          <a:lstStyle/>
          <a:p>
            <a:pPr algn="l">
              <a:defRPr sz="3200" b="1">
                <a:solidFill>
                  <a:srgbClr val="FFFFFF"/>
                </a:solidFill>
                <a:latin typeface="Calibri"/>
              </a:defRPr>
            </a:pPr>
            <a:r>
              <a:t>BUNDLE PRIORITY CLASSES</a:t>
            </a:r>
          </a:p>
        </p:txBody>
      </p:sp>
      <p:sp>
        <p:nvSpPr>
          <p:cNvPr id="3" name="TextBox 2"/>
          <p:cNvSpPr txBox="1"/>
          <p:nvPr/>
        </p:nvSpPr>
        <p:spPr>
          <a:xfrm>
            <a:off x="640080" y="822960"/>
            <a:ext cx="10058400" cy="365760"/>
          </a:xfrm>
          <a:prstGeom prst="rect">
            <a:avLst/>
          </a:prstGeom>
          <a:noFill/>
        </p:spPr>
        <p:txBody>
          <a:bodyPr wrap="square">
            <a:spAutoFit/>
          </a:bodyPr>
          <a:lstStyle/>
          <a:p>
            <a:pPr algn="l">
              <a:defRPr sz="1600" b="0">
                <a:solidFill>
                  <a:srgbClr val="8B5CF6"/>
                </a:solidFill>
                <a:latin typeface="Calibri"/>
              </a:defRPr>
            </a:pPr>
            <a:r>
              <a:t>BPv7 QoS Tiers</a:t>
            </a:r>
          </a:p>
        </p:txBody>
      </p:sp>
      <p:sp>
        <p:nvSpPr>
          <p:cNvPr id="4" name="Rectangle 3"/>
          <p:cNvSpPr/>
          <p:nvPr/>
        </p:nvSpPr>
        <p:spPr>
          <a:xfrm>
            <a:off x="640080" y="1234440"/>
            <a:ext cx="2286000" cy="3810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bundle_priority_classes.png"/>
          <p:cNvPicPr>
            <a:picLocks noChangeAspect="1"/>
          </p:cNvPicPr>
          <p:nvPr/>
        </p:nvPicPr>
        <p:blipFill>
          <a:blip r:embed="rId2"/>
          <a:stretch>
            <a:fillRect/>
          </a:stretch>
        </p:blipFill>
        <p:spPr>
          <a:xfrm>
            <a:off x="640080" y="1371600"/>
            <a:ext cx="6400800" cy="4114800"/>
          </a:xfrm>
          <a:prstGeom prst="rect">
            <a:avLst/>
          </a:prstGeom>
        </p:spPr>
      </p:pic>
      <p:sp>
        <p:nvSpPr>
          <p:cNvPr id="6" name="TextBox 5"/>
          <p:cNvSpPr txBox="1"/>
          <p:nvPr/>
        </p:nvSpPr>
        <p:spPr>
          <a:xfrm>
            <a:off x="640080" y="5669280"/>
            <a:ext cx="10058400" cy="274320"/>
          </a:xfrm>
          <a:prstGeom prst="rect">
            <a:avLst/>
          </a:prstGeom>
          <a:noFill/>
        </p:spPr>
        <p:txBody>
          <a:bodyPr wrap="square">
            <a:spAutoFit/>
          </a:bodyPr>
          <a:lstStyle/>
          <a:p>
            <a:pPr algn="ctr">
              <a:defRPr sz="1000" b="0">
                <a:solidFill>
                  <a:srgbClr val="6B7B96"/>
                </a:solidFill>
                <a:latin typeface="Calibri"/>
              </a:defRPr>
            </a:pPr>
            <a:r>
              <a:t>Five priority levels from P0 Emergency to P4 Bulk ensure critical data arrives first</a:t>
            </a:r>
          </a:p>
        </p:txBody>
      </p:sp>
      <p:sp>
        <p:nvSpPr>
          <p:cNvPr id="7" name="TextBox 6"/>
          <p:cNvSpPr txBox="1"/>
          <p:nvPr/>
        </p:nvSpPr>
        <p:spPr>
          <a:xfrm>
            <a:off x="457200" y="6400800"/>
            <a:ext cx="4572000" cy="365760"/>
          </a:xfrm>
          <a:prstGeom prst="rect">
            <a:avLst/>
          </a:prstGeom>
          <a:noFill/>
        </p:spPr>
        <p:txBody>
          <a:bodyPr wrap="square">
            <a:spAutoFit/>
          </a:bodyPr>
          <a:lstStyle/>
          <a:p>
            <a:pPr algn="l">
              <a:defRPr sz="1000" b="0">
                <a:solidFill>
                  <a:srgbClr val="6B7B96"/>
                </a:solidFill>
                <a:latin typeface="Calibri"/>
              </a:defRPr>
            </a:pPr>
            <a:r>
              <a:t>AETHERIX — Interplanetary Communication Network</a:t>
            </a:r>
          </a:p>
        </p:txBody>
      </p:sp>
      <p:sp>
        <p:nvSpPr>
          <p:cNvPr id="8" name="TextBox 7"/>
          <p:cNvSpPr txBox="1"/>
          <p:nvPr/>
        </p:nvSpPr>
        <p:spPr>
          <a:xfrm>
            <a:off x="10058400" y="6400800"/>
            <a:ext cx="1828800" cy="365760"/>
          </a:xfrm>
          <a:prstGeom prst="rect">
            <a:avLst/>
          </a:prstGeom>
          <a:noFill/>
        </p:spPr>
        <p:txBody>
          <a:bodyPr wrap="square">
            <a:spAutoFit/>
          </a:bodyPr>
          <a:lstStyle/>
          <a:p>
            <a:pPr algn="r">
              <a:defRPr sz="1000" b="0">
                <a:solidFill>
                  <a:srgbClr val="6B7B96"/>
                </a:solidFill>
                <a:latin typeface="Calibri"/>
              </a:defRPr>
            </a:pPr>
            <a:r>
              <a:t>12 / 46</a:t>
            </a:r>
          </a:p>
        </p:txBody>
      </p:sp>
    </p:spTree>
  </p:cSld>
  <p:transition spd="med" advClick="1">
    <p:fade/>
  </p:transition>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0E1A"/>
        </a:solidFill>
        <a:effectLst/>
      </p:bgPr>
    </p:bg>
    <p:spTree>
      <p:nvGrpSpPr>
        <p:cNvPr id="1" name=""/>
        <p:cNvGrpSpPr/>
        <p:nvPr/>
      </p:nvGrpSpPr>
      <p:grpSpPr/>
      <p:sp>
        <p:nvSpPr>
          <p:cNvPr id="2" name="TextBox 1"/>
          <p:cNvSpPr txBox="1"/>
          <p:nvPr/>
        </p:nvSpPr>
        <p:spPr>
          <a:xfrm>
            <a:off x="548640" y="274320"/>
            <a:ext cx="8229600" cy="548640"/>
          </a:xfrm>
          <a:prstGeom prst="rect">
            <a:avLst/>
          </a:prstGeom>
          <a:noFill/>
        </p:spPr>
        <p:txBody>
          <a:bodyPr wrap="square">
            <a:spAutoFit/>
          </a:bodyPr>
          <a:lstStyle/>
          <a:p>
            <a:pPr algn="l">
              <a:defRPr sz="3200" b="1">
                <a:solidFill>
                  <a:srgbClr val="FFFFFF"/>
                </a:solidFill>
                <a:latin typeface="Calibri"/>
              </a:defRPr>
            </a:pPr>
            <a:r>
              <a:t>DTN STORE-AND-FORWARD</a:t>
            </a:r>
          </a:p>
        </p:txBody>
      </p:sp>
      <p:sp>
        <p:nvSpPr>
          <p:cNvPr id="3" name="TextBox 2"/>
          <p:cNvSpPr txBox="1"/>
          <p:nvPr/>
        </p:nvSpPr>
        <p:spPr>
          <a:xfrm>
            <a:off x="548640" y="822960"/>
            <a:ext cx="8229600" cy="365760"/>
          </a:xfrm>
          <a:prstGeom prst="rect">
            <a:avLst/>
          </a:prstGeom>
          <a:noFill/>
        </p:spPr>
        <p:txBody>
          <a:bodyPr wrap="square">
            <a:spAutoFit/>
          </a:bodyPr>
          <a:lstStyle/>
          <a:p>
            <a:pPr algn="l">
              <a:defRPr sz="1600" b="0">
                <a:solidFill>
                  <a:srgbClr val="00D4AA"/>
                </a:solidFill>
                <a:latin typeface="Calibri"/>
              </a:defRPr>
            </a:pPr>
            <a:r>
              <a:t>How It Works</a:t>
            </a:r>
          </a:p>
        </p:txBody>
      </p:sp>
      <p:sp>
        <p:nvSpPr>
          <p:cNvPr id="4" name="Rectangle 3"/>
          <p:cNvSpPr/>
          <p:nvPr/>
        </p:nvSpPr>
        <p:spPr>
          <a:xfrm>
            <a:off x="548640" y="1234440"/>
            <a:ext cx="2286000" cy="38100"/>
          </a:xfrm>
          <a:prstGeom prst="rect">
            <a:avLst/>
          </a:prstGeom>
          <a:solidFill>
            <a:srgbClr val="00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65760" y="1463040"/>
            <a:ext cx="4023360" cy="2560320"/>
          </a:xfrm>
          <a:prstGeom prst="roundRect">
            <a:avLst/>
          </a:prstGeom>
          <a:solidFill>
            <a:srgbClr val="141B2D"/>
          </a:solidFill>
          <a:ln w="12700">
            <a:solidFill>
              <a:srgbClr val="FF4D4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defRPr sz="1600" b="1">
                <a:solidFill>
                  <a:srgbClr val="009EFF"/>
                </a:solidFill>
                <a:latin typeface="Calibri"/>
              </a:defRPr>
            </a:pPr>
            <a:r>
              <a:t>TCP/IP in Space — Fails</a:t>
            </a:r>
          </a:p>
          <a:p>
            <a:pPr algn="l">
              <a:spcBef>
                <a:spcPts val="200"/>
              </a:spcBef>
              <a:spcAft>
                <a:spcPts val="200"/>
              </a:spcAft>
              <a:defRPr sz="1300" b="0">
                <a:solidFill>
                  <a:srgbClr val="B0B8CC"/>
                </a:solidFill>
                <a:latin typeface="Calibri"/>
              </a:defRPr>
            </a:pPr>
            <a:r>
              <a:t>Requires continuous end-to-end connection</a:t>
            </a:r>
          </a:p>
          <a:p>
            <a:pPr algn="l">
              <a:spcBef>
                <a:spcPts val="200"/>
              </a:spcBef>
              <a:spcAft>
                <a:spcPts val="200"/>
              </a:spcAft>
              <a:defRPr sz="1300" b="0">
                <a:solidFill>
                  <a:srgbClr val="B0B8CC"/>
                </a:solidFill>
                <a:latin typeface="Calibri"/>
              </a:defRPr>
            </a:pPr>
            <a:r>
              <a:t>Round-trip time &gt; 40 minutes breaks ACKs</a:t>
            </a:r>
          </a:p>
          <a:p>
            <a:pPr algn="l">
              <a:spcBef>
                <a:spcPts val="200"/>
              </a:spcBef>
              <a:spcAft>
                <a:spcPts val="200"/>
              </a:spcAft>
              <a:defRPr sz="1300" b="0">
                <a:solidFill>
                  <a:srgbClr val="B0B8CC"/>
                </a:solidFill>
                <a:latin typeface="Calibri"/>
              </a:defRPr>
            </a:pPr>
            <a:r>
              <a:t>Packet loss triggers aggressive retransmission</a:t>
            </a:r>
          </a:p>
          <a:p>
            <a:pPr algn="l">
              <a:spcBef>
                <a:spcPts val="200"/>
              </a:spcBef>
              <a:spcAft>
                <a:spcPts val="200"/>
              </a:spcAft>
              <a:defRPr sz="1300" b="0">
                <a:solidFill>
                  <a:srgbClr val="B0B8CC"/>
                </a:solidFill>
                <a:latin typeface="Calibri"/>
              </a:defRPr>
            </a:pPr>
            <a:r>
              <a:t>Congestion control collapses at interplanetary scale</a:t>
            </a:r>
          </a:p>
        </p:txBody>
      </p:sp>
      <p:sp>
        <p:nvSpPr>
          <p:cNvPr id="6" name="Rounded Rectangle 5"/>
          <p:cNvSpPr/>
          <p:nvPr/>
        </p:nvSpPr>
        <p:spPr>
          <a:xfrm>
            <a:off x="4754880" y="1463040"/>
            <a:ext cx="4023360" cy="2560320"/>
          </a:xfrm>
          <a:prstGeom prst="roundRect">
            <a:avLst/>
          </a:prstGeom>
          <a:solidFill>
            <a:srgbClr val="141B2D"/>
          </a:solidFill>
          <a:ln w="12700">
            <a:solidFill>
              <a:srgbClr val="00D4A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defRPr sz="1600" b="1">
                <a:solidFill>
                  <a:srgbClr val="009EFF"/>
                </a:solidFill>
                <a:latin typeface="Calibri"/>
              </a:defRPr>
            </a:pPr>
            <a:r>
              <a:t>DTN Works</a:t>
            </a:r>
          </a:p>
          <a:p>
            <a:pPr algn="l">
              <a:spcBef>
                <a:spcPts val="200"/>
              </a:spcBef>
              <a:spcAft>
                <a:spcPts val="200"/>
              </a:spcAft>
              <a:defRPr sz="1300" b="0">
                <a:solidFill>
                  <a:srgbClr val="B0B8CC"/>
                </a:solidFill>
                <a:latin typeface="Calibri"/>
              </a:defRPr>
            </a:pPr>
            <a:r>
              <a:t>Store-and-forward: custody transfer at each hop</a:t>
            </a:r>
          </a:p>
          <a:p>
            <a:pPr algn="l">
              <a:spcBef>
                <a:spcPts val="200"/>
              </a:spcBef>
              <a:spcAft>
                <a:spcPts val="200"/>
              </a:spcAft>
              <a:defRPr sz="1300" b="0">
                <a:solidFill>
                  <a:srgbClr val="B0B8CC"/>
                </a:solidFill>
                <a:latin typeface="Calibri"/>
              </a:defRPr>
            </a:pPr>
            <a:r>
              <a:t>Bundle Protocol v7 (RFC 9171) — no end-to-end session</a:t>
            </a:r>
          </a:p>
          <a:p>
            <a:pPr algn="l">
              <a:spcBef>
                <a:spcPts val="200"/>
              </a:spcBef>
              <a:spcAft>
                <a:spcPts val="200"/>
              </a:spcAft>
              <a:defRPr sz="1300" b="0">
                <a:solidFill>
                  <a:srgbClr val="B0B8CC"/>
                </a:solidFill>
                <a:latin typeface="Calibri"/>
              </a:defRPr>
            </a:pPr>
            <a:r>
              <a:t>Opportunistic contacts exploited automatically</a:t>
            </a:r>
          </a:p>
          <a:p>
            <a:pPr algn="l">
              <a:spcBef>
                <a:spcPts val="200"/>
              </a:spcBef>
              <a:spcAft>
                <a:spcPts val="200"/>
              </a:spcAft>
              <a:defRPr sz="1300" b="0">
                <a:solidFill>
                  <a:srgbClr val="B0B8CC"/>
                </a:solidFill>
                <a:latin typeface="Calibri"/>
              </a:defRPr>
            </a:pPr>
            <a:r>
              <a:t>Tolerates hours-to-days of link disruption</a:t>
            </a:r>
          </a:p>
        </p:txBody>
      </p:sp>
      <p:sp>
        <p:nvSpPr>
          <p:cNvPr id="7" name="Rounded Rectangle 6"/>
          <p:cNvSpPr/>
          <p:nvPr/>
        </p:nvSpPr>
        <p:spPr>
          <a:xfrm>
            <a:off x="274320" y="4251960"/>
            <a:ext cx="2743200" cy="2377440"/>
          </a:xfrm>
          <a:prstGeom prst="roundRect">
            <a:avLst/>
          </a:prstGeom>
          <a:solidFill>
            <a:srgbClr val="141B2D"/>
          </a:solidFill>
          <a:ln w="12700">
            <a:solidFill>
              <a:srgbClr val="00D4A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defRPr sz="1600" b="1">
                <a:solidFill>
                  <a:srgbClr val="009EFF"/>
                </a:solidFill>
                <a:latin typeface="Calibri"/>
              </a:defRPr>
            </a:pPr>
            <a:r>
              <a:t>LTP (RFC 5326)</a:t>
            </a:r>
          </a:p>
          <a:p>
            <a:pPr algn="l">
              <a:spcBef>
                <a:spcPts val="200"/>
              </a:spcBef>
              <a:spcAft>
                <a:spcPts val="200"/>
              </a:spcAft>
              <a:defRPr sz="1300" b="0">
                <a:solidFill>
                  <a:srgbClr val="B0B8CC"/>
                </a:solidFill>
                <a:latin typeface="Calibri"/>
              </a:defRPr>
            </a:pPr>
            <a:r>
              <a:t>Licklider Transmission Protocol</a:t>
            </a:r>
          </a:p>
          <a:p>
            <a:pPr algn="l">
              <a:spcBef>
                <a:spcPts val="200"/>
              </a:spcBef>
              <a:spcAft>
                <a:spcPts val="200"/>
              </a:spcAft>
              <a:defRPr sz="1300" b="0">
                <a:solidFill>
                  <a:srgbClr val="B0B8CC"/>
                </a:solidFill>
                <a:latin typeface="Calibri"/>
              </a:defRPr>
            </a:pPr>
            <a:r>
              <a:t>RFC 5326 — deep-space links</a:t>
            </a:r>
          </a:p>
          <a:p>
            <a:pPr algn="l">
              <a:spcBef>
                <a:spcPts val="200"/>
              </a:spcBef>
              <a:spcAft>
                <a:spcPts val="200"/>
              </a:spcAft>
              <a:defRPr sz="1300" b="0">
                <a:solidFill>
                  <a:srgbClr val="B0B8CC"/>
                </a:solidFill>
                <a:latin typeface="Calibri"/>
              </a:defRPr>
            </a:pPr>
            <a:r>
              <a:t>Reliable segments + retransmission</a:t>
            </a:r>
          </a:p>
          <a:p>
            <a:pPr algn="l">
              <a:spcBef>
                <a:spcPts val="200"/>
              </a:spcBef>
              <a:spcAft>
                <a:spcPts val="200"/>
              </a:spcAft>
              <a:defRPr sz="1300" b="0">
                <a:solidFill>
                  <a:srgbClr val="B0B8CC"/>
                </a:solidFill>
                <a:latin typeface="Calibri"/>
              </a:defRPr>
            </a:pPr>
            <a:r>
              <a:t>Handles long light-time delays</a:t>
            </a:r>
          </a:p>
        </p:txBody>
      </p:sp>
      <p:sp>
        <p:nvSpPr>
          <p:cNvPr id="8" name="Rounded Rectangle 7"/>
          <p:cNvSpPr/>
          <p:nvPr/>
        </p:nvSpPr>
        <p:spPr>
          <a:xfrm>
            <a:off x="3200400" y="4251960"/>
            <a:ext cx="2743200" cy="2377440"/>
          </a:xfrm>
          <a:prstGeom prst="roundRect">
            <a:avLst/>
          </a:prstGeom>
          <a:solidFill>
            <a:srgbClr val="141B2D"/>
          </a:solidFill>
          <a:ln w="12700">
            <a:solidFill>
              <a:srgbClr val="2ECC71"/>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defRPr sz="1600" b="1">
                <a:solidFill>
                  <a:srgbClr val="009EFF"/>
                </a:solidFill>
                <a:latin typeface="Calibri"/>
              </a:defRPr>
            </a:pPr>
            <a:r>
              <a:t>TCPCL (RFC 7242)</a:t>
            </a:r>
          </a:p>
          <a:p>
            <a:pPr algn="l">
              <a:spcBef>
                <a:spcPts val="200"/>
              </a:spcBef>
              <a:spcAft>
                <a:spcPts val="200"/>
              </a:spcAft>
              <a:defRPr sz="1300" b="0">
                <a:solidFill>
                  <a:srgbClr val="B0B8CC"/>
                </a:solidFill>
                <a:latin typeface="Calibri"/>
              </a:defRPr>
            </a:pPr>
            <a:r>
              <a:t>TCP Convergence Layer</a:t>
            </a:r>
          </a:p>
          <a:p>
            <a:pPr algn="l">
              <a:spcBef>
                <a:spcPts val="200"/>
              </a:spcBef>
              <a:spcAft>
                <a:spcPts val="200"/>
              </a:spcAft>
              <a:defRPr sz="1300" b="0">
                <a:solidFill>
                  <a:srgbClr val="B0B8CC"/>
                </a:solidFill>
                <a:latin typeface="Calibri"/>
              </a:defRPr>
            </a:pPr>
            <a:r>
              <a:t>RFC 7242 — Earth segment</a:t>
            </a:r>
          </a:p>
          <a:p>
            <a:pPr algn="l">
              <a:spcBef>
                <a:spcPts val="200"/>
              </a:spcBef>
              <a:spcAft>
                <a:spcPts val="200"/>
              </a:spcAft>
              <a:defRPr sz="1300" b="0">
                <a:solidFill>
                  <a:srgbClr val="B0B8CC"/>
                </a:solidFill>
                <a:latin typeface="Calibri"/>
              </a:defRPr>
            </a:pPr>
            <a:r>
              <a:t>Session management over TCP</a:t>
            </a:r>
          </a:p>
          <a:p>
            <a:pPr algn="l">
              <a:spcBef>
                <a:spcPts val="200"/>
              </a:spcBef>
              <a:spcAft>
                <a:spcPts val="200"/>
              </a:spcAft>
              <a:defRPr sz="1300" b="0">
                <a:solidFill>
                  <a:srgbClr val="B0B8CC"/>
                </a:solidFill>
                <a:latin typeface="Calibri"/>
              </a:defRPr>
            </a:pPr>
            <a:r>
              <a:t>Reliable terrestrial backhaul</a:t>
            </a:r>
          </a:p>
        </p:txBody>
      </p:sp>
      <p:sp>
        <p:nvSpPr>
          <p:cNvPr id="9" name="Rounded Rectangle 8"/>
          <p:cNvSpPr/>
          <p:nvPr/>
        </p:nvSpPr>
        <p:spPr>
          <a:xfrm>
            <a:off x="6126480" y="4251960"/>
            <a:ext cx="2743200" cy="2377440"/>
          </a:xfrm>
          <a:prstGeom prst="roundRect">
            <a:avLst/>
          </a:prstGeom>
          <a:solidFill>
            <a:srgbClr val="141B2D"/>
          </a:solidFill>
          <a:ln w="12700">
            <a:solidFill>
              <a:srgbClr val="FF8C00"/>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defRPr sz="1600" b="1">
                <a:solidFill>
                  <a:srgbClr val="009EFF"/>
                </a:solidFill>
                <a:latin typeface="Calibri"/>
              </a:defRPr>
            </a:pPr>
            <a:r>
              <a:t>UDP-CL</a:t>
            </a:r>
          </a:p>
          <a:p>
            <a:pPr algn="l">
              <a:spcBef>
                <a:spcPts val="200"/>
              </a:spcBef>
              <a:spcAft>
                <a:spcPts val="200"/>
              </a:spcAft>
              <a:defRPr sz="1300" b="0">
                <a:solidFill>
                  <a:srgbClr val="B0B8CC"/>
                </a:solidFill>
                <a:latin typeface="Calibri"/>
              </a:defRPr>
            </a:pPr>
            <a:r>
              <a:t>UDP Convergence Layer</a:t>
            </a:r>
          </a:p>
          <a:p>
            <a:pPr algn="l">
              <a:spcBef>
                <a:spcPts val="200"/>
              </a:spcBef>
              <a:spcAft>
                <a:spcPts val="200"/>
              </a:spcAft>
              <a:defRPr sz="1300" b="0">
                <a:solidFill>
                  <a:srgbClr val="B0B8CC"/>
                </a:solidFill>
                <a:latin typeface="Calibri"/>
              </a:defRPr>
            </a:pPr>
            <a:r>
              <a:t>Optical inter-satellite links</a:t>
            </a:r>
          </a:p>
          <a:p>
            <a:pPr algn="l">
              <a:spcBef>
                <a:spcPts val="200"/>
              </a:spcBef>
              <a:spcAft>
                <a:spcPts val="200"/>
              </a:spcAft>
              <a:defRPr sz="1300" b="0">
                <a:solidFill>
                  <a:srgbClr val="B0B8CC"/>
                </a:solidFill>
                <a:latin typeface="Calibri"/>
              </a:defRPr>
            </a:pPr>
            <a:r>
              <a:t>Fragmentation + loss simulation</a:t>
            </a:r>
          </a:p>
          <a:p>
            <a:pPr algn="l">
              <a:spcBef>
                <a:spcPts val="200"/>
              </a:spcBef>
              <a:spcAft>
                <a:spcPts val="200"/>
              </a:spcAft>
              <a:defRPr sz="1300" b="0">
                <a:solidFill>
                  <a:srgbClr val="B0B8CC"/>
                </a:solidFill>
                <a:latin typeface="Calibri"/>
              </a:defRPr>
            </a:pPr>
            <a:r>
              <a:t>Low-latency mesh forwarding</a:t>
            </a:r>
          </a:p>
        </p:txBody>
      </p:sp>
      <p:sp>
        <p:nvSpPr>
          <p:cNvPr id="10" name="TextBox 9"/>
          <p:cNvSpPr txBox="1"/>
          <p:nvPr/>
        </p:nvSpPr>
        <p:spPr>
          <a:xfrm>
            <a:off x="457200" y="6400800"/>
            <a:ext cx="4572000" cy="365760"/>
          </a:xfrm>
          <a:prstGeom prst="rect">
            <a:avLst/>
          </a:prstGeom>
          <a:noFill/>
        </p:spPr>
        <p:txBody>
          <a:bodyPr wrap="square">
            <a:spAutoFit/>
          </a:bodyPr>
          <a:lstStyle/>
          <a:p>
            <a:pPr algn="l">
              <a:defRPr sz="1000" b="0">
                <a:solidFill>
                  <a:srgbClr val="6B7B96"/>
                </a:solidFill>
                <a:latin typeface="Calibri"/>
              </a:defRPr>
            </a:pPr>
            <a:r>
              <a:t>AETHERIX — Interplanetary Communication Network</a:t>
            </a:r>
          </a:p>
        </p:txBody>
      </p:sp>
      <p:sp>
        <p:nvSpPr>
          <p:cNvPr id="11" name="TextBox 10"/>
          <p:cNvSpPr txBox="1"/>
          <p:nvPr/>
        </p:nvSpPr>
        <p:spPr>
          <a:xfrm>
            <a:off x="10058400" y="6400800"/>
            <a:ext cx="1828800" cy="365760"/>
          </a:xfrm>
          <a:prstGeom prst="rect">
            <a:avLst/>
          </a:prstGeom>
          <a:noFill/>
        </p:spPr>
        <p:txBody>
          <a:bodyPr wrap="square">
            <a:spAutoFit/>
          </a:bodyPr>
          <a:lstStyle/>
          <a:p>
            <a:pPr algn="r">
              <a:defRPr sz="1000" b="0">
                <a:solidFill>
                  <a:srgbClr val="6B7B96"/>
                </a:solidFill>
                <a:latin typeface="Calibri"/>
              </a:defRPr>
            </a:pPr>
            <a:r>
              <a:t>13 / 46</a:t>
            </a:r>
          </a:p>
        </p:txBody>
      </p:sp>
    </p:spTree>
  </p:cSld>
  <p:transition spd="med" advClick="1">
    <p:fade/>
  </p:transition>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0E1A"/>
        </a:solidFill>
        <a:effectLst/>
      </p:bgPr>
    </p:bg>
    <p:spTree>
      <p:nvGrpSpPr>
        <p:cNvPr id="1" name=""/>
        <p:cNvGrpSpPr/>
        <p:nvPr/>
      </p:nvGrpSpPr>
      <p:grpSpPr/>
      <p:sp>
        <p:nvSpPr>
          <p:cNvPr id="2" name="TextBox 1"/>
          <p:cNvSpPr txBox="1"/>
          <p:nvPr/>
        </p:nvSpPr>
        <p:spPr>
          <a:xfrm>
            <a:off x="548640" y="274320"/>
            <a:ext cx="8229600" cy="548640"/>
          </a:xfrm>
          <a:prstGeom prst="rect">
            <a:avLst/>
          </a:prstGeom>
          <a:noFill/>
        </p:spPr>
        <p:txBody>
          <a:bodyPr wrap="square">
            <a:spAutoFit/>
          </a:bodyPr>
          <a:lstStyle/>
          <a:p>
            <a:pPr algn="l">
              <a:defRPr sz="3200" b="1">
                <a:solidFill>
                  <a:srgbClr val="FFFFFF"/>
                </a:solidFill>
                <a:latin typeface="Calibri"/>
              </a:defRPr>
            </a:pPr>
            <a:r>
              <a:t>NETWORK TOPOLOGY</a:t>
            </a:r>
          </a:p>
        </p:txBody>
      </p:sp>
      <p:sp>
        <p:nvSpPr>
          <p:cNvPr id="3" name="TextBox 2"/>
          <p:cNvSpPr txBox="1"/>
          <p:nvPr/>
        </p:nvSpPr>
        <p:spPr>
          <a:xfrm>
            <a:off x="548640" y="822960"/>
            <a:ext cx="8229600" cy="365760"/>
          </a:xfrm>
          <a:prstGeom prst="rect">
            <a:avLst/>
          </a:prstGeom>
          <a:noFill/>
        </p:spPr>
        <p:txBody>
          <a:bodyPr wrap="square">
            <a:spAutoFit/>
          </a:bodyPr>
          <a:lstStyle/>
          <a:p>
            <a:pPr algn="l">
              <a:defRPr sz="1600" b="0">
                <a:solidFill>
                  <a:srgbClr val="00D4AA"/>
                </a:solidFill>
                <a:latin typeface="Calibri"/>
              </a:defRPr>
            </a:pPr>
            <a:r>
              <a:t>241 Nodes, 5 Tiers</a:t>
            </a:r>
          </a:p>
        </p:txBody>
      </p:sp>
      <p:sp>
        <p:nvSpPr>
          <p:cNvPr id="4" name="Rectangle 3"/>
          <p:cNvSpPr/>
          <p:nvPr/>
        </p:nvSpPr>
        <p:spPr>
          <a:xfrm>
            <a:off x="548640" y="1234440"/>
            <a:ext cx="2286000" cy="38100"/>
          </a:xfrm>
          <a:prstGeom prst="rect">
            <a:avLst/>
          </a:prstGeom>
          <a:solidFill>
            <a:srgbClr val="00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1463040"/>
            <a:ext cx="73152" cy="594360"/>
          </a:xfrm>
          <a:prstGeom prst="rect">
            <a:avLst/>
          </a:prstGeom>
          <a:solidFill>
            <a:srgbClr val="00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38912" y="1463040"/>
            <a:ext cx="4480560" cy="594360"/>
          </a:xfrm>
          <a:prstGeom prst="rect">
            <a:avLst/>
          </a:prstGeom>
          <a:solidFill>
            <a:srgbClr val="141B2D"/>
          </a:solidFill>
          <a:ln w="12700">
            <a:solidFill>
              <a:srgbClr val="009EFF"/>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25400"/>
          <a:lstStyle/>
          <a:p>
            <a:pPr algn="ctr">
              <a:defRPr sz="1100" b="1">
                <a:solidFill>
                  <a:srgbClr val="FFFFFF"/>
                </a:solidFill>
              </a:defRPr>
            </a:pPr>
            <a:r>
              <a:t>T1  Earth Ground</a:t>
            </a:r>
          </a:p>
          <a:p>
            <a:pPr algn="l">
              <a:spcBef>
                <a:spcPts val="400"/>
              </a:spcBef>
              <a:spcAft>
                <a:spcPts val="400"/>
              </a:spcAft>
              <a:defRPr sz="800" b="0">
                <a:solidFill>
                  <a:srgbClr val="B0B8CC"/>
                </a:solidFill>
                <a:latin typeface="Calibri"/>
              </a:defRPr>
            </a:pPr>
            <a:r>
              <a:t>6 nodes — DSN stations: Goldstone, Madrid, Canberra</a:t>
            </a:r>
          </a:p>
        </p:txBody>
      </p:sp>
      <p:sp>
        <p:nvSpPr>
          <p:cNvPr id="7" name="Rectangle 6"/>
          <p:cNvSpPr/>
          <p:nvPr/>
        </p:nvSpPr>
        <p:spPr>
          <a:xfrm>
            <a:off x="365760" y="2176272"/>
            <a:ext cx="73152" cy="59436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8912" y="2176272"/>
            <a:ext cx="4480560" cy="594360"/>
          </a:xfrm>
          <a:prstGeom prst="rect">
            <a:avLst/>
          </a:prstGeom>
          <a:solidFill>
            <a:srgbClr val="141B2D"/>
          </a:solidFill>
          <a:ln w="127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25400"/>
          <a:lstStyle/>
          <a:p>
            <a:pPr algn="ctr">
              <a:defRPr sz="1100" b="1">
                <a:solidFill>
                  <a:srgbClr val="FFFFFF"/>
                </a:solidFill>
              </a:defRPr>
            </a:pPr>
            <a:r>
              <a:t>T2  Earth Orbital</a:t>
            </a:r>
          </a:p>
          <a:p>
            <a:pPr algn="l">
              <a:spcBef>
                <a:spcPts val="400"/>
              </a:spcBef>
              <a:spcAft>
                <a:spcPts val="400"/>
              </a:spcAft>
              <a:defRPr sz="800" b="0">
                <a:solidFill>
                  <a:srgbClr val="B0B8CC"/>
                </a:solidFill>
                <a:latin typeface="Calibri"/>
              </a:defRPr>
            </a:pPr>
            <a:r>
              <a:t>51 nodes — GEO relays + 48 LEO laser constellation</a:t>
            </a:r>
          </a:p>
        </p:txBody>
      </p:sp>
      <p:sp>
        <p:nvSpPr>
          <p:cNvPr id="9" name="Rectangle 8"/>
          <p:cNvSpPr/>
          <p:nvPr/>
        </p:nvSpPr>
        <p:spPr>
          <a:xfrm>
            <a:off x="365760" y="2889504"/>
            <a:ext cx="73152" cy="594360"/>
          </a:xfrm>
          <a:prstGeom prst="rect">
            <a:avLst/>
          </a:prstGeom>
          <a:solidFill>
            <a:srgbClr val="FF8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8912" y="2889504"/>
            <a:ext cx="4480560" cy="594360"/>
          </a:xfrm>
          <a:prstGeom prst="rect">
            <a:avLst/>
          </a:prstGeom>
          <a:solidFill>
            <a:srgbClr val="141B2D"/>
          </a:solidFill>
          <a:ln w="12700">
            <a:solidFill>
              <a:srgbClr val="FF8C00"/>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25400"/>
          <a:lstStyle/>
          <a:p>
            <a:pPr algn="ctr">
              <a:defRPr sz="1100" b="1">
                <a:solidFill>
                  <a:srgbClr val="FFFFFF"/>
                </a:solidFill>
              </a:defRPr>
            </a:pPr>
            <a:r>
              <a:t>T3  Deep Space Transit</a:t>
            </a:r>
          </a:p>
          <a:p>
            <a:pPr algn="l">
              <a:spcBef>
                <a:spcPts val="400"/>
              </a:spcBef>
              <a:spcAft>
                <a:spcPts val="400"/>
              </a:spcAft>
              <a:defRPr sz="800" b="0">
                <a:solidFill>
                  <a:srgbClr val="B0B8CC"/>
                </a:solidFill>
                <a:latin typeface="Calibri"/>
              </a:defRPr>
            </a:pPr>
            <a:r>
              <a:t>4 nodes — Lagrange point relays (ES-L4, ES-L5)</a:t>
            </a:r>
          </a:p>
        </p:txBody>
      </p:sp>
      <p:sp>
        <p:nvSpPr>
          <p:cNvPr id="11" name="Rectangle 10"/>
          <p:cNvSpPr/>
          <p:nvPr/>
        </p:nvSpPr>
        <p:spPr>
          <a:xfrm>
            <a:off x="365760" y="3602736"/>
            <a:ext cx="73152" cy="594360"/>
          </a:xfrm>
          <a:prstGeom prst="rect">
            <a:avLst/>
          </a:prstGeom>
          <a:solidFill>
            <a:srgbClr val="FF4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8912" y="3602736"/>
            <a:ext cx="4480560" cy="594360"/>
          </a:xfrm>
          <a:prstGeom prst="rect">
            <a:avLst/>
          </a:prstGeom>
          <a:solidFill>
            <a:srgbClr val="141B2D"/>
          </a:solidFill>
          <a:ln w="12700">
            <a:solidFill>
              <a:srgbClr val="FF4D4D"/>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25400"/>
          <a:lstStyle/>
          <a:p>
            <a:pPr algn="ctr">
              <a:defRPr sz="1100" b="1">
                <a:solidFill>
                  <a:srgbClr val="FFFFFF"/>
                </a:solidFill>
              </a:defRPr>
            </a:pPr>
            <a:r>
              <a:t>T4  Mars Orbital</a:t>
            </a:r>
          </a:p>
          <a:p>
            <a:pPr algn="l">
              <a:spcBef>
                <a:spcPts val="400"/>
              </a:spcBef>
              <a:spcAft>
                <a:spcPts val="400"/>
              </a:spcAft>
              <a:defRPr sz="800" b="0">
                <a:solidFill>
                  <a:srgbClr val="B0B8CC"/>
                </a:solidFill>
                <a:latin typeface="Calibri"/>
              </a:defRPr>
            </a:pPr>
            <a:r>
              <a:t>4 nodes — Areostationary + polar orbit relays</a:t>
            </a:r>
          </a:p>
        </p:txBody>
      </p:sp>
      <p:sp>
        <p:nvSpPr>
          <p:cNvPr id="13" name="Rectangle 12"/>
          <p:cNvSpPr/>
          <p:nvPr/>
        </p:nvSpPr>
        <p:spPr>
          <a:xfrm>
            <a:off x="365760" y="4315968"/>
            <a:ext cx="73152" cy="594360"/>
          </a:xfrm>
          <a:prstGeom prst="rect">
            <a:avLst/>
          </a:prstGeom>
          <a:solidFill>
            <a:srgbClr val="FFD9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8912" y="4315968"/>
            <a:ext cx="4480560" cy="594360"/>
          </a:xfrm>
          <a:prstGeom prst="rect">
            <a:avLst/>
          </a:prstGeom>
          <a:solidFill>
            <a:srgbClr val="141B2D"/>
          </a:solidFill>
          <a:ln w="12700">
            <a:solidFill>
              <a:srgbClr val="FFD93D"/>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25400"/>
          <a:lstStyle/>
          <a:p>
            <a:pPr algn="ctr">
              <a:defRPr sz="1100" b="1">
                <a:solidFill>
                  <a:srgbClr val="FFFFFF"/>
                </a:solidFill>
              </a:defRPr>
            </a:pPr>
            <a:r>
              <a:t>T5  Mars Surface</a:t>
            </a:r>
          </a:p>
          <a:p>
            <a:pPr algn="l">
              <a:spcBef>
                <a:spcPts val="400"/>
              </a:spcBef>
              <a:spcAft>
                <a:spcPts val="400"/>
              </a:spcAft>
              <a:defRPr sz="800" b="0">
                <a:solidFill>
                  <a:srgbClr val="B0B8CC"/>
                </a:solidFill>
                <a:latin typeface="Calibri"/>
              </a:defRPr>
            </a:pPr>
            <a:r>
              <a:t>176 nodes — Bases, rovers, drones, sensor networks</a:t>
            </a:r>
          </a:p>
        </p:txBody>
      </p:sp>
      <p:pic>
        <p:nvPicPr>
          <p:cNvPr id="15" name="Picture 14" descr="5tier_network.png"/>
          <p:cNvPicPr>
            <a:picLocks noChangeAspect="1"/>
          </p:cNvPicPr>
          <p:nvPr/>
        </p:nvPicPr>
        <p:blipFill>
          <a:blip r:embed="rId2"/>
          <a:stretch>
            <a:fillRect/>
          </a:stretch>
        </p:blipFill>
        <p:spPr>
          <a:xfrm>
            <a:off x="5120640" y="1371600"/>
            <a:ext cx="3840480" cy="3200400"/>
          </a:xfrm>
          <a:prstGeom prst="rect">
            <a:avLst/>
          </a:prstGeom>
        </p:spPr>
      </p:pic>
      <p:sp>
        <p:nvSpPr>
          <p:cNvPr id="16" name="Rounded Rectangle 15"/>
          <p:cNvSpPr/>
          <p:nvPr/>
        </p:nvSpPr>
        <p:spPr>
          <a:xfrm>
            <a:off x="365760" y="5212080"/>
            <a:ext cx="8412480" cy="594360"/>
          </a:xfrm>
          <a:prstGeom prst="roundRect">
            <a:avLst/>
          </a:prstGeom>
          <a:solidFill>
            <a:srgbClr val="141B2D"/>
          </a:solidFill>
          <a:ln w="12700">
            <a:solidFill>
              <a:srgbClr val="009EFF"/>
            </a:solidFill>
          </a:ln>
          <a:effectLst/>
        </p:spPr>
        <p:style>
          <a:lnRef idx="1">
            <a:schemeClr val="accent1"/>
          </a:lnRef>
          <a:fillRef idx="3">
            <a:schemeClr val="accent1"/>
          </a:fillRef>
          <a:effectRef idx="2">
            <a:schemeClr val="accent1"/>
          </a:effectRef>
          <a:fontRef idx="minor">
            <a:schemeClr val="lt1"/>
          </a:fontRef>
        </p:style>
        <p:txBody>
          <a:bodyPr rtlCol="0" anchor="ctr" wrap="square" lIns="152400"/>
          <a:lstStyle/>
          <a:p>
            <a:pPr algn="ctr">
              <a:defRPr sz="1100">
                <a:solidFill>
                  <a:srgbClr val="00D4AA"/>
                </a:solidFill>
              </a:defRPr>
            </a:pPr>
            <a:r>
              <a:t>Multiple redundant paths · No single point of failure · Lagrange relays for conjunction coverage</a:t>
            </a:r>
          </a:p>
        </p:txBody>
      </p:sp>
      <p:sp>
        <p:nvSpPr>
          <p:cNvPr id="17" name="TextBox 16"/>
          <p:cNvSpPr txBox="1"/>
          <p:nvPr/>
        </p:nvSpPr>
        <p:spPr>
          <a:xfrm>
            <a:off x="457200" y="6400800"/>
            <a:ext cx="4572000" cy="365760"/>
          </a:xfrm>
          <a:prstGeom prst="rect">
            <a:avLst/>
          </a:prstGeom>
          <a:noFill/>
        </p:spPr>
        <p:txBody>
          <a:bodyPr wrap="square">
            <a:spAutoFit/>
          </a:bodyPr>
          <a:lstStyle/>
          <a:p>
            <a:pPr algn="l">
              <a:defRPr sz="1000" b="0">
                <a:solidFill>
                  <a:srgbClr val="6B7B96"/>
                </a:solidFill>
                <a:latin typeface="Calibri"/>
              </a:defRPr>
            </a:pPr>
            <a:r>
              <a:t>AETHERIX — Interplanetary Communication Network</a:t>
            </a:r>
          </a:p>
        </p:txBody>
      </p:sp>
      <p:sp>
        <p:nvSpPr>
          <p:cNvPr id="18" name="TextBox 17"/>
          <p:cNvSpPr txBox="1"/>
          <p:nvPr/>
        </p:nvSpPr>
        <p:spPr>
          <a:xfrm>
            <a:off x="10058400" y="6400800"/>
            <a:ext cx="1828800" cy="365760"/>
          </a:xfrm>
          <a:prstGeom prst="rect">
            <a:avLst/>
          </a:prstGeom>
          <a:noFill/>
        </p:spPr>
        <p:txBody>
          <a:bodyPr wrap="square">
            <a:spAutoFit/>
          </a:bodyPr>
          <a:lstStyle/>
          <a:p>
            <a:pPr algn="r">
              <a:defRPr sz="1000" b="0">
                <a:solidFill>
                  <a:srgbClr val="6B7B96"/>
                </a:solidFill>
                <a:latin typeface="Calibri"/>
              </a:defRPr>
            </a:pPr>
            <a:r>
              <a:t>14 / 46</a:t>
            </a:r>
          </a:p>
        </p:txBody>
      </p:sp>
    </p:spTree>
  </p:cSld>
  <p:transition spd="med" advClick="1">
    <p:push dir="l"/>
  </p:transition>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0E1A"/>
        </a:solidFill>
        <a:effectLst/>
      </p:bgPr>
    </p:bg>
    <p:spTree>
      <p:nvGrpSpPr>
        <p:cNvPr id="1" name=""/>
        <p:cNvGrpSpPr/>
        <p:nvPr/>
      </p:nvGrpSpPr>
      <p:grpSpPr/>
      <p:sp>
        <p:nvSpPr>
          <p:cNvPr id="2" name="TextBox 1"/>
          <p:cNvSpPr txBox="1"/>
          <p:nvPr/>
        </p:nvSpPr>
        <p:spPr>
          <a:xfrm>
            <a:off x="548640" y="274320"/>
            <a:ext cx="8229600" cy="548640"/>
          </a:xfrm>
          <a:prstGeom prst="rect">
            <a:avLst/>
          </a:prstGeom>
          <a:noFill/>
        </p:spPr>
        <p:txBody>
          <a:bodyPr wrap="square">
            <a:spAutoFit/>
          </a:bodyPr>
          <a:lstStyle/>
          <a:p>
            <a:pPr algn="l">
              <a:defRPr sz="3200" b="1">
                <a:solidFill>
                  <a:srgbClr val="FFFFFF"/>
                </a:solidFill>
                <a:latin typeface="Calibri"/>
              </a:defRPr>
            </a:pPr>
            <a:r>
              <a:t>5-TIER NETWORK DIAGRAM</a:t>
            </a:r>
          </a:p>
        </p:txBody>
      </p:sp>
      <p:sp>
        <p:nvSpPr>
          <p:cNvPr id="3" name="Rectangle 2"/>
          <p:cNvSpPr/>
          <p:nvPr/>
        </p:nvSpPr>
        <p:spPr>
          <a:xfrm>
            <a:off x="548640" y="868680"/>
            <a:ext cx="2286000" cy="38100"/>
          </a:xfrm>
          <a:prstGeom prst="rect">
            <a:avLst/>
          </a:prstGeom>
          <a:solidFill>
            <a:srgbClr val="00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365760" y="1097280"/>
          <a:ext cx="8412480" cy="2103120"/>
        </p:xfrm>
        <a:graphic>
          <a:graphicData uri="http://schemas.openxmlformats.org/drawingml/2006/table">
            <a:tbl>
              <a:tblPr firstRow="1" bandRow="1">
                <a:tableStyleId>{5C22544A-7EE6-4342-B048-85BDC9FD1C3A}</a:tableStyleId>
              </a:tblPr>
              <a:tblGrid>
                <a:gridCol w="2804160"/>
                <a:gridCol w="2804160"/>
                <a:gridCol w="2804160"/>
              </a:tblGrid>
              <a:tr h="350520">
                <a:tc>
                  <a:txBody>
                    <a:bodyPr/>
                    <a:lstStyle/>
                    <a:p>
                      <a:pPr algn="ctr">
                        <a:defRPr b="1" sz="1200">
                          <a:solidFill>
                            <a:srgbClr val="FFFFFF"/>
                          </a:solidFill>
                          <a:latin typeface="Calibri"/>
                        </a:defRPr>
                      </a:pPr>
                      <a:r>
                        <a:t>Tier</a:t>
                      </a:r>
                    </a:p>
                  </a:txBody>
                  <a:tcPr anchor="ctr" marL="73152" marR="73152" marT="36576" marB="36576">
                    <a:solidFill>
                      <a:srgbClr val="009EFF"/>
                    </a:solidFill>
                  </a:tcPr>
                </a:tc>
                <a:tc>
                  <a:txBody>
                    <a:bodyPr/>
                    <a:lstStyle/>
                    <a:p>
                      <a:pPr algn="ctr">
                        <a:defRPr b="1" sz="1200">
                          <a:solidFill>
                            <a:srgbClr val="FFFFFF"/>
                          </a:solidFill>
                          <a:latin typeface="Calibri"/>
                        </a:defRPr>
                      </a:pPr>
                      <a:r>
                        <a:t>Nodes</a:t>
                      </a:r>
                    </a:p>
                  </a:txBody>
                  <a:tcPr anchor="ctr" marL="73152" marR="73152" marT="36576" marB="36576">
                    <a:solidFill>
                      <a:srgbClr val="009EFF"/>
                    </a:solidFill>
                  </a:tcPr>
                </a:tc>
                <a:tc>
                  <a:txBody>
                    <a:bodyPr/>
                    <a:lstStyle/>
                    <a:p>
                      <a:pPr algn="ctr">
                        <a:defRPr b="1" sz="1200">
                          <a:solidFill>
                            <a:srgbClr val="FFFFFF"/>
                          </a:solidFill>
                          <a:latin typeface="Calibri"/>
                        </a:defRPr>
                      </a:pPr>
                      <a:r>
                        <a:t>Description</a:t>
                      </a:r>
                    </a:p>
                  </a:txBody>
                  <a:tcPr anchor="ctr" marL="73152" marR="73152" marT="36576" marB="36576">
                    <a:solidFill>
                      <a:srgbClr val="009EFF"/>
                    </a:solidFill>
                  </a:tcPr>
                </a:tc>
              </a:tr>
              <a:tr h="350520">
                <a:tc>
                  <a:txBody>
                    <a:bodyPr/>
                    <a:lstStyle/>
                    <a:p>
                      <a:pPr>
                        <a:defRPr sz="1100">
                          <a:solidFill>
                            <a:srgbClr val="B0B8CC"/>
                          </a:solidFill>
                          <a:latin typeface="Calibri"/>
                        </a:defRPr>
                      </a:pPr>
                      <a:r>
                        <a:t>T1 — Earth Ground</a:t>
                      </a:r>
                    </a:p>
                  </a:txBody>
                  <a:tcPr anchor="ctr" marL="73152" marR="73152" marT="36576" marB="36576">
                    <a:solidFill>
                      <a:srgbClr val="141B2D"/>
                    </a:solidFill>
                  </a:tcPr>
                </a:tc>
                <a:tc>
                  <a:txBody>
                    <a:bodyPr/>
                    <a:lstStyle/>
                    <a:p>
                      <a:pPr>
                        <a:defRPr sz="1100">
                          <a:solidFill>
                            <a:srgbClr val="B0B8CC"/>
                          </a:solidFill>
                          <a:latin typeface="Calibri"/>
                        </a:defRPr>
                      </a:pPr>
                      <a:r>
                        <a:t>6</a:t>
                      </a:r>
                    </a:p>
                  </a:txBody>
                  <a:tcPr anchor="ctr" marL="73152" marR="73152" marT="36576" marB="36576">
                    <a:solidFill>
                      <a:srgbClr val="141B2D"/>
                    </a:solidFill>
                  </a:tcPr>
                </a:tc>
                <a:tc>
                  <a:txBody>
                    <a:bodyPr/>
                    <a:lstStyle/>
                    <a:p>
                      <a:pPr>
                        <a:defRPr sz="1100">
                          <a:solidFill>
                            <a:srgbClr val="B0B8CC"/>
                          </a:solidFill>
                          <a:latin typeface="Calibri"/>
                        </a:defRPr>
                      </a:pPr>
                      <a:r>
                        <a:t>DSN stations (Goldstone, Madrid, Canberra)</a:t>
                      </a:r>
                    </a:p>
                  </a:txBody>
                  <a:tcPr anchor="ctr" marL="73152" marR="73152" marT="36576" marB="36576">
                    <a:solidFill>
                      <a:srgbClr val="141B2D"/>
                    </a:solidFill>
                  </a:tcPr>
                </a:tc>
              </a:tr>
              <a:tr h="350520">
                <a:tc>
                  <a:txBody>
                    <a:bodyPr/>
                    <a:lstStyle/>
                    <a:p>
                      <a:pPr>
                        <a:defRPr sz="1100">
                          <a:solidFill>
                            <a:srgbClr val="B0B8CC"/>
                          </a:solidFill>
                          <a:latin typeface="Calibri"/>
                        </a:defRPr>
                      </a:pPr>
                      <a:r>
                        <a:t>T2 — Earth Orbital</a:t>
                      </a:r>
                    </a:p>
                  </a:txBody>
                  <a:tcPr anchor="ctr" marL="73152" marR="73152" marT="36576" marB="36576">
                    <a:solidFill>
                      <a:srgbClr val="182236"/>
                    </a:solidFill>
                  </a:tcPr>
                </a:tc>
                <a:tc>
                  <a:txBody>
                    <a:bodyPr/>
                    <a:lstStyle/>
                    <a:p>
                      <a:pPr>
                        <a:defRPr sz="1100">
                          <a:solidFill>
                            <a:srgbClr val="B0B8CC"/>
                          </a:solidFill>
                          <a:latin typeface="Calibri"/>
                        </a:defRPr>
                      </a:pPr>
                      <a:r>
                        <a:t>51</a:t>
                      </a:r>
                    </a:p>
                  </a:txBody>
                  <a:tcPr anchor="ctr" marL="73152" marR="73152" marT="36576" marB="36576">
                    <a:solidFill>
                      <a:srgbClr val="182236"/>
                    </a:solidFill>
                  </a:tcPr>
                </a:tc>
                <a:tc>
                  <a:txBody>
                    <a:bodyPr/>
                    <a:lstStyle/>
                    <a:p>
                      <a:pPr>
                        <a:defRPr sz="1100">
                          <a:solidFill>
                            <a:srgbClr val="B0B8CC"/>
                          </a:solidFill>
                          <a:latin typeface="Calibri"/>
                        </a:defRPr>
                      </a:pPr>
                      <a:r>
                        <a:t>3 GEO relays + 48 LEO laser satellites</a:t>
                      </a:r>
                    </a:p>
                  </a:txBody>
                  <a:tcPr anchor="ctr" marL="73152" marR="73152" marT="36576" marB="36576">
                    <a:solidFill>
                      <a:srgbClr val="182236"/>
                    </a:solidFill>
                  </a:tcPr>
                </a:tc>
              </a:tr>
              <a:tr h="350520">
                <a:tc>
                  <a:txBody>
                    <a:bodyPr/>
                    <a:lstStyle/>
                    <a:p>
                      <a:pPr>
                        <a:defRPr sz="1100">
                          <a:solidFill>
                            <a:srgbClr val="B0B8CC"/>
                          </a:solidFill>
                          <a:latin typeface="Calibri"/>
                        </a:defRPr>
                      </a:pPr>
                      <a:r>
                        <a:t>T3 — Deep Space</a:t>
                      </a:r>
                    </a:p>
                  </a:txBody>
                  <a:tcPr anchor="ctr" marL="73152" marR="73152" marT="36576" marB="36576">
                    <a:solidFill>
                      <a:srgbClr val="141B2D"/>
                    </a:solidFill>
                  </a:tcPr>
                </a:tc>
                <a:tc>
                  <a:txBody>
                    <a:bodyPr/>
                    <a:lstStyle/>
                    <a:p>
                      <a:pPr>
                        <a:defRPr sz="1100">
                          <a:solidFill>
                            <a:srgbClr val="B0B8CC"/>
                          </a:solidFill>
                          <a:latin typeface="Calibri"/>
                        </a:defRPr>
                      </a:pPr>
                      <a:r>
                        <a:t>4</a:t>
                      </a:r>
                    </a:p>
                  </a:txBody>
                  <a:tcPr anchor="ctr" marL="73152" marR="73152" marT="36576" marB="36576">
                    <a:solidFill>
                      <a:srgbClr val="141B2D"/>
                    </a:solidFill>
                  </a:tcPr>
                </a:tc>
                <a:tc>
                  <a:txBody>
                    <a:bodyPr/>
                    <a:lstStyle/>
                    <a:p>
                      <a:pPr>
                        <a:defRPr sz="1100">
                          <a:solidFill>
                            <a:srgbClr val="B0B8CC"/>
                          </a:solidFill>
                          <a:latin typeface="Calibri"/>
                        </a:defRPr>
                      </a:pPr>
                      <a:r>
                        <a:t>ES-L4, ES-L5 Lagrange point relays</a:t>
                      </a:r>
                    </a:p>
                  </a:txBody>
                  <a:tcPr anchor="ctr" marL="73152" marR="73152" marT="36576" marB="36576">
                    <a:solidFill>
                      <a:srgbClr val="141B2D"/>
                    </a:solidFill>
                  </a:tcPr>
                </a:tc>
              </a:tr>
              <a:tr h="350520">
                <a:tc>
                  <a:txBody>
                    <a:bodyPr/>
                    <a:lstStyle/>
                    <a:p>
                      <a:pPr>
                        <a:defRPr sz="1100">
                          <a:solidFill>
                            <a:srgbClr val="B0B8CC"/>
                          </a:solidFill>
                          <a:latin typeface="Calibri"/>
                        </a:defRPr>
                      </a:pPr>
                      <a:r>
                        <a:t>T4 — Mars Orbital</a:t>
                      </a:r>
                    </a:p>
                  </a:txBody>
                  <a:tcPr anchor="ctr" marL="73152" marR="73152" marT="36576" marB="36576">
                    <a:solidFill>
                      <a:srgbClr val="182236"/>
                    </a:solidFill>
                  </a:tcPr>
                </a:tc>
                <a:tc>
                  <a:txBody>
                    <a:bodyPr/>
                    <a:lstStyle/>
                    <a:p>
                      <a:pPr>
                        <a:defRPr sz="1100">
                          <a:solidFill>
                            <a:srgbClr val="B0B8CC"/>
                          </a:solidFill>
                          <a:latin typeface="Calibri"/>
                        </a:defRPr>
                      </a:pPr>
                      <a:r>
                        <a:t>4</a:t>
                      </a:r>
                    </a:p>
                  </a:txBody>
                  <a:tcPr anchor="ctr" marL="73152" marR="73152" marT="36576" marB="36576">
                    <a:solidFill>
                      <a:srgbClr val="182236"/>
                    </a:solidFill>
                  </a:tcPr>
                </a:tc>
                <a:tc>
                  <a:txBody>
                    <a:bodyPr/>
                    <a:lstStyle/>
                    <a:p>
                      <a:pPr>
                        <a:defRPr sz="1100">
                          <a:solidFill>
                            <a:srgbClr val="B0B8CC"/>
                          </a:solidFill>
                          <a:latin typeface="Calibri"/>
                        </a:defRPr>
                      </a:pPr>
                      <a:r>
                        <a:t>Areostationary relay + polar orbit relays</a:t>
                      </a:r>
                    </a:p>
                  </a:txBody>
                  <a:tcPr anchor="ctr" marL="73152" marR="73152" marT="36576" marB="36576">
                    <a:solidFill>
                      <a:srgbClr val="182236"/>
                    </a:solidFill>
                  </a:tcPr>
                </a:tc>
              </a:tr>
              <a:tr h="350520">
                <a:tc>
                  <a:txBody>
                    <a:bodyPr/>
                    <a:lstStyle/>
                    <a:p>
                      <a:pPr>
                        <a:defRPr sz="1100">
                          <a:solidFill>
                            <a:srgbClr val="B0B8CC"/>
                          </a:solidFill>
                          <a:latin typeface="Calibri"/>
                        </a:defRPr>
                      </a:pPr>
                      <a:r>
                        <a:t>T5 — Mars Surface</a:t>
                      </a:r>
                    </a:p>
                  </a:txBody>
                  <a:tcPr anchor="ctr" marL="73152" marR="73152" marT="36576" marB="36576">
                    <a:solidFill>
                      <a:srgbClr val="141B2D"/>
                    </a:solidFill>
                  </a:tcPr>
                </a:tc>
                <a:tc>
                  <a:txBody>
                    <a:bodyPr/>
                    <a:lstStyle/>
                    <a:p>
                      <a:pPr>
                        <a:defRPr sz="1100">
                          <a:solidFill>
                            <a:srgbClr val="B0B8CC"/>
                          </a:solidFill>
                          <a:latin typeface="Calibri"/>
                        </a:defRPr>
                      </a:pPr>
                      <a:r>
                        <a:t>176</a:t>
                      </a:r>
                    </a:p>
                  </a:txBody>
                  <a:tcPr anchor="ctr" marL="73152" marR="73152" marT="36576" marB="36576">
                    <a:solidFill>
                      <a:srgbClr val="141B2D"/>
                    </a:solidFill>
                  </a:tcPr>
                </a:tc>
                <a:tc>
                  <a:txBody>
                    <a:bodyPr/>
                    <a:lstStyle/>
                    <a:p>
                      <a:pPr>
                        <a:defRPr sz="1100">
                          <a:solidFill>
                            <a:srgbClr val="B0B8CC"/>
                          </a:solidFill>
                          <a:latin typeface="Calibri"/>
                        </a:defRPr>
                      </a:pPr>
                      <a:r>
                        <a:t>Habitats, rovers, drones, sensor networks</a:t>
                      </a:r>
                    </a:p>
                  </a:txBody>
                  <a:tcPr anchor="ctr" marL="73152" marR="73152" marT="36576" marB="36576">
                    <a:solidFill>
                      <a:srgbClr val="141B2D"/>
                    </a:solidFill>
                  </a:tcPr>
                </a:tc>
              </a:tr>
            </a:tbl>
          </a:graphicData>
        </a:graphic>
      </p:graphicFrame>
      <p:graphicFrame>
        <p:nvGraphicFramePr>
          <p:cNvPr id="5" name="Table 4"/>
          <p:cNvGraphicFramePr>
            <a:graphicFrameLocks noGrp="1"/>
          </p:cNvGraphicFramePr>
          <p:nvPr/>
        </p:nvGraphicFramePr>
        <p:xfrm>
          <a:off x="365760" y="3474720"/>
          <a:ext cx="8412480" cy="1737360"/>
        </p:xfrm>
        <a:graphic>
          <a:graphicData uri="http://schemas.openxmlformats.org/drawingml/2006/table">
            <a:tbl>
              <a:tblPr firstRow="1" bandRow="1">
                <a:tableStyleId>{5C22544A-7EE6-4342-B048-85BDC9FD1C3A}</a:tableStyleId>
              </a:tblPr>
              <a:tblGrid>
                <a:gridCol w="2804160"/>
                <a:gridCol w="2804160"/>
                <a:gridCol w="2804160"/>
              </a:tblGrid>
              <a:tr h="347472">
                <a:tc>
                  <a:txBody>
                    <a:bodyPr/>
                    <a:lstStyle/>
                    <a:p>
                      <a:pPr algn="ctr">
                        <a:defRPr b="1" sz="1200">
                          <a:solidFill>
                            <a:srgbClr val="FFFFFF"/>
                          </a:solidFill>
                          <a:latin typeface="Calibri"/>
                        </a:defRPr>
                      </a:pPr>
                      <a:r>
                        <a:t>Segment</a:t>
                      </a:r>
                    </a:p>
                  </a:txBody>
                  <a:tcPr anchor="ctr" marL="73152" marR="73152" marT="36576" marB="36576">
                    <a:solidFill>
                      <a:srgbClr val="009EFF"/>
                    </a:solidFill>
                  </a:tcPr>
                </a:tc>
                <a:tc>
                  <a:txBody>
                    <a:bodyPr/>
                    <a:lstStyle/>
                    <a:p>
                      <a:pPr algn="ctr">
                        <a:defRPr b="1" sz="1200">
                          <a:solidFill>
                            <a:srgbClr val="FFFFFF"/>
                          </a:solidFill>
                          <a:latin typeface="Calibri"/>
                        </a:defRPr>
                      </a:pPr>
                      <a:r>
                        <a:t>Data Rate</a:t>
                      </a:r>
                    </a:p>
                  </a:txBody>
                  <a:tcPr anchor="ctr" marL="73152" marR="73152" marT="36576" marB="36576">
                    <a:solidFill>
                      <a:srgbClr val="009EFF"/>
                    </a:solidFill>
                  </a:tcPr>
                </a:tc>
                <a:tc>
                  <a:txBody>
                    <a:bodyPr/>
                    <a:lstStyle/>
                    <a:p>
                      <a:pPr algn="ctr">
                        <a:defRPr b="1" sz="1200">
                          <a:solidFill>
                            <a:srgbClr val="FFFFFF"/>
                          </a:solidFill>
                          <a:latin typeface="Calibri"/>
                        </a:defRPr>
                      </a:pPr>
                      <a:r>
                        <a:t>Technology</a:t>
                      </a:r>
                    </a:p>
                  </a:txBody>
                  <a:tcPr anchor="ctr" marL="73152" marR="73152" marT="36576" marB="36576">
                    <a:solidFill>
                      <a:srgbClr val="009EFF"/>
                    </a:solidFill>
                  </a:tcPr>
                </a:tc>
              </a:tr>
              <a:tr h="347472">
                <a:tc>
                  <a:txBody>
                    <a:bodyPr/>
                    <a:lstStyle/>
                    <a:p>
                      <a:pPr>
                        <a:defRPr sz="1100">
                          <a:solidFill>
                            <a:srgbClr val="B0B8CC"/>
                          </a:solidFill>
                          <a:latin typeface="Calibri"/>
                        </a:defRPr>
                      </a:pPr>
                      <a:r>
                        <a:t>Earth ↔ Deep Space</a:t>
                      </a:r>
                    </a:p>
                  </a:txBody>
                  <a:tcPr anchor="ctr" marL="73152" marR="73152" marT="36576" marB="36576">
                    <a:solidFill>
                      <a:srgbClr val="141B2D"/>
                    </a:solidFill>
                  </a:tcPr>
                </a:tc>
                <a:tc>
                  <a:txBody>
                    <a:bodyPr/>
                    <a:lstStyle/>
                    <a:p>
                      <a:pPr>
                        <a:defRPr sz="1100">
                          <a:solidFill>
                            <a:srgbClr val="B0B8CC"/>
                          </a:solidFill>
                          <a:latin typeface="Calibri"/>
                        </a:defRPr>
                      </a:pPr>
                      <a:r>
                        <a:t>100 Mbps</a:t>
                      </a:r>
                    </a:p>
                  </a:txBody>
                  <a:tcPr anchor="ctr" marL="73152" marR="73152" marT="36576" marB="36576">
                    <a:solidFill>
                      <a:srgbClr val="141B2D"/>
                    </a:solidFill>
                  </a:tcPr>
                </a:tc>
                <a:tc>
                  <a:txBody>
                    <a:bodyPr/>
                    <a:lstStyle/>
                    <a:p>
                      <a:pPr>
                        <a:defRPr sz="1100">
                          <a:solidFill>
                            <a:srgbClr val="B0B8CC"/>
                          </a:solidFill>
                          <a:latin typeface="Calibri"/>
                        </a:defRPr>
                      </a:pPr>
                      <a:r>
                        <a:t>1550 nm optical laser</a:t>
                      </a:r>
                    </a:p>
                  </a:txBody>
                  <a:tcPr anchor="ctr" marL="73152" marR="73152" marT="36576" marB="36576">
                    <a:solidFill>
                      <a:srgbClr val="141B2D"/>
                    </a:solidFill>
                  </a:tcPr>
                </a:tc>
              </a:tr>
              <a:tr h="347472">
                <a:tc>
                  <a:txBody>
                    <a:bodyPr/>
                    <a:lstStyle/>
                    <a:p>
                      <a:pPr>
                        <a:defRPr sz="1100">
                          <a:solidFill>
                            <a:srgbClr val="B0B8CC"/>
                          </a:solidFill>
                          <a:latin typeface="Calibri"/>
                        </a:defRPr>
                      </a:pPr>
                      <a:r>
                        <a:t>Deep Space ↔ Mars</a:t>
                      </a:r>
                    </a:p>
                  </a:txBody>
                  <a:tcPr anchor="ctr" marL="73152" marR="73152" marT="36576" marB="36576">
                    <a:solidFill>
                      <a:srgbClr val="182236"/>
                    </a:solidFill>
                  </a:tcPr>
                </a:tc>
                <a:tc>
                  <a:txBody>
                    <a:bodyPr/>
                    <a:lstStyle/>
                    <a:p>
                      <a:pPr>
                        <a:defRPr sz="1100">
                          <a:solidFill>
                            <a:srgbClr val="B0B8CC"/>
                          </a:solidFill>
                          <a:latin typeface="Calibri"/>
                        </a:defRPr>
                      </a:pPr>
                      <a:r>
                        <a:t>2–200 Mbps</a:t>
                      </a:r>
                    </a:p>
                  </a:txBody>
                  <a:tcPr anchor="ctr" marL="73152" marR="73152" marT="36576" marB="36576">
                    <a:solidFill>
                      <a:srgbClr val="182236"/>
                    </a:solidFill>
                  </a:tcPr>
                </a:tc>
                <a:tc>
                  <a:txBody>
                    <a:bodyPr/>
                    <a:lstStyle/>
                    <a:p>
                      <a:pPr>
                        <a:defRPr sz="1100">
                          <a:solidFill>
                            <a:srgbClr val="B0B8CC"/>
                          </a:solidFill>
                          <a:latin typeface="Calibri"/>
                        </a:defRPr>
                      </a:pPr>
                      <a:r>
                        <a:t>Optical (distance-dependent)</a:t>
                      </a:r>
                    </a:p>
                  </a:txBody>
                  <a:tcPr anchor="ctr" marL="73152" marR="73152" marT="36576" marB="36576">
                    <a:solidFill>
                      <a:srgbClr val="182236"/>
                    </a:solidFill>
                  </a:tcPr>
                </a:tc>
              </a:tr>
              <a:tr h="347472">
                <a:tc>
                  <a:txBody>
                    <a:bodyPr/>
                    <a:lstStyle/>
                    <a:p>
                      <a:pPr>
                        <a:defRPr sz="1100">
                          <a:solidFill>
                            <a:srgbClr val="B0B8CC"/>
                          </a:solidFill>
                          <a:latin typeface="Calibri"/>
                        </a:defRPr>
                      </a:pPr>
                      <a:r>
                        <a:t>Mars Orbital ↔ Surface</a:t>
                      </a:r>
                    </a:p>
                  </a:txBody>
                  <a:tcPr anchor="ctr" marL="73152" marR="73152" marT="36576" marB="36576">
                    <a:solidFill>
                      <a:srgbClr val="141B2D"/>
                    </a:solidFill>
                  </a:tcPr>
                </a:tc>
                <a:tc>
                  <a:txBody>
                    <a:bodyPr/>
                    <a:lstStyle/>
                    <a:p>
                      <a:pPr>
                        <a:defRPr sz="1100">
                          <a:solidFill>
                            <a:srgbClr val="B0B8CC"/>
                          </a:solidFill>
                          <a:latin typeface="Calibri"/>
                        </a:defRPr>
                      </a:pPr>
                      <a:r>
                        <a:t>2 Mbps</a:t>
                      </a:r>
                    </a:p>
                  </a:txBody>
                  <a:tcPr anchor="ctr" marL="73152" marR="73152" marT="36576" marB="36576">
                    <a:solidFill>
                      <a:srgbClr val="141B2D"/>
                    </a:solidFill>
                  </a:tcPr>
                </a:tc>
                <a:tc>
                  <a:txBody>
                    <a:bodyPr/>
                    <a:lstStyle/>
                    <a:p>
                      <a:pPr>
                        <a:defRPr sz="1100">
                          <a:solidFill>
                            <a:srgbClr val="B0B8CC"/>
                          </a:solidFill>
                          <a:latin typeface="Calibri"/>
                        </a:defRPr>
                      </a:pPr>
                      <a:r>
                        <a:t>UHF S-band radio</a:t>
                      </a:r>
                    </a:p>
                  </a:txBody>
                  <a:tcPr anchor="ctr" marL="73152" marR="73152" marT="36576" marB="36576">
                    <a:solidFill>
                      <a:srgbClr val="141B2D"/>
                    </a:solidFill>
                  </a:tcPr>
                </a:tc>
              </a:tr>
              <a:tr h="347472">
                <a:tc>
                  <a:txBody>
                    <a:bodyPr/>
                    <a:lstStyle/>
                    <a:p>
                      <a:pPr>
                        <a:defRPr sz="1100">
                          <a:solidFill>
                            <a:srgbClr val="B0B8CC"/>
                          </a:solidFill>
                          <a:latin typeface="Calibri"/>
                        </a:defRPr>
                      </a:pPr>
                      <a:r>
                        <a:t>LEO Inter-Satellite</a:t>
                      </a:r>
                    </a:p>
                  </a:txBody>
                  <a:tcPr anchor="ctr" marL="73152" marR="73152" marT="36576" marB="36576">
                    <a:solidFill>
                      <a:srgbClr val="182236"/>
                    </a:solidFill>
                  </a:tcPr>
                </a:tc>
                <a:tc>
                  <a:txBody>
                    <a:bodyPr/>
                    <a:lstStyle/>
                    <a:p>
                      <a:pPr>
                        <a:defRPr sz="1100">
                          <a:solidFill>
                            <a:srgbClr val="B0B8CC"/>
                          </a:solidFill>
                          <a:latin typeface="Calibri"/>
                        </a:defRPr>
                      </a:pPr>
                      <a:r>
                        <a:t>10 Gbps</a:t>
                      </a:r>
                    </a:p>
                  </a:txBody>
                  <a:tcPr anchor="ctr" marL="73152" marR="73152" marT="36576" marB="36576">
                    <a:solidFill>
                      <a:srgbClr val="182236"/>
                    </a:solidFill>
                  </a:tcPr>
                </a:tc>
                <a:tc>
                  <a:txBody>
                    <a:bodyPr/>
                    <a:lstStyle/>
                    <a:p>
                      <a:pPr>
                        <a:defRPr sz="1100">
                          <a:solidFill>
                            <a:srgbClr val="B0B8CC"/>
                          </a:solidFill>
                          <a:latin typeface="Calibri"/>
                        </a:defRPr>
                      </a:pPr>
                      <a:r>
                        <a:t>Laser ISL mesh</a:t>
                      </a:r>
                    </a:p>
                  </a:txBody>
                  <a:tcPr anchor="ctr" marL="73152" marR="73152" marT="36576" marB="36576">
                    <a:solidFill>
                      <a:srgbClr val="182236"/>
                    </a:solidFill>
                  </a:tcPr>
                </a:tc>
              </a:tr>
            </a:tbl>
          </a:graphicData>
        </a:graphic>
      </p:graphicFrame>
      <p:sp>
        <p:nvSpPr>
          <p:cNvPr id="6" name="TextBox 5"/>
          <p:cNvSpPr txBox="1"/>
          <p:nvPr/>
        </p:nvSpPr>
        <p:spPr>
          <a:xfrm>
            <a:off x="457200" y="6400800"/>
            <a:ext cx="4572000" cy="365760"/>
          </a:xfrm>
          <a:prstGeom prst="rect">
            <a:avLst/>
          </a:prstGeom>
          <a:noFill/>
        </p:spPr>
        <p:txBody>
          <a:bodyPr wrap="square">
            <a:spAutoFit/>
          </a:bodyPr>
          <a:lstStyle/>
          <a:p>
            <a:pPr algn="l">
              <a:defRPr sz="1000" b="0">
                <a:solidFill>
                  <a:srgbClr val="6B7B96"/>
                </a:solidFill>
                <a:latin typeface="Calibri"/>
              </a:defRPr>
            </a:pPr>
            <a:r>
              <a:t>AETHERIX — Interplanetary Communication Network</a:t>
            </a:r>
          </a:p>
        </p:txBody>
      </p:sp>
      <p:sp>
        <p:nvSpPr>
          <p:cNvPr id="7" name="TextBox 6"/>
          <p:cNvSpPr txBox="1"/>
          <p:nvPr/>
        </p:nvSpPr>
        <p:spPr>
          <a:xfrm>
            <a:off x="10058400" y="6400800"/>
            <a:ext cx="1828800" cy="365760"/>
          </a:xfrm>
          <a:prstGeom prst="rect">
            <a:avLst/>
          </a:prstGeom>
          <a:noFill/>
        </p:spPr>
        <p:txBody>
          <a:bodyPr wrap="square">
            <a:spAutoFit/>
          </a:bodyPr>
          <a:lstStyle/>
          <a:p>
            <a:pPr algn="r">
              <a:defRPr sz="1000" b="0">
                <a:solidFill>
                  <a:srgbClr val="6B7B96"/>
                </a:solidFill>
                <a:latin typeface="Calibri"/>
              </a:defRPr>
            </a:pPr>
            <a:r>
              <a:t>15 / 46</a:t>
            </a:r>
          </a:p>
        </p:txBody>
      </p:sp>
    </p:spTree>
  </p:cSld>
  <p:transition spd="med" advClick="1">
    <p:wipe dir="d"/>
  </p:transition>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0E1A"/>
        </a:solidFill>
        <a:effectLst/>
      </p:bgPr>
    </p:bg>
    <p:spTree>
      <p:nvGrpSpPr>
        <p:cNvPr id="1" name=""/>
        <p:cNvGrpSpPr/>
        <p:nvPr/>
      </p:nvGrpSpPr>
      <p:grpSpPr/>
      <p:sp>
        <p:nvSpPr>
          <p:cNvPr id="2" name="TextBox 1"/>
          <p:cNvSpPr txBox="1"/>
          <p:nvPr/>
        </p:nvSpPr>
        <p:spPr>
          <a:xfrm>
            <a:off x="548640" y="274320"/>
            <a:ext cx="8229600" cy="548640"/>
          </a:xfrm>
          <a:prstGeom prst="rect">
            <a:avLst/>
          </a:prstGeom>
          <a:noFill/>
        </p:spPr>
        <p:txBody>
          <a:bodyPr wrap="square">
            <a:spAutoFit/>
          </a:bodyPr>
          <a:lstStyle/>
          <a:p>
            <a:pPr algn="l">
              <a:defRPr sz="3200" b="1">
                <a:solidFill>
                  <a:srgbClr val="FFFFFF"/>
                </a:solidFill>
                <a:latin typeface="Calibri"/>
              </a:defRPr>
            </a:pPr>
            <a:r>
              <a:t>NETWORK DIAGRAM</a:t>
            </a:r>
          </a:p>
        </p:txBody>
      </p:sp>
      <p:sp>
        <p:nvSpPr>
          <p:cNvPr id="3" name="Rectangle 2"/>
          <p:cNvSpPr/>
          <p:nvPr/>
        </p:nvSpPr>
        <p:spPr>
          <a:xfrm>
            <a:off x="548640" y="868680"/>
            <a:ext cx="2286000" cy="38100"/>
          </a:xfrm>
          <a:prstGeom prst="rect">
            <a:avLst/>
          </a:prstGeom>
          <a:solidFill>
            <a:srgbClr val="00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5tier_network.png"/>
          <p:cNvPicPr>
            <a:picLocks noChangeAspect="1"/>
          </p:cNvPicPr>
          <p:nvPr/>
        </p:nvPicPr>
        <p:blipFill>
          <a:blip r:embed="rId2"/>
          <a:stretch>
            <a:fillRect/>
          </a:stretch>
        </p:blipFill>
        <p:spPr>
          <a:xfrm>
            <a:off x="457200" y="1097280"/>
            <a:ext cx="8229600" cy="4846320"/>
          </a:xfrm>
          <a:prstGeom prst="rect">
            <a:avLst/>
          </a:prstGeom>
        </p:spPr>
      </p:pic>
      <p:sp>
        <p:nvSpPr>
          <p:cNvPr id="5" name="TextBox 4"/>
          <p:cNvSpPr txBox="1"/>
          <p:nvPr/>
        </p:nvSpPr>
        <p:spPr>
          <a:xfrm>
            <a:off x="457200" y="6400800"/>
            <a:ext cx="4572000" cy="365760"/>
          </a:xfrm>
          <a:prstGeom prst="rect">
            <a:avLst/>
          </a:prstGeom>
          <a:noFill/>
        </p:spPr>
        <p:txBody>
          <a:bodyPr wrap="square">
            <a:spAutoFit/>
          </a:bodyPr>
          <a:lstStyle/>
          <a:p>
            <a:pPr algn="l">
              <a:defRPr sz="1000" b="0">
                <a:solidFill>
                  <a:srgbClr val="6B7B96"/>
                </a:solidFill>
                <a:latin typeface="Calibri"/>
              </a:defRPr>
            </a:pPr>
            <a:r>
              <a:t>AETHERIX — Interplanetary Communication Network</a:t>
            </a:r>
          </a:p>
        </p:txBody>
      </p:sp>
      <p:sp>
        <p:nvSpPr>
          <p:cNvPr id="6" name="TextBox 5"/>
          <p:cNvSpPr txBox="1"/>
          <p:nvPr/>
        </p:nvSpPr>
        <p:spPr>
          <a:xfrm>
            <a:off x="10058400" y="6400800"/>
            <a:ext cx="1828800" cy="365760"/>
          </a:xfrm>
          <a:prstGeom prst="rect">
            <a:avLst/>
          </a:prstGeom>
          <a:noFill/>
        </p:spPr>
        <p:txBody>
          <a:bodyPr wrap="square">
            <a:spAutoFit/>
          </a:bodyPr>
          <a:lstStyle/>
          <a:p>
            <a:pPr algn="r">
              <a:defRPr sz="1000" b="0">
                <a:solidFill>
                  <a:srgbClr val="6B7B96"/>
                </a:solidFill>
                <a:latin typeface="Calibri"/>
              </a:defRPr>
            </a:pPr>
            <a:r>
              <a:t>16 / 46</a:t>
            </a:r>
          </a:p>
        </p:txBody>
      </p:sp>
    </p:spTree>
  </p:cSld>
  <p:transition spd="med" advClick="1">
    <p:cover dir="l"/>
  </p:transition>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0E1A"/>
        </a:solidFill>
        <a:effectLst/>
      </p:bgPr>
    </p:bg>
    <p:spTree>
      <p:nvGrpSpPr>
        <p:cNvPr id="1" name=""/>
        <p:cNvGrpSpPr/>
        <p:nvPr/>
      </p:nvGrpSpPr>
      <p:grpSpPr/>
      <p:sp>
        <p:nvSpPr>
          <p:cNvPr id="2" name="TextBox 1"/>
          <p:cNvSpPr txBox="1"/>
          <p:nvPr/>
        </p:nvSpPr>
        <p:spPr>
          <a:xfrm>
            <a:off x="640080" y="274320"/>
            <a:ext cx="10058400" cy="640080"/>
          </a:xfrm>
          <a:prstGeom prst="rect">
            <a:avLst/>
          </a:prstGeom>
          <a:noFill/>
        </p:spPr>
        <p:txBody>
          <a:bodyPr wrap="square">
            <a:spAutoFit/>
          </a:bodyPr>
          <a:lstStyle/>
          <a:p>
            <a:pPr algn="l">
              <a:defRPr sz="3200" b="1">
                <a:solidFill>
                  <a:srgbClr val="FFFFFF"/>
                </a:solidFill>
                <a:latin typeface="Calibri"/>
              </a:defRPr>
            </a:pPr>
            <a:r>
              <a:t>DSN COVERAGE</a:t>
            </a:r>
          </a:p>
        </p:txBody>
      </p:sp>
      <p:sp>
        <p:nvSpPr>
          <p:cNvPr id="3" name="TextBox 2"/>
          <p:cNvSpPr txBox="1"/>
          <p:nvPr/>
        </p:nvSpPr>
        <p:spPr>
          <a:xfrm>
            <a:off x="640080" y="822960"/>
            <a:ext cx="10058400" cy="365760"/>
          </a:xfrm>
          <a:prstGeom prst="rect">
            <a:avLst/>
          </a:prstGeom>
          <a:noFill/>
        </p:spPr>
        <p:txBody>
          <a:bodyPr wrap="square">
            <a:spAutoFit/>
          </a:bodyPr>
          <a:lstStyle/>
          <a:p>
            <a:pPr algn="l">
              <a:defRPr sz="1600" b="0">
                <a:solidFill>
                  <a:srgbClr val="009EFF"/>
                </a:solidFill>
                <a:latin typeface="Calibri"/>
              </a:defRPr>
            </a:pPr>
            <a:r>
              <a:t>Deep Space Network Ground Stations</a:t>
            </a:r>
          </a:p>
        </p:txBody>
      </p:sp>
      <p:sp>
        <p:nvSpPr>
          <p:cNvPr id="4" name="Rectangle 3"/>
          <p:cNvSpPr/>
          <p:nvPr/>
        </p:nvSpPr>
        <p:spPr>
          <a:xfrm>
            <a:off x="640080" y="1234440"/>
            <a:ext cx="2286000" cy="38100"/>
          </a:xfrm>
          <a:prstGeom prst="rect">
            <a:avLst/>
          </a:prstGeom>
          <a:solidFill>
            <a:srgbClr val="00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sn_coverage.png"/>
          <p:cNvPicPr>
            <a:picLocks noChangeAspect="1"/>
          </p:cNvPicPr>
          <p:nvPr/>
        </p:nvPicPr>
        <p:blipFill>
          <a:blip r:embed="rId2"/>
          <a:stretch>
            <a:fillRect/>
          </a:stretch>
        </p:blipFill>
        <p:spPr>
          <a:xfrm>
            <a:off x="640080" y="1371600"/>
            <a:ext cx="6400800" cy="4114800"/>
          </a:xfrm>
          <a:prstGeom prst="rect">
            <a:avLst/>
          </a:prstGeom>
        </p:spPr>
      </p:pic>
      <p:sp>
        <p:nvSpPr>
          <p:cNvPr id="6" name="TextBox 5"/>
          <p:cNvSpPr txBox="1"/>
          <p:nvPr/>
        </p:nvSpPr>
        <p:spPr>
          <a:xfrm>
            <a:off x="640080" y="5669280"/>
            <a:ext cx="10058400" cy="274320"/>
          </a:xfrm>
          <a:prstGeom prst="rect">
            <a:avLst/>
          </a:prstGeom>
          <a:noFill/>
        </p:spPr>
        <p:txBody>
          <a:bodyPr wrap="square">
            <a:spAutoFit/>
          </a:bodyPr>
          <a:lstStyle/>
          <a:p>
            <a:pPr algn="ctr">
              <a:defRPr sz="1000" b="0">
                <a:solidFill>
                  <a:srgbClr val="6B7B96"/>
                </a:solidFill>
                <a:latin typeface="Calibri"/>
              </a:defRPr>
            </a:pPr>
            <a:r>
              <a:t>Goldstone, Madrid, and Canberra provide 24/7 coverage with 120° spacing</a:t>
            </a:r>
          </a:p>
        </p:txBody>
      </p:sp>
      <p:sp>
        <p:nvSpPr>
          <p:cNvPr id="7" name="TextBox 6"/>
          <p:cNvSpPr txBox="1"/>
          <p:nvPr/>
        </p:nvSpPr>
        <p:spPr>
          <a:xfrm>
            <a:off x="457200" y="6400800"/>
            <a:ext cx="4572000" cy="365760"/>
          </a:xfrm>
          <a:prstGeom prst="rect">
            <a:avLst/>
          </a:prstGeom>
          <a:noFill/>
        </p:spPr>
        <p:txBody>
          <a:bodyPr wrap="square">
            <a:spAutoFit/>
          </a:bodyPr>
          <a:lstStyle/>
          <a:p>
            <a:pPr algn="l">
              <a:defRPr sz="1000" b="0">
                <a:solidFill>
                  <a:srgbClr val="6B7B96"/>
                </a:solidFill>
                <a:latin typeface="Calibri"/>
              </a:defRPr>
            </a:pPr>
            <a:r>
              <a:t>AETHERIX — Interplanetary Communication Network</a:t>
            </a:r>
          </a:p>
        </p:txBody>
      </p:sp>
      <p:sp>
        <p:nvSpPr>
          <p:cNvPr id="8" name="TextBox 7"/>
          <p:cNvSpPr txBox="1"/>
          <p:nvPr/>
        </p:nvSpPr>
        <p:spPr>
          <a:xfrm>
            <a:off x="10058400" y="6400800"/>
            <a:ext cx="1828800" cy="365760"/>
          </a:xfrm>
          <a:prstGeom prst="rect">
            <a:avLst/>
          </a:prstGeom>
          <a:noFill/>
        </p:spPr>
        <p:txBody>
          <a:bodyPr wrap="square">
            <a:spAutoFit/>
          </a:bodyPr>
          <a:lstStyle/>
          <a:p>
            <a:pPr algn="r">
              <a:defRPr sz="1000" b="0">
                <a:solidFill>
                  <a:srgbClr val="6B7B96"/>
                </a:solidFill>
                <a:latin typeface="Calibri"/>
              </a:defRPr>
            </a:pPr>
            <a:r>
              <a:t>17 / 46</a:t>
            </a:r>
          </a:p>
        </p:txBody>
      </p:sp>
    </p:spTree>
  </p:cSld>
  <p:transition spd="med" advClick="1">
    <p:fade/>
  </p:transition>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0E1A"/>
        </a:solidFill>
        <a:effectLst/>
      </p:bgPr>
    </p:bg>
    <p:spTree>
      <p:nvGrpSpPr>
        <p:cNvPr id="1" name=""/>
        <p:cNvGrpSpPr/>
        <p:nvPr/>
      </p:nvGrpSpPr>
      <p:grpSpPr/>
      <p:sp>
        <p:nvSpPr>
          <p:cNvPr id="2" name="TextBox 1"/>
          <p:cNvSpPr txBox="1"/>
          <p:nvPr/>
        </p:nvSpPr>
        <p:spPr>
          <a:xfrm>
            <a:off x="640080" y="274320"/>
            <a:ext cx="10058400" cy="640080"/>
          </a:xfrm>
          <a:prstGeom prst="rect">
            <a:avLst/>
          </a:prstGeom>
          <a:noFill/>
        </p:spPr>
        <p:txBody>
          <a:bodyPr wrap="square">
            <a:spAutoFit/>
          </a:bodyPr>
          <a:lstStyle/>
          <a:p>
            <a:pPr algn="l">
              <a:defRPr sz="3200" b="1">
                <a:solidFill>
                  <a:srgbClr val="FFFFFF"/>
                </a:solidFill>
                <a:latin typeface="Calibri"/>
              </a:defRPr>
            </a:pPr>
            <a:r>
              <a:t>ORBITAL POSITIONS</a:t>
            </a:r>
          </a:p>
        </p:txBody>
      </p:sp>
      <p:sp>
        <p:nvSpPr>
          <p:cNvPr id="3" name="TextBox 2"/>
          <p:cNvSpPr txBox="1"/>
          <p:nvPr/>
        </p:nvSpPr>
        <p:spPr>
          <a:xfrm>
            <a:off x="640080" y="822960"/>
            <a:ext cx="10058400" cy="365760"/>
          </a:xfrm>
          <a:prstGeom prst="rect">
            <a:avLst/>
          </a:prstGeom>
          <a:noFill/>
        </p:spPr>
        <p:txBody>
          <a:bodyPr wrap="square">
            <a:spAutoFit/>
          </a:bodyPr>
          <a:lstStyle/>
          <a:p>
            <a:pPr algn="l">
              <a:defRPr sz="1600" b="0">
                <a:solidFill>
                  <a:srgbClr val="FF8C00"/>
                </a:solidFill>
                <a:latin typeface="Calibri"/>
              </a:defRPr>
            </a:pPr>
            <a:r>
              <a:t>Key Relay Positions in the Network</a:t>
            </a:r>
          </a:p>
        </p:txBody>
      </p:sp>
      <p:sp>
        <p:nvSpPr>
          <p:cNvPr id="4" name="Rectangle 3"/>
          <p:cNvSpPr/>
          <p:nvPr/>
        </p:nvSpPr>
        <p:spPr>
          <a:xfrm>
            <a:off x="640080" y="1234440"/>
            <a:ext cx="2286000" cy="38100"/>
          </a:xfrm>
          <a:prstGeom prst="rect">
            <a:avLst/>
          </a:prstGeom>
          <a:solidFill>
            <a:srgbClr val="FF8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orbital_positions.png"/>
          <p:cNvPicPr>
            <a:picLocks noChangeAspect="1"/>
          </p:cNvPicPr>
          <p:nvPr/>
        </p:nvPicPr>
        <p:blipFill>
          <a:blip r:embed="rId2"/>
          <a:stretch>
            <a:fillRect/>
          </a:stretch>
        </p:blipFill>
        <p:spPr>
          <a:xfrm>
            <a:off x="640080" y="1371600"/>
            <a:ext cx="6400800" cy="4114800"/>
          </a:xfrm>
          <a:prstGeom prst="rect">
            <a:avLst/>
          </a:prstGeom>
        </p:spPr>
      </p:pic>
      <p:sp>
        <p:nvSpPr>
          <p:cNvPr id="6" name="TextBox 5"/>
          <p:cNvSpPr txBox="1"/>
          <p:nvPr/>
        </p:nvSpPr>
        <p:spPr>
          <a:xfrm>
            <a:off x="640080" y="5669280"/>
            <a:ext cx="10058400" cy="274320"/>
          </a:xfrm>
          <a:prstGeom prst="rect">
            <a:avLst/>
          </a:prstGeom>
          <a:noFill/>
        </p:spPr>
        <p:txBody>
          <a:bodyPr wrap="square">
            <a:spAutoFit/>
          </a:bodyPr>
          <a:lstStyle/>
          <a:p>
            <a:pPr algn="ctr">
              <a:defRPr sz="1000" b="0">
                <a:solidFill>
                  <a:srgbClr val="6B7B96"/>
                </a:solidFill>
                <a:latin typeface="Calibri"/>
              </a:defRPr>
            </a:pPr>
            <a:r>
              <a:t>Lagrange point relays at ES-L4 and ES-L5 maintain connectivity during conjunction</a:t>
            </a:r>
          </a:p>
        </p:txBody>
      </p:sp>
      <p:sp>
        <p:nvSpPr>
          <p:cNvPr id="7" name="TextBox 6"/>
          <p:cNvSpPr txBox="1"/>
          <p:nvPr/>
        </p:nvSpPr>
        <p:spPr>
          <a:xfrm>
            <a:off x="457200" y="6400800"/>
            <a:ext cx="4572000" cy="365760"/>
          </a:xfrm>
          <a:prstGeom prst="rect">
            <a:avLst/>
          </a:prstGeom>
          <a:noFill/>
        </p:spPr>
        <p:txBody>
          <a:bodyPr wrap="square">
            <a:spAutoFit/>
          </a:bodyPr>
          <a:lstStyle/>
          <a:p>
            <a:pPr algn="l">
              <a:defRPr sz="1000" b="0">
                <a:solidFill>
                  <a:srgbClr val="6B7B96"/>
                </a:solidFill>
                <a:latin typeface="Calibri"/>
              </a:defRPr>
            </a:pPr>
            <a:r>
              <a:t>AETHERIX — Interplanetary Communication Network</a:t>
            </a:r>
          </a:p>
        </p:txBody>
      </p:sp>
      <p:sp>
        <p:nvSpPr>
          <p:cNvPr id="8" name="TextBox 7"/>
          <p:cNvSpPr txBox="1"/>
          <p:nvPr/>
        </p:nvSpPr>
        <p:spPr>
          <a:xfrm>
            <a:off x="10058400" y="6400800"/>
            <a:ext cx="1828800" cy="365760"/>
          </a:xfrm>
          <a:prstGeom prst="rect">
            <a:avLst/>
          </a:prstGeom>
          <a:noFill/>
        </p:spPr>
        <p:txBody>
          <a:bodyPr wrap="square">
            <a:spAutoFit/>
          </a:bodyPr>
          <a:lstStyle/>
          <a:p>
            <a:pPr algn="r">
              <a:defRPr sz="1000" b="0">
                <a:solidFill>
                  <a:srgbClr val="6B7B96"/>
                </a:solidFill>
                <a:latin typeface="Calibri"/>
              </a:defRPr>
            </a:pPr>
            <a:r>
              <a:t>18 / 46</a:t>
            </a:r>
          </a:p>
        </p:txBody>
      </p:sp>
    </p:spTree>
  </p:cSld>
  <p:transition spd="med" advClick="1">
    <p:fade/>
  </p:transition>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0E1A"/>
        </a:solidFill>
        <a:effectLst/>
      </p:bgPr>
    </p:bg>
    <p:spTree>
      <p:nvGrpSpPr>
        <p:cNvPr id="1" name=""/>
        <p:cNvGrpSpPr/>
        <p:nvPr/>
      </p:nvGrpSpPr>
      <p:grpSpPr/>
      <p:sp>
        <p:nvSpPr>
          <p:cNvPr id="2" name="TextBox 1"/>
          <p:cNvSpPr txBox="1"/>
          <p:nvPr/>
        </p:nvSpPr>
        <p:spPr>
          <a:xfrm>
            <a:off x="548640" y="274320"/>
            <a:ext cx="8229600" cy="548640"/>
          </a:xfrm>
          <a:prstGeom prst="rect">
            <a:avLst/>
          </a:prstGeom>
          <a:noFill/>
        </p:spPr>
        <p:txBody>
          <a:bodyPr wrap="square">
            <a:spAutoFit/>
          </a:bodyPr>
          <a:lstStyle/>
          <a:p>
            <a:pPr algn="l">
              <a:defRPr sz="3200" b="1">
                <a:solidFill>
                  <a:srgbClr val="FFFFFF"/>
                </a:solidFill>
                <a:latin typeface="Calibri"/>
              </a:defRPr>
            </a:pPr>
            <a:r>
              <a:t>OPTICAL COMMUNICATIONS</a:t>
            </a:r>
          </a:p>
        </p:txBody>
      </p:sp>
      <p:sp>
        <p:nvSpPr>
          <p:cNvPr id="3" name="TextBox 2"/>
          <p:cNvSpPr txBox="1"/>
          <p:nvPr/>
        </p:nvSpPr>
        <p:spPr>
          <a:xfrm>
            <a:off x="548640" y="822960"/>
            <a:ext cx="8229600" cy="365760"/>
          </a:xfrm>
          <a:prstGeom prst="rect">
            <a:avLst/>
          </a:prstGeom>
          <a:noFill/>
        </p:spPr>
        <p:txBody>
          <a:bodyPr wrap="square">
            <a:spAutoFit/>
          </a:bodyPr>
          <a:lstStyle/>
          <a:p>
            <a:pPr algn="l">
              <a:defRPr sz="1600" b="0">
                <a:solidFill>
                  <a:srgbClr val="00D4AA"/>
                </a:solidFill>
                <a:latin typeface="Calibri"/>
              </a:defRPr>
            </a:pPr>
            <a:r>
              <a:t>10–100x Faster Than RF</a:t>
            </a:r>
          </a:p>
        </p:txBody>
      </p:sp>
      <p:sp>
        <p:nvSpPr>
          <p:cNvPr id="4" name="Rectangle 3"/>
          <p:cNvSpPr/>
          <p:nvPr/>
        </p:nvSpPr>
        <p:spPr>
          <a:xfrm>
            <a:off x="548640" y="1234440"/>
            <a:ext cx="2286000" cy="38100"/>
          </a:xfrm>
          <a:prstGeom prst="rect">
            <a:avLst/>
          </a:prstGeom>
          <a:solidFill>
            <a:srgbClr val="00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74320" y="1417320"/>
            <a:ext cx="2834640" cy="1097280"/>
          </a:xfrm>
          <a:prstGeom prst="roundRect">
            <a:avLst/>
          </a:prstGeom>
          <a:solidFill>
            <a:srgbClr val="141B2D"/>
          </a:solidFill>
          <a:ln w="12700">
            <a:solidFill>
              <a:srgbClr val="2ECC7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400" b="1">
                <a:solidFill>
                  <a:srgbClr val="2ECC71"/>
                </a:solidFill>
                <a:latin typeface="Calibri"/>
              </a:defRPr>
            </a:pPr>
            <a:r>
              <a:t>100–200</a:t>
            </a:r>
          </a:p>
          <a:p>
            <a:pPr algn="ctr">
              <a:spcBef>
                <a:spcPts val="200"/>
              </a:spcBef>
              <a:spcAft>
                <a:spcPts val="400"/>
              </a:spcAft>
              <a:defRPr sz="1000" b="0">
                <a:solidFill>
                  <a:srgbClr val="B0B8CC"/>
                </a:solidFill>
                <a:latin typeface="Calibri"/>
              </a:defRPr>
            </a:pPr>
            <a:r>
              <a:t>Mbps at closest approach</a:t>
            </a:r>
          </a:p>
        </p:txBody>
      </p:sp>
      <p:sp>
        <p:nvSpPr>
          <p:cNvPr id="6" name="Rounded Rectangle 5"/>
          <p:cNvSpPr/>
          <p:nvPr/>
        </p:nvSpPr>
        <p:spPr>
          <a:xfrm>
            <a:off x="3246120" y="1417320"/>
            <a:ext cx="2834640" cy="1097280"/>
          </a:xfrm>
          <a:prstGeom prst="roundRect">
            <a:avLst/>
          </a:prstGeom>
          <a:solidFill>
            <a:srgbClr val="141B2D"/>
          </a:solidFill>
          <a:ln w="12700">
            <a:solidFill>
              <a:srgbClr val="009E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400" b="1">
                <a:solidFill>
                  <a:srgbClr val="009EFF"/>
                </a:solidFill>
                <a:latin typeface="Calibri"/>
              </a:defRPr>
            </a:pPr>
            <a:r>
              <a:t>10–20</a:t>
            </a:r>
          </a:p>
          <a:p>
            <a:pPr algn="ctr">
              <a:spcBef>
                <a:spcPts val="200"/>
              </a:spcBef>
              <a:spcAft>
                <a:spcPts val="400"/>
              </a:spcAft>
              <a:defRPr sz="1000" b="0">
                <a:solidFill>
                  <a:srgbClr val="B0B8CC"/>
                </a:solidFill>
                <a:latin typeface="Calibri"/>
              </a:defRPr>
            </a:pPr>
            <a:r>
              <a:t>Mbps average distance</a:t>
            </a:r>
          </a:p>
        </p:txBody>
      </p:sp>
      <p:sp>
        <p:nvSpPr>
          <p:cNvPr id="7" name="Rounded Rectangle 6"/>
          <p:cNvSpPr/>
          <p:nvPr/>
        </p:nvSpPr>
        <p:spPr>
          <a:xfrm>
            <a:off x="6217920" y="1417320"/>
            <a:ext cx="2834640" cy="1097280"/>
          </a:xfrm>
          <a:prstGeom prst="roundRect">
            <a:avLst/>
          </a:prstGeom>
          <a:solidFill>
            <a:srgbClr val="141B2D"/>
          </a:solidFill>
          <a:ln w="12700">
            <a:solidFill>
              <a:srgbClr val="FF4D4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400" b="1">
                <a:solidFill>
                  <a:srgbClr val="FF4D4D"/>
                </a:solidFill>
                <a:latin typeface="Calibri"/>
              </a:defRPr>
            </a:pPr>
            <a:r>
              <a:t>2–5</a:t>
            </a:r>
          </a:p>
          <a:p>
            <a:pPr algn="ctr">
              <a:spcBef>
                <a:spcPts val="200"/>
              </a:spcBef>
              <a:spcAft>
                <a:spcPts val="400"/>
              </a:spcAft>
              <a:defRPr sz="1000" b="0">
                <a:solidFill>
                  <a:srgbClr val="B0B8CC"/>
                </a:solidFill>
                <a:latin typeface="Calibri"/>
              </a:defRPr>
            </a:pPr>
            <a:r>
              <a:t>Mbps at farthest point</a:t>
            </a:r>
          </a:p>
        </p:txBody>
      </p:sp>
      <p:sp>
        <p:nvSpPr>
          <p:cNvPr id="8" name="Rounded Rectangle 7"/>
          <p:cNvSpPr/>
          <p:nvPr/>
        </p:nvSpPr>
        <p:spPr>
          <a:xfrm>
            <a:off x="274320" y="2651760"/>
            <a:ext cx="4389120" cy="1645920"/>
          </a:xfrm>
          <a:prstGeom prst="roundRect">
            <a:avLst/>
          </a:prstGeom>
          <a:solidFill>
            <a:srgbClr val="141B2D"/>
          </a:solidFill>
          <a:ln w="12700">
            <a:solidFill>
              <a:srgbClr val="009EFF"/>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defRPr sz="1600" b="1">
                <a:solidFill>
                  <a:srgbClr val="009EFF"/>
                </a:solidFill>
                <a:latin typeface="Calibri"/>
              </a:defRPr>
            </a:pPr>
            <a:r>
              <a:t>Key Equations</a:t>
            </a:r>
          </a:p>
          <a:p>
            <a:pPr algn="l">
              <a:spcBef>
                <a:spcPts val="200"/>
              </a:spcBef>
              <a:spcAft>
                <a:spcPts val="200"/>
              </a:spcAft>
              <a:defRPr sz="1300" b="0">
                <a:solidFill>
                  <a:srgbClr val="B0B8CC"/>
                </a:solidFill>
                <a:latin typeface="Calibri"/>
              </a:defRPr>
            </a:pPr>
            <a:r>
              <a:t>FSPL = 20·log₁₀(4πd/λ)  — free-space path loss</a:t>
            </a:r>
          </a:p>
          <a:p>
            <a:pPr algn="l">
              <a:spcBef>
                <a:spcPts val="200"/>
              </a:spcBef>
              <a:spcAft>
                <a:spcPts val="200"/>
              </a:spcAft>
              <a:defRPr sz="1300" b="0">
                <a:solidFill>
                  <a:srgbClr val="B0B8CC"/>
                </a:solidFill>
                <a:latin typeface="Calibri"/>
              </a:defRPr>
            </a:pPr>
            <a:r>
              <a:t>Gain = 10·log₁₀(η·(πD/λ)²)  — antenna gain</a:t>
            </a:r>
          </a:p>
          <a:p>
            <a:pPr algn="l">
              <a:spcBef>
                <a:spcPts val="200"/>
              </a:spcBef>
              <a:spcAft>
                <a:spcPts val="200"/>
              </a:spcAft>
              <a:defRPr sz="1300" b="0">
                <a:solidFill>
                  <a:srgbClr val="B0B8CC"/>
                </a:solidFill>
                <a:latin typeface="Calibri"/>
              </a:defRPr>
            </a:pPr>
            <a:r>
              <a:t>Pr = Pt + Gt + Gr − FSPL  — received power</a:t>
            </a:r>
          </a:p>
        </p:txBody>
      </p:sp>
      <p:graphicFrame>
        <p:nvGraphicFramePr>
          <p:cNvPr id="9" name="Table 8"/>
          <p:cNvGraphicFramePr>
            <a:graphicFrameLocks noGrp="1"/>
          </p:cNvGraphicFramePr>
          <p:nvPr/>
        </p:nvGraphicFramePr>
        <p:xfrm>
          <a:off x="4846320" y="2651760"/>
          <a:ext cx="4023360" cy="1645920"/>
        </p:xfrm>
        <a:graphic>
          <a:graphicData uri="http://schemas.openxmlformats.org/drawingml/2006/table">
            <a:tbl>
              <a:tblPr firstRow="1" bandRow="1">
                <a:tableStyleId>{5C22544A-7EE6-4342-B048-85BDC9FD1C3A}</a:tableStyleId>
              </a:tblPr>
              <a:tblGrid>
                <a:gridCol w="2011680"/>
                <a:gridCol w="2011680"/>
              </a:tblGrid>
              <a:tr h="329184">
                <a:tc>
                  <a:txBody>
                    <a:bodyPr/>
                    <a:lstStyle/>
                    <a:p>
                      <a:pPr algn="ctr">
                        <a:defRPr b="1" sz="1200">
                          <a:solidFill>
                            <a:srgbClr val="FFFFFF"/>
                          </a:solidFill>
                          <a:latin typeface="Calibri"/>
                        </a:defRPr>
                      </a:pPr>
                      <a:r>
                        <a:t>Parameter</a:t>
                      </a:r>
                    </a:p>
                  </a:txBody>
                  <a:tcPr anchor="ctr" marL="73152" marR="73152" marT="36576" marB="36576">
                    <a:solidFill>
                      <a:srgbClr val="009EFF"/>
                    </a:solidFill>
                  </a:tcPr>
                </a:tc>
                <a:tc>
                  <a:txBody>
                    <a:bodyPr/>
                    <a:lstStyle/>
                    <a:p>
                      <a:pPr algn="ctr">
                        <a:defRPr b="1" sz="1200">
                          <a:solidFill>
                            <a:srgbClr val="FFFFFF"/>
                          </a:solidFill>
                          <a:latin typeface="Calibri"/>
                        </a:defRPr>
                      </a:pPr>
                      <a:r>
                        <a:t>Value</a:t>
                      </a:r>
                    </a:p>
                  </a:txBody>
                  <a:tcPr anchor="ctr" marL="73152" marR="73152" marT="36576" marB="36576">
                    <a:solidFill>
                      <a:srgbClr val="009EFF"/>
                    </a:solidFill>
                  </a:tcPr>
                </a:tc>
              </a:tr>
              <a:tr h="329184">
                <a:tc>
                  <a:txBody>
                    <a:bodyPr/>
                    <a:lstStyle/>
                    <a:p>
                      <a:pPr>
                        <a:defRPr sz="1100">
                          <a:solidFill>
                            <a:srgbClr val="B0B8CC"/>
                          </a:solidFill>
                          <a:latin typeface="Calibri"/>
                        </a:defRPr>
                      </a:pPr>
                      <a:r>
                        <a:t>Wavelength</a:t>
                      </a:r>
                    </a:p>
                  </a:txBody>
                  <a:tcPr anchor="ctr" marL="73152" marR="73152" marT="36576" marB="36576">
                    <a:solidFill>
                      <a:srgbClr val="141B2D"/>
                    </a:solidFill>
                  </a:tcPr>
                </a:tc>
                <a:tc>
                  <a:txBody>
                    <a:bodyPr/>
                    <a:lstStyle/>
                    <a:p>
                      <a:pPr>
                        <a:defRPr sz="1100">
                          <a:solidFill>
                            <a:srgbClr val="B0B8CC"/>
                          </a:solidFill>
                          <a:latin typeface="Calibri"/>
                        </a:defRPr>
                      </a:pPr>
                      <a:r>
                        <a:t>1550 nm</a:t>
                      </a:r>
                    </a:p>
                  </a:txBody>
                  <a:tcPr anchor="ctr" marL="73152" marR="73152" marT="36576" marB="36576">
                    <a:solidFill>
                      <a:srgbClr val="141B2D"/>
                    </a:solidFill>
                  </a:tcPr>
                </a:tc>
              </a:tr>
              <a:tr h="329184">
                <a:tc>
                  <a:txBody>
                    <a:bodyPr/>
                    <a:lstStyle/>
                    <a:p>
                      <a:pPr>
                        <a:defRPr sz="1100">
                          <a:solidFill>
                            <a:srgbClr val="B0B8CC"/>
                          </a:solidFill>
                          <a:latin typeface="Calibri"/>
                        </a:defRPr>
                      </a:pPr>
                      <a:r>
                        <a:t>Tx Power</a:t>
                      </a:r>
                    </a:p>
                  </a:txBody>
                  <a:tcPr anchor="ctr" marL="73152" marR="73152" marT="36576" marB="36576">
                    <a:solidFill>
                      <a:srgbClr val="182236"/>
                    </a:solidFill>
                  </a:tcPr>
                </a:tc>
                <a:tc>
                  <a:txBody>
                    <a:bodyPr/>
                    <a:lstStyle/>
                    <a:p>
                      <a:pPr>
                        <a:defRPr sz="1100">
                          <a:solidFill>
                            <a:srgbClr val="B0B8CC"/>
                          </a:solidFill>
                          <a:latin typeface="Calibri"/>
                        </a:defRPr>
                      </a:pPr>
                      <a:r>
                        <a:t>5 W</a:t>
                      </a:r>
                    </a:p>
                  </a:txBody>
                  <a:tcPr anchor="ctr" marL="73152" marR="73152" marT="36576" marB="36576">
                    <a:solidFill>
                      <a:srgbClr val="182236"/>
                    </a:solidFill>
                  </a:tcPr>
                </a:tc>
              </a:tr>
              <a:tr h="329184">
                <a:tc>
                  <a:txBody>
                    <a:bodyPr/>
                    <a:lstStyle/>
                    <a:p>
                      <a:pPr>
                        <a:defRPr sz="1100">
                          <a:solidFill>
                            <a:srgbClr val="B0B8CC"/>
                          </a:solidFill>
                          <a:latin typeface="Calibri"/>
                        </a:defRPr>
                      </a:pPr>
                      <a:r>
                        <a:t>Tx Aperture</a:t>
                      </a:r>
                    </a:p>
                  </a:txBody>
                  <a:tcPr anchor="ctr" marL="73152" marR="73152" marT="36576" marB="36576">
                    <a:solidFill>
                      <a:srgbClr val="141B2D"/>
                    </a:solidFill>
                  </a:tcPr>
                </a:tc>
                <a:tc>
                  <a:txBody>
                    <a:bodyPr/>
                    <a:lstStyle/>
                    <a:p>
                      <a:pPr>
                        <a:defRPr sz="1100">
                          <a:solidFill>
                            <a:srgbClr val="B0B8CC"/>
                          </a:solidFill>
                          <a:latin typeface="Calibri"/>
                        </a:defRPr>
                      </a:pPr>
                      <a:r>
                        <a:t>22 cm</a:t>
                      </a:r>
                    </a:p>
                  </a:txBody>
                  <a:tcPr anchor="ctr" marL="73152" marR="73152" marT="36576" marB="36576">
                    <a:solidFill>
                      <a:srgbClr val="141B2D"/>
                    </a:solidFill>
                  </a:tcPr>
                </a:tc>
              </a:tr>
              <a:tr h="329184">
                <a:tc>
                  <a:txBody>
                    <a:bodyPr/>
                    <a:lstStyle/>
                    <a:p>
                      <a:pPr>
                        <a:defRPr sz="1100">
                          <a:solidFill>
                            <a:srgbClr val="B0B8CC"/>
                          </a:solidFill>
                          <a:latin typeface="Calibri"/>
                        </a:defRPr>
                      </a:pPr>
                      <a:r>
                        <a:t>Rx Aperture</a:t>
                      </a:r>
                    </a:p>
                  </a:txBody>
                  <a:tcPr anchor="ctr" marL="73152" marR="73152" marT="36576" marB="36576">
                    <a:solidFill>
                      <a:srgbClr val="182236"/>
                    </a:solidFill>
                  </a:tcPr>
                </a:tc>
                <a:tc>
                  <a:txBody>
                    <a:bodyPr/>
                    <a:lstStyle/>
                    <a:p>
                      <a:pPr>
                        <a:defRPr sz="1100">
                          <a:solidFill>
                            <a:srgbClr val="B0B8CC"/>
                          </a:solidFill>
                          <a:latin typeface="Calibri"/>
                        </a:defRPr>
                      </a:pPr>
                      <a:r>
                        <a:t>1.0 m</a:t>
                      </a:r>
                    </a:p>
                  </a:txBody>
                  <a:tcPr anchor="ctr" marL="73152" marR="73152" marT="36576" marB="36576">
                    <a:solidFill>
                      <a:srgbClr val="182236"/>
                    </a:solidFill>
                  </a:tcPr>
                </a:tc>
              </a:tr>
            </a:tbl>
          </a:graphicData>
        </a:graphic>
      </p:graphicFrame>
      <p:sp>
        <p:nvSpPr>
          <p:cNvPr id="10" name="TextBox 9"/>
          <p:cNvSpPr txBox="1"/>
          <p:nvPr/>
        </p:nvSpPr>
        <p:spPr>
          <a:xfrm>
            <a:off x="457200" y="6400800"/>
            <a:ext cx="4572000" cy="365760"/>
          </a:xfrm>
          <a:prstGeom prst="rect">
            <a:avLst/>
          </a:prstGeom>
          <a:noFill/>
        </p:spPr>
        <p:txBody>
          <a:bodyPr wrap="square">
            <a:spAutoFit/>
          </a:bodyPr>
          <a:lstStyle/>
          <a:p>
            <a:pPr algn="l">
              <a:defRPr sz="1000" b="0">
                <a:solidFill>
                  <a:srgbClr val="6B7B96"/>
                </a:solidFill>
                <a:latin typeface="Calibri"/>
              </a:defRPr>
            </a:pPr>
            <a:r>
              <a:t>AETHERIX — Interplanetary Communication Network</a:t>
            </a:r>
          </a:p>
        </p:txBody>
      </p:sp>
      <p:sp>
        <p:nvSpPr>
          <p:cNvPr id="11" name="TextBox 10"/>
          <p:cNvSpPr txBox="1"/>
          <p:nvPr/>
        </p:nvSpPr>
        <p:spPr>
          <a:xfrm>
            <a:off x="10058400" y="6400800"/>
            <a:ext cx="1828800" cy="365760"/>
          </a:xfrm>
          <a:prstGeom prst="rect">
            <a:avLst/>
          </a:prstGeom>
          <a:noFill/>
        </p:spPr>
        <p:txBody>
          <a:bodyPr wrap="square">
            <a:spAutoFit/>
          </a:bodyPr>
          <a:lstStyle/>
          <a:p>
            <a:pPr algn="r">
              <a:defRPr sz="1000" b="0">
                <a:solidFill>
                  <a:srgbClr val="6B7B96"/>
                </a:solidFill>
                <a:latin typeface="Calibri"/>
              </a:defRPr>
            </a:pPr>
            <a:r>
              <a:t>19 / 46</a:t>
            </a:r>
          </a:p>
        </p:txBody>
      </p:sp>
    </p:spTree>
  </p:cSld>
  <p:transition spd="med" advClick="1">
    <p:fade/>
  </p:transition>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0E1A"/>
        </a:solidFill>
        <a:effectLst/>
      </p:bgPr>
    </p:bg>
    <p:spTree>
      <p:nvGrpSpPr>
        <p:cNvPr id="1" name=""/>
        <p:cNvGrpSpPr/>
        <p:nvPr/>
      </p:nvGrpSpPr>
      <p:grpSpPr/>
      <p:sp>
        <p:nvSpPr>
          <p:cNvPr id="2" name="TextBox 1"/>
          <p:cNvSpPr txBox="1"/>
          <p:nvPr/>
        </p:nvSpPr>
        <p:spPr>
          <a:xfrm>
            <a:off x="640080" y="274320"/>
            <a:ext cx="10058400" cy="640080"/>
          </a:xfrm>
          <a:prstGeom prst="rect">
            <a:avLst/>
          </a:prstGeom>
          <a:noFill/>
        </p:spPr>
        <p:txBody>
          <a:bodyPr wrap="square">
            <a:spAutoFit/>
          </a:bodyPr>
          <a:lstStyle/>
          <a:p>
            <a:pPr algn="l">
              <a:defRPr sz="3200" b="1">
                <a:solidFill>
                  <a:srgbClr val="FFFFFF"/>
                </a:solidFill>
                <a:latin typeface="Calibri"/>
              </a:defRPr>
            </a:pPr>
            <a:r>
              <a:t>DATA RATE VS DISTANCE</a:t>
            </a:r>
          </a:p>
        </p:txBody>
      </p:sp>
      <p:sp>
        <p:nvSpPr>
          <p:cNvPr id="3" name="TextBox 2"/>
          <p:cNvSpPr txBox="1"/>
          <p:nvPr/>
        </p:nvSpPr>
        <p:spPr>
          <a:xfrm>
            <a:off x="640080" y="822960"/>
            <a:ext cx="10058400" cy="365760"/>
          </a:xfrm>
          <a:prstGeom prst="rect">
            <a:avLst/>
          </a:prstGeom>
          <a:noFill/>
        </p:spPr>
        <p:txBody>
          <a:bodyPr wrap="square">
            <a:spAutoFit/>
          </a:bodyPr>
          <a:lstStyle/>
          <a:p>
            <a:pPr algn="l">
              <a:defRPr sz="1600" b="0">
                <a:solidFill>
                  <a:srgbClr val="009EFF"/>
                </a:solidFill>
                <a:latin typeface="Calibri"/>
              </a:defRPr>
            </a:pPr>
            <a:r>
              <a:t>Optical Link Performance</a:t>
            </a:r>
          </a:p>
        </p:txBody>
      </p:sp>
      <p:sp>
        <p:nvSpPr>
          <p:cNvPr id="4" name="Rectangle 3"/>
          <p:cNvSpPr/>
          <p:nvPr/>
        </p:nvSpPr>
        <p:spPr>
          <a:xfrm>
            <a:off x="640080" y="1234440"/>
            <a:ext cx="2286000" cy="38100"/>
          </a:xfrm>
          <a:prstGeom prst="rect">
            <a:avLst/>
          </a:prstGeom>
          <a:solidFill>
            <a:srgbClr val="00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ata_rate_vs_distance.png"/>
          <p:cNvPicPr>
            <a:picLocks noChangeAspect="1"/>
          </p:cNvPicPr>
          <p:nvPr/>
        </p:nvPicPr>
        <p:blipFill>
          <a:blip r:embed="rId2"/>
          <a:stretch>
            <a:fillRect/>
          </a:stretch>
        </p:blipFill>
        <p:spPr>
          <a:xfrm>
            <a:off x="640080" y="1371600"/>
            <a:ext cx="6400800" cy="4114800"/>
          </a:xfrm>
          <a:prstGeom prst="rect">
            <a:avLst/>
          </a:prstGeom>
        </p:spPr>
      </p:pic>
      <p:sp>
        <p:nvSpPr>
          <p:cNvPr id="6" name="TextBox 5"/>
          <p:cNvSpPr txBox="1"/>
          <p:nvPr/>
        </p:nvSpPr>
        <p:spPr>
          <a:xfrm>
            <a:off x="640080" y="5669280"/>
            <a:ext cx="10058400" cy="274320"/>
          </a:xfrm>
          <a:prstGeom prst="rect">
            <a:avLst/>
          </a:prstGeom>
          <a:noFill/>
        </p:spPr>
        <p:txBody>
          <a:bodyPr wrap="square">
            <a:spAutoFit/>
          </a:bodyPr>
          <a:lstStyle/>
          <a:p>
            <a:pPr algn="ctr">
              <a:defRPr sz="1000" b="0">
                <a:solidFill>
                  <a:srgbClr val="6B7B96"/>
                </a:solidFill>
                <a:latin typeface="Calibri"/>
              </a:defRPr>
            </a:pPr>
            <a:r>
              <a:t>Data rate degrades with distance squared — 200 Mbps at closest to 2 Mbps at farthest</a:t>
            </a:r>
          </a:p>
        </p:txBody>
      </p:sp>
      <p:sp>
        <p:nvSpPr>
          <p:cNvPr id="7" name="TextBox 6"/>
          <p:cNvSpPr txBox="1"/>
          <p:nvPr/>
        </p:nvSpPr>
        <p:spPr>
          <a:xfrm>
            <a:off x="457200" y="6400800"/>
            <a:ext cx="4572000" cy="365760"/>
          </a:xfrm>
          <a:prstGeom prst="rect">
            <a:avLst/>
          </a:prstGeom>
          <a:noFill/>
        </p:spPr>
        <p:txBody>
          <a:bodyPr wrap="square">
            <a:spAutoFit/>
          </a:bodyPr>
          <a:lstStyle/>
          <a:p>
            <a:pPr algn="l">
              <a:defRPr sz="1000" b="0">
                <a:solidFill>
                  <a:srgbClr val="6B7B96"/>
                </a:solidFill>
                <a:latin typeface="Calibri"/>
              </a:defRPr>
            </a:pPr>
            <a:r>
              <a:t>AETHERIX — Interplanetary Communication Network</a:t>
            </a:r>
          </a:p>
        </p:txBody>
      </p:sp>
      <p:sp>
        <p:nvSpPr>
          <p:cNvPr id="8" name="TextBox 7"/>
          <p:cNvSpPr txBox="1"/>
          <p:nvPr/>
        </p:nvSpPr>
        <p:spPr>
          <a:xfrm>
            <a:off x="10058400" y="6400800"/>
            <a:ext cx="1828800" cy="365760"/>
          </a:xfrm>
          <a:prstGeom prst="rect">
            <a:avLst/>
          </a:prstGeom>
          <a:noFill/>
        </p:spPr>
        <p:txBody>
          <a:bodyPr wrap="square">
            <a:spAutoFit/>
          </a:bodyPr>
          <a:lstStyle/>
          <a:p>
            <a:pPr algn="r">
              <a:defRPr sz="1000" b="0">
                <a:solidFill>
                  <a:srgbClr val="6B7B96"/>
                </a:solidFill>
                <a:latin typeface="Calibri"/>
              </a:defRPr>
            </a:pPr>
            <a:r>
              <a:t>20 / 46</a:t>
            </a:r>
          </a:p>
        </p:txBody>
      </p:sp>
    </p:spTree>
  </p:cSld>
  <p:transition spd="med" advClick="1">
    <p:fade/>
  </p:transition>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0E1A"/>
        </a:solidFill>
        <a:effectLst/>
      </p:bgPr>
    </p:bg>
    <p:spTree>
      <p:nvGrpSpPr>
        <p:cNvPr id="1" name=""/>
        <p:cNvGrpSpPr/>
        <p:nvPr/>
      </p:nvGrpSpPr>
      <p:grpSpPr/>
      <p:sp>
        <p:nvSpPr>
          <p:cNvPr id="2" name="TextBox 1"/>
          <p:cNvSpPr txBox="1"/>
          <p:nvPr/>
        </p:nvSpPr>
        <p:spPr>
          <a:xfrm>
            <a:off x="640080" y="274320"/>
            <a:ext cx="10058400" cy="640080"/>
          </a:xfrm>
          <a:prstGeom prst="rect">
            <a:avLst/>
          </a:prstGeom>
          <a:noFill/>
        </p:spPr>
        <p:txBody>
          <a:bodyPr wrap="square">
            <a:spAutoFit/>
          </a:bodyPr>
          <a:lstStyle/>
          <a:p>
            <a:pPr algn="l">
              <a:defRPr sz="3200" b="1">
                <a:solidFill>
                  <a:srgbClr val="FFFFFF"/>
                </a:solidFill>
                <a:latin typeface="Calibri"/>
              </a:defRPr>
            </a:pPr>
            <a:r>
              <a:t>LINK BUDGET BREAKDOWN</a:t>
            </a:r>
          </a:p>
        </p:txBody>
      </p:sp>
      <p:sp>
        <p:nvSpPr>
          <p:cNvPr id="3" name="TextBox 2"/>
          <p:cNvSpPr txBox="1"/>
          <p:nvPr/>
        </p:nvSpPr>
        <p:spPr>
          <a:xfrm>
            <a:off x="640080" y="822960"/>
            <a:ext cx="10058400" cy="365760"/>
          </a:xfrm>
          <a:prstGeom prst="rect">
            <a:avLst/>
          </a:prstGeom>
          <a:noFill/>
        </p:spPr>
        <p:txBody>
          <a:bodyPr wrap="square">
            <a:spAutoFit/>
          </a:bodyPr>
          <a:lstStyle/>
          <a:p>
            <a:pPr algn="l">
              <a:defRPr sz="1600" b="0">
                <a:solidFill>
                  <a:srgbClr val="00D4AA"/>
                </a:solidFill>
                <a:latin typeface="Calibri"/>
              </a:defRPr>
            </a:pPr>
            <a:r>
              <a:t>Optical Link Analysis</a:t>
            </a:r>
          </a:p>
        </p:txBody>
      </p:sp>
      <p:sp>
        <p:nvSpPr>
          <p:cNvPr id="4" name="Rectangle 3"/>
          <p:cNvSpPr/>
          <p:nvPr/>
        </p:nvSpPr>
        <p:spPr>
          <a:xfrm>
            <a:off x="640080" y="1234440"/>
            <a:ext cx="2286000" cy="381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ink_budget_breakdown.png"/>
          <p:cNvPicPr>
            <a:picLocks noChangeAspect="1"/>
          </p:cNvPicPr>
          <p:nvPr/>
        </p:nvPicPr>
        <p:blipFill>
          <a:blip r:embed="rId2"/>
          <a:stretch>
            <a:fillRect/>
          </a:stretch>
        </p:blipFill>
        <p:spPr>
          <a:xfrm>
            <a:off x="640080" y="1371600"/>
            <a:ext cx="6400800" cy="4114800"/>
          </a:xfrm>
          <a:prstGeom prst="rect">
            <a:avLst/>
          </a:prstGeom>
        </p:spPr>
      </p:pic>
      <p:sp>
        <p:nvSpPr>
          <p:cNvPr id="6" name="TextBox 5"/>
          <p:cNvSpPr txBox="1"/>
          <p:nvPr/>
        </p:nvSpPr>
        <p:spPr>
          <a:xfrm>
            <a:off x="640080" y="5669280"/>
            <a:ext cx="10058400" cy="274320"/>
          </a:xfrm>
          <a:prstGeom prst="rect">
            <a:avLst/>
          </a:prstGeom>
          <a:noFill/>
        </p:spPr>
        <p:txBody>
          <a:bodyPr wrap="square">
            <a:spAutoFit/>
          </a:bodyPr>
          <a:lstStyle/>
          <a:p>
            <a:pPr algn="ctr">
              <a:defRPr sz="1000" b="0">
                <a:solidFill>
                  <a:srgbClr val="6B7B96"/>
                </a:solidFill>
                <a:latin typeface="Calibri"/>
              </a:defRPr>
            </a:pPr>
            <a:r>
              <a:t>Free-space path loss is the dominant factor — over 350 dB at average distance</a:t>
            </a:r>
          </a:p>
        </p:txBody>
      </p:sp>
      <p:sp>
        <p:nvSpPr>
          <p:cNvPr id="7" name="TextBox 6"/>
          <p:cNvSpPr txBox="1"/>
          <p:nvPr/>
        </p:nvSpPr>
        <p:spPr>
          <a:xfrm>
            <a:off x="457200" y="6400800"/>
            <a:ext cx="4572000" cy="365760"/>
          </a:xfrm>
          <a:prstGeom prst="rect">
            <a:avLst/>
          </a:prstGeom>
          <a:noFill/>
        </p:spPr>
        <p:txBody>
          <a:bodyPr wrap="square">
            <a:spAutoFit/>
          </a:bodyPr>
          <a:lstStyle/>
          <a:p>
            <a:pPr algn="l">
              <a:defRPr sz="1000" b="0">
                <a:solidFill>
                  <a:srgbClr val="6B7B96"/>
                </a:solidFill>
                <a:latin typeface="Calibri"/>
              </a:defRPr>
            </a:pPr>
            <a:r>
              <a:t>AETHERIX — Interplanetary Communication Network</a:t>
            </a:r>
          </a:p>
        </p:txBody>
      </p:sp>
      <p:sp>
        <p:nvSpPr>
          <p:cNvPr id="8" name="TextBox 7"/>
          <p:cNvSpPr txBox="1"/>
          <p:nvPr/>
        </p:nvSpPr>
        <p:spPr>
          <a:xfrm>
            <a:off x="10058400" y="6400800"/>
            <a:ext cx="1828800" cy="365760"/>
          </a:xfrm>
          <a:prstGeom prst="rect">
            <a:avLst/>
          </a:prstGeom>
          <a:noFill/>
        </p:spPr>
        <p:txBody>
          <a:bodyPr wrap="square">
            <a:spAutoFit/>
          </a:bodyPr>
          <a:lstStyle/>
          <a:p>
            <a:pPr algn="r">
              <a:defRPr sz="1000" b="0">
                <a:solidFill>
                  <a:srgbClr val="6B7B96"/>
                </a:solidFill>
                <a:latin typeface="Calibri"/>
              </a:defRPr>
            </a:pPr>
            <a:r>
              <a:t>21 / 46</a:t>
            </a:r>
          </a:p>
        </p:txBody>
      </p:sp>
    </p:spTree>
  </p:cSld>
  <p:transition spd="med" advClick="1">
    <p:fade/>
  </p:transition>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0E1A"/>
        </a:solidFill>
        <a:effectLst/>
      </p:bgPr>
    </p:bg>
    <p:spTree>
      <p:nvGrpSpPr>
        <p:cNvPr id="1" name=""/>
        <p:cNvGrpSpPr/>
        <p:nvPr/>
      </p:nvGrpSpPr>
      <p:grpSpPr/>
      <p:sp>
        <p:nvSpPr>
          <p:cNvPr id="2" name="TextBox 1"/>
          <p:cNvSpPr txBox="1"/>
          <p:nvPr/>
        </p:nvSpPr>
        <p:spPr>
          <a:xfrm>
            <a:off x="548640" y="274320"/>
            <a:ext cx="8229600" cy="548640"/>
          </a:xfrm>
          <a:prstGeom prst="rect">
            <a:avLst/>
          </a:prstGeom>
          <a:noFill/>
        </p:spPr>
        <p:txBody>
          <a:bodyPr wrap="square">
            <a:spAutoFit/>
          </a:bodyPr>
          <a:lstStyle/>
          <a:p>
            <a:pPr algn="l">
              <a:defRPr sz="3200" b="1">
                <a:solidFill>
                  <a:srgbClr val="FFFFFF"/>
                </a:solidFill>
                <a:latin typeface="Calibri"/>
              </a:defRPr>
            </a:pPr>
            <a:r>
              <a:t>EARTH-MARS JOURNEY</a:t>
            </a:r>
          </a:p>
        </p:txBody>
      </p:sp>
      <p:sp>
        <p:nvSpPr>
          <p:cNvPr id="3" name="TextBox 2"/>
          <p:cNvSpPr txBox="1"/>
          <p:nvPr/>
        </p:nvSpPr>
        <p:spPr>
          <a:xfrm>
            <a:off x="548640" y="822960"/>
            <a:ext cx="8229600" cy="365760"/>
          </a:xfrm>
          <a:prstGeom prst="rect">
            <a:avLst/>
          </a:prstGeom>
          <a:noFill/>
        </p:spPr>
        <p:txBody>
          <a:bodyPr wrap="square">
            <a:spAutoFit/>
          </a:bodyPr>
          <a:lstStyle/>
          <a:p>
            <a:pPr algn="l">
              <a:defRPr sz="1600" b="0">
                <a:solidFill>
                  <a:srgbClr val="00D4AA"/>
                </a:solidFill>
                <a:latin typeface="Calibri"/>
              </a:defRPr>
            </a:pPr>
            <a:r>
              <a:t>500 MB in 7 Hops</a:t>
            </a:r>
          </a:p>
        </p:txBody>
      </p:sp>
      <p:sp>
        <p:nvSpPr>
          <p:cNvPr id="4" name="Rectangle 3"/>
          <p:cNvSpPr/>
          <p:nvPr/>
        </p:nvSpPr>
        <p:spPr>
          <a:xfrm>
            <a:off x="548640" y="1234440"/>
            <a:ext cx="2286000" cy="38100"/>
          </a:xfrm>
          <a:prstGeom prst="rect">
            <a:avLst/>
          </a:prstGeom>
          <a:solidFill>
            <a:srgbClr val="00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274320" y="1371600"/>
          <a:ext cx="8595360" cy="2468880"/>
        </p:xfrm>
        <a:graphic>
          <a:graphicData uri="http://schemas.openxmlformats.org/drawingml/2006/table">
            <a:tbl>
              <a:tblPr firstRow="1" bandRow="1">
                <a:tableStyleId>{5C22544A-7EE6-4342-B048-85BDC9FD1C3A}</a:tableStyleId>
              </a:tblPr>
              <a:tblGrid>
                <a:gridCol w="2865120"/>
                <a:gridCol w="2865120"/>
                <a:gridCol w="2865120"/>
              </a:tblGrid>
              <a:tr h="352697">
                <a:tc>
                  <a:txBody>
                    <a:bodyPr/>
                    <a:lstStyle/>
                    <a:p>
                      <a:pPr algn="ctr">
                        <a:defRPr b="1" sz="1200">
                          <a:solidFill>
                            <a:srgbClr val="FFFFFF"/>
                          </a:solidFill>
                          <a:latin typeface="Calibri"/>
                        </a:defRPr>
                      </a:pPr>
                      <a:r>
                        <a:t>Hop</a:t>
                      </a:r>
                    </a:p>
                  </a:txBody>
                  <a:tcPr anchor="ctr" marL="73152" marR="73152" marT="36576" marB="36576">
                    <a:solidFill>
                      <a:srgbClr val="009EFF"/>
                    </a:solidFill>
                  </a:tcPr>
                </a:tc>
                <a:tc>
                  <a:txBody>
                    <a:bodyPr/>
                    <a:lstStyle/>
                    <a:p>
                      <a:pPr algn="ctr">
                        <a:defRPr b="1" sz="1200">
                          <a:solidFill>
                            <a:srgbClr val="FFFFFF"/>
                          </a:solidFill>
                          <a:latin typeface="Calibri"/>
                        </a:defRPr>
                      </a:pPr>
                      <a:r>
                        <a:t>Path</a:t>
                      </a:r>
                    </a:p>
                  </a:txBody>
                  <a:tcPr anchor="ctr" marL="73152" marR="73152" marT="36576" marB="36576">
                    <a:solidFill>
                      <a:srgbClr val="009EFF"/>
                    </a:solidFill>
                  </a:tcPr>
                </a:tc>
                <a:tc>
                  <a:txBody>
                    <a:bodyPr/>
                    <a:lstStyle/>
                    <a:p>
                      <a:pPr algn="ctr">
                        <a:defRPr b="1" sz="1200">
                          <a:solidFill>
                            <a:srgbClr val="FFFFFF"/>
                          </a:solidFill>
                          <a:latin typeface="Calibri"/>
                        </a:defRPr>
                      </a:pPr>
                      <a:r>
                        <a:t>Link</a:t>
                      </a:r>
                    </a:p>
                  </a:txBody>
                  <a:tcPr anchor="ctr" marL="73152" marR="73152" marT="36576" marB="36576">
                    <a:solidFill>
                      <a:srgbClr val="009EFF"/>
                    </a:solidFill>
                  </a:tcPr>
                </a:tc>
              </a:tr>
              <a:tr h="352697">
                <a:tc>
                  <a:txBody>
                    <a:bodyPr/>
                    <a:lstStyle/>
                    <a:p>
                      <a:pPr>
                        <a:defRPr sz="1100">
                          <a:solidFill>
                            <a:srgbClr val="B0B8CC"/>
                          </a:solidFill>
                          <a:latin typeface="Calibri"/>
                        </a:defRPr>
                      </a:pPr>
                      <a:r>
                        <a:t>1</a:t>
                      </a:r>
                    </a:p>
                  </a:txBody>
                  <a:tcPr anchor="ctr" marL="73152" marR="73152" marT="36576" marB="36576">
                    <a:solidFill>
                      <a:srgbClr val="141B2D"/>
                    </a:solidFill>
                  </a:tcPr>
                </a:tc>
                <a:tc>
                  <a:txBody>
                    <a:bodyPr/>
                    <a:lstStyle/>
                    <a:p>
                      <a:pPr>
                        <a:defRPr sz="1100">
                          <a:solidFill>
                            <a:srgbClr val="B0B8CC"/>
                          </a:solidFill>
                          <a:latin typeface="Calibri"/>
                        </a:defRPr>
                      </a:pPr>
                      <a:r>
                        <a:t>Rover → UHF Relay</a:t>
                      </a:r>
                    </a:p>
                  </a:txBody>
                  <a:tcPr anchor="ctr" marL="73152" marR="73152" marT="36576" marB="36576">
                    <a:solidFill>
                      <a:srgbClr val="141B2D"/>
                    </a:solidFill>
                  </a:tcPr>
                </a:tc>
                <a:tc>
                  <a:txBody>
                    <a:bodyPr/>
                    <a:lstStyle/>
                    <a:p>
                      <a:pPr>
                        <a:defRPr sz="1100">
                          <a:solidFill>
                            <a:srgbClr val="B0B8CC"/>
                          </a:solidFill>
                          <a:latin typeface="Calibri"/>
                        </a:defRPr>
                      </a:pPr>
                      <a:r>
                        <a:t>UHF S-band</a:t>
                      </a:r>
                    </a:p>
                  </a:txBody>
                  <a:tcPr anchor="ctr" marL="73152" marR="73152" marT="36576" marB="36576">
                    <a:solidFill>
                      <a:srgbClr val="141B2D"/>
                    </a:solidFill>
                  </a:tcPr>
                </a:tc>
              </a:tr>
              <a:tr h="352697">
                <a:tc>
                  <a:txBody>
                    <a:bodyPr/>
                    <a:lstStyle/>
                    <a:p>
                      <a:pPr>
                        <a:defRPr sz="1100">
                          <a:solidFill>
                            <a:srgbClr val="B0B8CC"/>
                          </a:solidFill>
                          <a:latin typeface="Calibri"/>
                        </a:defRPr>
                      </a:pPr>
                      <a:r>
                        <a:t>2</a:t>
                      </a:r>
                    </a:p>
                  </a:txBody>
                  <a:tcPr anchor="ctr" marL="73152" marR="73152" marT="36576" marB="36576">
                    <a:solidFill>
                      <a:srgbClr val="182236"/>
                    </a:solidFill>
                  </a:tcPr>
                </a:tc>
                <a:tc>
                  <a:txBody>
                    <a:bodyPr/>
                    <a:lstStyle/>
                    <a:p>
                      <a:pPr>
                        <a:defRPr sz="1100">
                          <a:solidFill>
                            <a:srgbClr val="B0B8CC"/>
                          </a:solidFill>
                          <a:latin typeface="Calibri"/>
                        </a:defRPr>
                      </a:pPr>
                      <a:r>
                        <a:t>UHF Relay → Areostationary</a:t>
                      </a:r>
                    </a:p>
                  </a:txBody>
                  <a:tcPr anchor="ctr" marL="73152" marR="73152" marT="36576" marB="36576">
                    <a:solidFill>
                      <a:srgbClr val="182236"/>
                    </a:solidFill>
                  </a:tcPr>
                </a:tc>
                <a:tc>
                  <a:txBody>
                    <a:bodyPr/>
                    <a:lstStyle/>
                    <a:p>
                      <a:pPr>
                        <a:defRPr sz="1100">
                          <a:solidFill>
                            <a:srgbClr val="B0B8CC"/>
                          </a:solidFill>
                          <a:latin typeface="Calibri"/>
                        </a:defRPr>
                      </a:pPr>
                      <a:r>
                        <a:t>UHF uplink</a:t>
                      </a:r>
                    </a:p>
                  </a:txBody>
                  <a:tcPr anchor="ctr" marL="73152" marR="73152" marT="36576" marB="36576">
                    <a:solidFill>
                      <a:srgbClr val="182236"/>
                    </a:solidFill>
                  </a:tcPr>
                </a:tc>
              </a:tr>
              <a:tr h="352697">
                <a:tc>
                  <a:txBody>
                    <a:bodyPr/>
                    <a:lstStyle/>
                    <a:p>
                      <a:pPr>
                        <a:defRPr sz="1100">
                          <a:solidFill>
                            <a:srgbClr val="B0B8CC"/>
                          </a:solidFill>
                          <a:latin typeface="Calibri"/>
                        </a:defRPr>
                      </a:pPr>
                      <a:r>
                        <a:t>3</a:t>
                      </a:r>
                    </a:p>
                  </a:txBody>
                  <a:tcPr anchor="ctr" marL="73152" marR="73152" marT="36576" marB="36576">
                    <a:solidFill>
                      <a:srgbClr val="141B2D"/>
                    </a:solidFill>
                  </a:tcPr>
                </a:tc>
                <a:tc>
                  <a:txBody>
                    <a:bodyPr/>
                    <a:lstStyle/>
                    <a:p>
                      <a:pPr>
                        <a:defRPr sz="1100">
                          <a:solidFill>
                            <a:srgbClr val="B0B8CC"/>
                          </a:solidFill>
                          <a:latin typeface="Calibri"/>
                        </a:defRPr>
                      </a:pPr>
                      <a:r>
                        <a:t>Areostationary → Polar Orbiter</a:t>
                      </a:r>
                    </a:p>
                  </a:txBody>
                  <a:tcPr anchor="ctr" marL="73152" marR="73152" marT="36576" marB="36576">
                    <a:solidFill>
                      <a:srgbClr val="141B2D"/>
                    </a:solidFill>
                  </a:tcPr>
                </a:tc>
                <a:tc>
                  <a:txBody>
                    <a:bodyPr/>
                    <a:lstStyle/>
                    <a:p>
                      <a:pPr>
                        <a:defRPr sz="1100">
                          <a:solidFill>
                            <a:srgbClr val="B0B8CC"/>
                          </a:solidFill>
                          <a:latin typeface="Calibri"/>
                        </a:defRPr>
                      </a:pPr>
                      <a:r>
                        <a:t>Crosslink</a:t>
                      </a:r>
                    </a:p>
                  </a:txBody>
                  <a:tcPr anchor="ctr" marL="73152" marR="73152" marT="36576" marB="36576">
                    <a:solidFill>
                      <a:srgbClr val="141B2D"/>
                    </a:solidFill>
                  </a:tcPr>
                </a:tc>
              </a:tr>
              <a:tr h="352697">
                <a:tc>
                  <a:txBody>
                    <a:bodyPr/>
                    <a:lstStyle/>
                    <a:p>
                      <a:pPr>
                        <a:defRPr sz="1100">
                          <a:solidFill>
                            <a:srgbClr val="B0B8CC"/>
                          </a:solidFill>
                          <a:latin typeface="Calibri"/>
                        </a:defRPr>
                      </a:pPr>
                      <a:r>
                        <a:t>4–5</a:t>
                      </a:r>
                    </a:p>
                  </a:txBody>
                  <a:tcPr anchor="ctr" marL="73152" marR="73152" marT="36576" marB="36576">
                    <a:solidFill>
                      <a:srgbClr val="182236"/>
                    </a:solidFill>
                  </a:tcPr>
                </a:tc>
                <a:tc>
                  <a:txBody>
                    <a:bodyPr/>
                    <a:lstStyle/>
                    <a:p>
                      <a:pPr>
                        <a:defRPr sz="1100">
                          <a:solidFill>
                            <a:srgbClr val="B0B8CC"/>
                          </a:solidFill>
                          <a:latin typeface="Calibri"/>
                        </a:defRPr>
                      </a:pPr>
                      <a:r>
                        <a:t>Polar Orbiter → LEO Constellation</a:t>
                      </a:r>
                    </a:p>
                  </a:txBody>
                  <a:tcPr anchor="ctr" marL="73152" marR="73152" marT="36576" marB="36576">
                    <a:solidFill>
                      <a:srgbClr val="182236"/>
                    </a:solidFill>
                  </a:tcPr>
                </a:tc>
                <a:tc>
                  <a:txBody>
                    <a:bodyPr/>
                    <a:lstStyle/>
                    <a:p>
                      <a:pPr>
                        <a:defRPr sz="1100">
                          <a:solidFill>
                            <a:srgbClr val="B0B8CC"/>
                          </a:solidFill>
                          <a:latin typeface="Calibri"/>
                        </a:defRPr>
                      </a:pPr>
                      <a:r>
                        <a:t>1550 nm laser</a:t>
                      </a:r>
                    </a:p>
                  </a:txBody>
                  <a:tcPr anchor="ctr" marL="73152" marR="73152" marT="36576" marB="36576">
                    <a:solidFill>
                      <a:srgbClr val="182236"/>
                    </a:solidFill>
                  </a:tcPr>
                </a:tc>
              </a:tr>
              <a:tr h="352697">
                <a:tc>
                  <a:txBody>
                    <a:bodyPr/>
                    <a:lstStyle/>
                    <a:p>
                      <a:pPr>
                        <a:defRPr sz="1100">
                          <a:solidFill>
                            <a:srgbClr val="B0B8CC"/>
                          </a:solidFill>
                          <a:latin typeface="Calibri"/>
                        </a:defRPr>
                      </a:pPr>
                      <a:r>
                        <a:t>6</a:t>
                      </a:r>
                    </a:p>
                  </a:txBody>
                  <a:tcPr anchor="ctr" marL="73152" marR="73152" marT="36576" marB="36576">
                    <a:solidFill>
                      <a:srgbClr val="141B2D"/>
                    </a:solidFill>
                  </a:tcPr>
                </a:tc>
                <a:tc>
                  <a:txBody>
                    <a:bodyPr/>
                    <a:lstStyle/>
                    <a:p>
                      <a:pPr>
                        <a:defRPr sz="1100">
                          <a:solidFill>
                            <a:srgbClr val="B0B8CC"/>
                          </a:solidFill>
                          <a:latin typeface="Calibri"/>
                        </a:defRPr>
                      </a:pPr>
                      <a:r>
                        <a:t>LEO Mesh → DSN Ground Station</a:t>
                      </a:r>
                    </a:p>
                  </a:txBody>
                  <a:tcPr anchor="ctr" marL="73152" marR="73152" marT="36576" marB="36576">
                    <a:solidFill>
                      <a:srgbClr val="141B2D"/>
                    </a:solidFill>
                  </a:tcPr>
                </a:tc>
                <a:tc>
                  <a:txBody>
                    <a:bodyPr/>
                    <a:lstStyle/>
                    <a:p>
                      <a:pPr>
                        <a:defRPr sz="1100">
                          <a:solidFill>
                            <a:srgbClr val="B0B8CC"/>
                          </a:solidFill>
                          <a:latin typeface="Calibri"/>
                        </a:defRPr>
                      </a:pPr>
                      <a:r>
                        <a:t>Optical downlink</a:t>
                      </a:r>
                    </a:p>
                  </a:txBody>
                  <a:tcPr anchor="ctr" marL="73152" marR="73152" marT="36576" marB="36576">
                    <a:solidFill>
                      <a:srgbClr val="141B2D"/>
                    </a:solidFill>
                  </a:tcPr>
                </a:tc>
              </a:tr>
              <a:tr h="352698">
                <a:tc>
                  <a:txBody>
                    <a:bodyPr/>
                    <a:lstStyle/>
                    <a:p>
                      <a:pPr>
                        <a:defRPr sz="1100">
                          <a:solidFill>
                            <a:srgbClr val="B0B8CC"/>
                          </a:solidFill>
                          <a:latin typeface="Calibri"/>
                        </a:defRPr>
                      </a:pPr>
                      <a:r>
                        <a:t>7</a:t>
                      </a:r>
                    </a:p>
                  </a:txBody>
                  <a:tcPr anchor="ctr" marL="73152" marR="73152" marT="36576" marB="36576">
                    <a:solidFill>
                      <a:srgbClr val="182236"/>
                    </a:solidFill>
                  </a:tcPr>
                </a:tc>
                <a:tc>
                  <a:txBody>
                    <a:bodyPr/>
                    <a:lstStyle/>
                    <a:p>
                      <a:pPr>
                        <a:defRPr sz="1100">
                          <a:solidFill>
                            <a:srgbClr val="B0B8CC"/>
                          </a:solidFill>
                          <a:latin typeface="Calibri"/>
                        </a:defRPr>
                      </a:pPr>
                      <a:r>
                        <a:t>DSN → Mission Operations Center</a:t>
                      </a:r>
                    </a:p>
                  </a:txBody>
                  <a:tcPr anchor="ctr" marL="73152" marR="73152" marT="36576" marB="36576">
                    <a:solidFill>
                      <a:srgbClr val="182236"/>
                    </a:solidFill>
                  </a:tcPr>
                </a:tc>
                <a:tc>
                  <a:txBody>
                    <a:bodyPr/>
                    <a:lstStyle/>
                    <a:p>
                      <a:pPr>
                        <a:defRPr sz="1100">
                          <a:solidFill>
                            <a:srgbClr val="B0B8CC"/>
                          </a:solidFill>
                          <a:latin typeface="Calibri"/>
                        </a:defRPr>
                      </a:pPr>
                      <a:r>
                        <a:t>TCP/IP fiber</a:t>
                      </a:r>
                    </a:p>
                  </a:txBody>
                  <a:tcPr anchor="ctr" marL="73152" marR="73152" marT="36576" marB="36576">
                    <a:solidFill>
                      <a:srgbClr val="182236"/>
                    </a:solidFill>
                  </a:tcPr>
                </a:tc>
              </a:tr>
            </a:tbl>
          </a:graphicData>
        </a:graphic>
      </p:graphicFrame>
      <p:sp>
        <p:nvSpPr>
          <p:cNvPr id="6" name="Rounded Rectangle 5"/>
          <p:cNvSpPr/>
          <p:nvPr/>
        </p:nvSpPr>
        <p:spPr>
          <a:xfrm>
            <a:off x="182880" y="4023360"/>
            <a:ext cx="2148840" cy="1005840"/>
          </a:xfrm>
          <a:prstGeom prst="roundRect">
            <a:avLst/>
          </a:prstGeom>
          <a:solidFill>
            <a:srgbClr val="141B2D"/>
          </a:solidFill>
          <a:ln w="12700">
            <a:solidFill>
              <a:srgbClr val="009E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400" b="1">
                <a:solidFill>
                  <a:srgbClr val="009EFF"/>
                </a:solidFill>
                <a:latin typeface="Calibri"/>
              </a:defRPr>
            </a:pPr>
            <a:r>
              <a:t>~13min</a:t>
            </a:r>
          </a:p>
          <a:p>
            <a:pPr algn="ctr">
              <a:spcBef>
                <a:spcPts val="200"/>
              </a:spcBef>
              <a:spcAft>
                <a:spcPts val="400"/>
              </a:spcAft>
              <a:defRPr sz="1000" b="0">
                <a:solidFill>
                  <a:srgbClr val="B0B8CC"/>
                </a:solidFill>
                <a:latin typeface="Calibri"/>
              </a:defRPr>
            </a:pPr>
            <a:r>
              <a:t>End-to-end latency</a:t>
            </a:r>
          </a:p>
        </p:txBody>
      </p:sp>
      <p:sp>
        <p:nvSpPr>
          <p:cNvPr id="7" name="Rounded Rectangle 6"/>
          <p:cNvSpPr/>
          <p:nvPr/>
        </p:nvSpPr>
        <p:spPr>
          <a:xfrm>
            <a:off x="2423160" y="4023360"/>
            <a:ext cx="2148840" cy="1005840"/>
          </a:xfrm>
          <a:prstGeom prst="roundRect">
            <a:avLst/>
          </a:prstGeom>
          <a:solidFill>
            <a:srgbClr val="141B2D"/>
          </a:solidFill>
          <a:ln w="12700">
            <a:solidFill>
              <a:srgbClr val="2ECC7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400" b="1">
                <a:solidFill>
                  <a:srgbClr val="2ECC71"/>
                </a:solidFill>
                <a:latin typeface="Calibri"/>
              </a:defRPr>
            </a:pPr>
            <a:r>
              <a:t>&lt;5%</a:t>
            </a:r>
          </a:p>
          <a:p>
            <a:pPr algn="ctr">
              <a:spcBef>
                <a:spcPts val="200"/>
              </a:spcBef>
              <a:spcAft>
                <a:spcPts val="400"/>
              </a:spcAft>
              <a:defRPr sz="1000" b="0">
                <a:solidFill>
                  <a:srgbClr val="B0B8CC"/>
                </a:solidFill>
                <a:latin typeface="Calibri"/>
              </a:defRPr>
            </a:pPr>
            <a:r>
              <a:t>Protocol overhead</a:t>
            </a:r>
          </a:p>
        </p:txBody>
      </p:sp>
      <p:sp>
        <p:nvSpPr>
          <p:cNvPr id="8" name="Rounded Rectangle 7"/>
          <p:cNvSpPr/>
          <p:nvPr/>
        </p:nvSpPr>
        <p:spPr>
          <a:xfrm>
            <a:off x="4663440" y="4023360"/>
            <a:ext cx="2148840" cy="1005840"/>
          </a:xfrm>
          <a:prstGeom prst="roundRect">
            <a:avLst/>
          </a:prstGeom>
          <a:solidFill>
            <a:srgbClr val="141B2D"/>
          </a:solidFill>
          <a:ln w="127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400" b="1">
                <a:solidFill>
                  <a:srgbClr val="8B5CF6"/>
                </a:solidFill>
                <a:latin typeface="Calibri"/>
              </a:defRPr>
            </a:pPr>
            <a:r>
              <a:t>98.7%</a:t>
            </a:r>
          </a:p>
          <a:p>
            <a:pPr algn="ctr">
              <a:spcBef>
                <a:spcPts val="200"/>
              </a:spcBef>
              <a:spcAft>
                <a:spcPts val="400"/>
              </a:spcAft>
              <a:defRPr sz="1000" b="0">
                <a:solidFill>
                  <a:srgbClr val="B0B8CC"/>
                </a:solidFill>
                <a:latin typeface="Calibri"/>
              </a:defRPr>
            </a:pPr>
            <a:r>
              <a:t>Delivery ratio</a:t>
            </a:r>
          </a:p>
        </p:txBody>
      </p:sp>
      <p:sp>
        <p:nvSpPr>
          <p:cNvPr id="9" name="Rounded Rectangle 8"/>
          <p:cNvSpPr/>
          <p:nvPr/>
        </p:nvSpPr>
        <p:spPr>
          <a:xfrm>
            <a:off x="6903720" y="4023360"/>
            <a:ext cx="2148840" cy="1005840"/>
          </a:xfrm>
          <a:prstGeom prst="roundRect">
            <a:avLst/>
          </a:prstGeom>
          <a:solidFill>
            <a:srgbClr val="141B2D"/>
          </a:solidFill>
          <a:ln w="12700">
            <a:solidFill>
              <a:srgbClr val="FF8C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400" b="1">
                <a:solidFill>
                  <a:srgbClr val="FF8C00"/>
                </a:solidFill>
                <a:latin typeface="Calibri"/>
              </a:defRPr>
            </a:pPr>
            <a:r>
              <a:t>7 hops</a:t>
            </a:r>
          </a:p>
          <a:p>
            <a:pPr algn="ctr">
              <a:spcBef>
                <a:spcPts val="200"/>
              </a:spcBef>
              <a:spcAft>
                <a:spcPts val="400"/>
              </a:spcAft>
              <a:defRPr sz="1000" b="0">
                <a:solidFill>
                  <a:srgbClr val="B0B8CC"/>
                </a:solidFill>
                <a:latin typeface="Calibri"/>
              </a:defRPr>
            </a:pPr>
            <a:r>
              <a:t>Store-and-forward</a:t>
            </a:r>
          </a:p>
        </p:txBody>
      </p:sp>
      <p:sp>
        <p:nvSpPr>
          <p:cNvPr id="10" name="TextBox 9"/>
          <p:cNvSpPr txBox="1"/>
          <p:nvPr/>
        </p:nvSpPr>
        <p:spPr>
          <a:xfrm>
            <a:off x="457200" y="6400800"/>
            <a:ext cx="4572000" cy="365760"/>
          </a:xfrm>
          <a:prstGeom prst="rect">
            <a:avLst/>
          </a:prstGeom>
          <a:noFill/>
        </p:spPr>
        <p:txBody>
          <a:bodyPr wrap="square">
            <a:spAutoFit/>
          </a:bodyPr>
          <a:lstStyle/>
          <a:p>
            <a:pPr algn="l">
              <a:defRPr sz="1000" b="0">
                <a:solidFill>
                  <a:srgbClr val="6B7B96"/>
                </a:solidFill>
                <a:latin typeface="Calibri"/>
              </a:defRPr>
            </a:pPr>
            <a:r>
              <a:t>AETHERIX — Interplanetary Communication Network</a:t>
            </a:r>
          </a:p>
        </p:txBody>
      </p:sp>
      <p:sp>
        <p:nvSpPr>
          <p:cNvPr id="11" name="TextBox 10"/>
          <p:cNvSpPr txBox="1"/>
          <p:nvPr/>
        </p:nvSpPr>
        <p:spPr>
          <a:xfrm>
            <a:off x="10058400" y="6400800"/>
            <a:ext cx="1828800" cy="365760"/>
          </a:xfrm>
          <a:prstGeom prst="rect">
            <a:avLst/>
          </a:prstGeom>
          <a:noFill/>
        </p:spPr>
        <p:txBody>
          <a:bodyPr wrap="square">
            <a:spAutoFit/>
          </a:bodyPr>
          <a:lstStyle/>
          <a:p>
            <a:pPr algn="r">
              <a:defRPr sz="1000" b="0">
                <a:solidFill>
                  <a:srgbClr val="6B7B96"/>
                </a:solidFill>
                <a:latin typeface="Calibri"/>
              </a:defRPr>
            </a:pPr>
            <a:r>
              <a:t>22 / 46</a:t>
            </a:r>
          </a:p>
        </p:txBody>
      </p:sp>
    </p:spTree>
  </p:cSld>
  <p:transition spd="med" advClick="1">
    <p:push dir="l"/>
  </p:transition>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B0E1A"/>
        </a:solidFill>
        <a:effectLst/>
      </p:bgPr>
    </p:bg>
    <p:spTree>
      <p:nvGrpSpPr>
        <p:cNvPr id="1" name=""/>
        <p:cNvGrpSpPr/>
        <p:nvPr/>
      </p:nvGrpSpPr>
      <p:grpSpPr/>
      <p:sp>
        <p:nvSpPr>
          <p:cNvPr id="2" name="TextBox 1"/>
          <p:cNvSpPr txBox="1"/>
          <p:nvPr/>
        </p:nvSpPr>
        <p:spPr>
          <a:xfrm>
            <a:off x="640080" y="274320"/>
            <a:ext cx="10058400" cy="640080"/>
          </a:xfrm>
          <a:prstGeom prst="rect">
            <a:avLst/>
          </a:prstGeom>
          <a:noFill/>
        </p:spPr>
        <p:txBody>
          <a:bodyPr wrap="square">
            <a:spAutoFit/>
          </a:bodyPr>
          <a:lstStyle/>
          <a:p>
            <a:pPr algn="l">
              <a:defRPr sz="3200" b="1">
                <a:solidFill>
                  <a:srgbClr val="FFFFFF"/>
                </a:solidFill>
                <a:latin typeface="Calibri"/>
              </a:defRPr>
            </a:pPr>
            <a:r>
              <a:t>LATENCY COMPARISON</a:t>
            </a:r>
          </a:p>
        </p:txBody>
      </p:sp>
      <p:sp>
        <p:nvSpPr>
          <p:cNvPr id="3" name="TextBox 2"/>
          <p:cNvSpPr txBox="1"/>
          <p:nvPr/>
        </p:nvSpPr>
        <p:spPr>
          <a:xfrm>
            <a:off x="640080" y="822960"/>
            <a:ext cx="10058400" cy="365760"/>
          </a:xfrm>
          <a:prstGeom prst="rect">
            <a:avLst/>
          </a:prstGeom>
          <a:noFill/>
        </p:spPr>
        <p:txBody>
          <a:bodyPr wrap="square">
            <a:spAutoFit/>
          </a:bodyPr>
          <a:lstStyle/>
          <a:p>
            <a:pPr algn="l">
              <a:defRPr sz="1600" b="0">
                <a:solidFill>
                  <a:srgbClr val="009EFF"/>
                </a:solidFill>
                <a:latin typeface="Calibri"/>
              </a:defRPr>
            </a:pPr>
            <a:r>
              <a:t>Protocol Performance</a:t>
            </a:r>
          </a:p>
        </p:txBody>
      </p:sp>
      <p:sp>
        <p:nvSpPr>
          <p:cNvPr id="4" name="Rectangle 3"/>
          <p:cNvSpPr/>
          <p:nvPr/>
        </p:nvSpPr>
        <p:spPr>
          <a:xfrm>
            <a:off x="640080" y="1234440"/>
            <a:ext cx="2286000" cy="38100"/>
          </a:xfrm>
          <a:prstGeom prst="rect">
            <a:avLst/>
          </a:prstGeom>
          <a:solidFill>
            <a:srgbClr val="00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atency_comparison.png"/>
          <p:cNvPicPr>
            <a:picLocks noChangeAspect="1"/>
          </p:cNvPicPr>
          <p:nvPr/>
        </p:nvPicPr>
        <p:blipFill>
          <a:blip r:embed="rId2"/>
          <a:stretch>
            <a:fillRect/>
          </a:stretch>
        </p:blipFill>
        <p:spPr>
          <a:xfrm>
            <a:off x="640080" y="1371600"/>
            <a:ext cx="6400800" cy="4114800"/>
          </a:xfrm>
          <a:prstGeom prst="rect">
            <a:avLst/>
          </a:prstGeom>
        </p:spPr>
      </p:pic>
      <p:sp>
        <p:nvSpPr>
          <p:cNvPr id="6" name="TextBox 5"/>
          <p:cNvSpPr txBox="1"/>
          <p:nvPr/>
        </p:nvSpPr>
        <p:spPr>
          <a:xfrm>
            <a:off x="640080" y="5669280"/>
            <a:ext cx="10058400" cy="274320"/>
          </a:xfrm>
          <a:prstGeom prst="rect">
            <a:avLst/>
          </a:prstGeom>
          <a:noFill/>
        </p:spPr>
        <p:txBody>
          <a:bodyPr wrap="square">
            <a:spAutoFit/>
          </a:bodyPr>
          <a:lstStyle/>
          <a:p>
            <a:pPr algn="ctr">
              <a:defRPr sz="1000" b="0">
                <a:solidFill>
                  <a:srgbClr val="6B7B96"/>
                </a:solidFill>
                <a:latin typeface="Calibri"/>
              </a:defRPr>
            </a:pPr>
            <a:r>
              <a:t>DTN overhead adds less than 5% to the pure light-time delay</a:t>
            </a:r>
          </a:p>
        </p:txBody>
      </p:sp>
      <p:sp>
        <p:nvSpPr>
          <p:cNvPr id="7" name="TextBox 6"/>
          <p:cNvSpPr txBox="1"/>
          <p:nvPr/>
        </p:nvSpPr>
        <p:spPr>
          <a:xfrm>
            <a:off x="457200" y="6400800"/>
            <a:ext cx="4572000" cy="365760"/>
          </a:xfrm>
          <a:prstGeom prst="rect">
            <a:avLst/>
          </a:prstGeom>
          <a:noFill/>
        </p:spPr>
        <p:txBody>
          <a:bodyPr wrap="square">
            <a:spAutoFit/>
          </a:bodyPr>
          <a:lstStyle/>
          <a:p>
            <a:pPr algn="l">
              <a:defRPr sz="1000" b="0">
                <a:solidFill>
                  <a:srgbClr val="6B7B96"/>
                </a:solidFill>
                <a:latin typeface="Calibri"/>
              </a:defRPr>
            </a:pPr>
            <a:r>
              <a:t>AETHERIX — Interplanetary Communication Network</a:t>
            </a:r>
          </a:p>
        </p:txBody>
      </p:sp>
      <p:sp>
        <p:nvSpPr>
          <p:cNvPr id="8" name="TextBox 7"/>
          <p:cNvSpPr txBox="1"/>
          <p:nvPr/>
        </p:nvSpPr>
        <p:spPr>
          <a:xfrm>
            <a:off x="10058400" y="6400800"/>
            <a:ext cx="1828800" cy="365760"/>
          </a:xfrm>
          <a:prstGeom prst="rect">
            <a:avLst/>
          </a:prstGeom>
          <a:noFill/>
        </p:spPr>
        <p:txBody>
          <a:bodyPr wrap="square">
            <a:spAutoFit/>
          </a:bodyPr>
          <a:lstStyle/>
          <a:p>
            <a:pPr algn="r">
              <a:defRPr sz="1000" b="0">
                <a:solidFill>
                  <a:srgbClr val="6B7B96"/>
                </a:solidFill>
                <a:latin typeface="Calibri"/>
              </a:defRPr>
            </a:pPr>
            <a:r>
              <a:t>23 / 46</a:t>
            </a:r>
          </a:p>
        </p:txBody>
      </p:sp>
    </p:spTree>
  </p:cSld>
  <p:transition spd="med" advClick="1">
    <p:fade/>
  </p:transition>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B0E1A"/>
        </a:solidFill>
        <a:effectLst/>
      </p:bgPr>
    </p:bg>
    <p:spTree>
      <p:nvGrpSpPr>
        <p:cNvPr id="1" name=""/>
        <p:cNvGrpSpPr/>
        <p:nvPr/>
      </p:nvGrpSpPr>
      <p:grpSpPr/>
      <p:sp>
        <p:nvSpPr>
          <p:cNvPr id="2" name="TextBox 1"/>
          <p:cNvSpPr txBox="1"/>
          <p:nvPr/>
        </p:nvSpPr>
        <p:spPr>
          <a:xfrm>
            <a:off x="640080" y="274320"/>
            <a:ext cx="10058400" cy="640080"/>
          </a:xfrm>
          <a:prstGeom prst="rect">
            <a:avLst/>
          </a:prstGeom>
          <a:noFill/>
        </p:spPr>
        <p:txBody>
          <a:bodyPr wrap="square">
            <a:spAutoFit/>
          </a:bodyPr>
          <a:lstStyle/>
          <a:p>
            <a:pPr algn="l">
              <a:defRPr sz="3200" b="1">
                <a:solidFill>
                  <a:srgbClr val="FFFFFF"/>
                </a:solidFill>
                <a:latin typeface="Calibri"/>
              </a:defRPr>
            </a:pPr>
            <a:r>
              <a:t>DATA VOLUME ANALYSIS</a:t>
            </a:r>
          </a:p>
        </p:txBody>
      </p:sp>
      <p:sp>
        <p:nvSpPr>
          <p:cNvPr id="3" name="TextBox 2"/>
          <p:cNvSpPr txBox="1"/>
          <p:nvPr/>
        </p:nvSpPr>
        <p:spPr>
          <a:xfrm>
            <a:off x="640080" y="822960"/>
            <a:ext cx="10058400" cy="365760"/>
          </a:xfrm>
          <a:prstGeom prst="rect">
            <a:avLst/>
          </a:prstGeom>
          <a:noFill/>
        </p:spPr>
        <p:txBody>
          <a:bodyPr wrap="square">
            <a:spAutoFit/>
          </a:bodyPr>
          <a:lstStyle/>
          <a:p>
            <a:pPr algn="l">
              <a:defRPr sz="1600" b="0">
                <a:solidFill>
                  <a:srgbClr val="2ECC71"/>
                </a:solidFill>
                <a:latin typeface="Calibri"/>
              </a:defRPr>
            </a:pPr>
            <a:r>
              <a:t>Daily Throughput Comparison</a:t>
            </a:r>
          </a:p>
        </p:txBody>
      </p:sp>
      <p:sp>
        <p:nvSpPr>
          <p:cNvPr id="4" name="Rectangle 3"/>
          <p:cNvSpPr/>
          <p:nvPr/>
        </p:nvSpPr>
        <p:spPr>
          <a:xfrm>
            <a:off x="640080" y="1234440"/>
            <a:ext cx="2286000" cy="38100"/>
          </a:xfrm>
          <a:prstGeom prst="rect">
            <a:avLst/>
          </a:prstGeom>
          <a:solidFill>
            <a:srgbClr val="2EC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ata_volume.png"/>
          <p:cNvPicPr>
            <a:picLocks noChangeAspect="1"/>
          </p:cNvPicPr>
          <p:nvPr/>
        </p:nvPicPr>
        <p:blipFill>
          <a:blip r:embed="rId2"/>
          <a:stretch>
            <a:fillRect/>
          </a:stretch>
        </p:blipFill>
        <p:spPr>
          <a:xfrm>
            <a:off x="640080" y="1371600"/>
            <a:ext cx="6400800" cy="4114800"/>
          </a:xfrm>
          <a:prstGeom prst="rect">
            <a:avLst/>
          </a:prstGeom>
        </p:spPr>
      </p:pic>
      <p:sp>
        <p:nvSpPr>
          <p:cNvPr id="6" name="TextBox 5"/>
          <p:cNvSpPr txBox="1"/>
          <p:nvPr/>
        </p:nvSpPr>
        <p:spPr>
          <a:xfrm>
            <a:off x="640080" y="5669280"/>
            <a:ext cx="10058400" cy="274320"/>
          </a:xfrm>
          <a:prstGeom prst="rect">
            <a:avLst/>
          </a:prstGeom>
          <a:noFill/>
        </p:spPr>
        <p:txBody>
          <a:bodyPr wrap="square">
            <a:spAutoFit/>
          </a:bodyPr>
          <a:lstStyle/>
          <a:p>
            <a:pPr algn="ctr">
              <a:defRPr sz="1000" b="0">
                <a:solidFill>
                  <a:srgbClr val="6B7B96"/>
                </a:solidFill>
                <a:latin typeface="Calibri"/>
              </a:defRPr>
            </a:pPr>
            <a:r>
              <a:t>AETHERIX delivers 10–20x more data per day than current systems</a:t>
            </a:r>
          </a:p>
        </p:txBody>
      </p:sp>
      <p:sp>
        <p:nvSpPr>
          <p:cNvPr id="7" name="TextBox 6"/>
          <p:cNvSpPr txBox="1"/>
          <p:nvPr/>
        </p:nvSpPr>
        <p:spPr>
          <a:xfrm>
            <a:off x="457200" y="6400800"/>
            <a:ext cx="4572000" cy="365760"/>
          </a:xfrm>
          <a:prstGeom prst="rect">
            <a:avLst/>
          </a:prstGeom>
          <a:noFill/>
        </p:spPr>
        <p:txBody>
          <a:bodyPr wrap="square">
            <a:spAutoFit/>
          </a:bodyPr>
          <a:lstStyle/>
          <a:p>
            <a:pPr algn="l">
              <a:defRPr sz="1000" b="0">
                <a:solidFill>
                  <a:srgbClr val="6B7B96"/>
                </a:solidFill>
                <a:latin typeface="Calibri"/>
              </a:defRPr>
            </a:pPr>
            <a:r>
              <a:t>AETHERIX — Interplanetary Communication Network</a:t>
            </a:r>
          </a:p>
        </p:txBody>
      </p:sp>
      <p:sp>
        <p:nvSpPr>
          <p:cNvPr id="8" name="TextBox 7"/>
          <p:cNvSpPr txBox="1"/>
          <p:nvPr/>
        </p:nvSpPr>
        <p:spPr>
          <a:xfrm>
            <a:off x="10058400" y="6400800"/>
            <a:ext cx="1828800" cy="365760"/>
          </a:xfrm>
          <a:prstGeom prst="rect">
            <a:avLst/>
          </a:prstGeom>
          <a:noFill/>
        </p:spPr>
        <p:txBody>
          <a:bodyPr wrap="square">
            <a:spAutoFit/>
          </a:bodyPr>
          <a:lstStyle/>
          <a:p>
            <a:pPr algn="r">
              <a:defRPr sz="1000" b="0">
                <a:solidFill>
                  <a:srgbClr val="6B7B96"/>
                </a:solidFill>
                <a:latin typeface="Calibri"/>
              </a:defRPr>
            </a:pPr>
            <a:r>
              <a:t>24 / 46</a:t>
            </a:r>
          </a:p>
        </p:txBody>
      </p:sp>
    </p:spTree>
  </p:cSld>
  <p:transition spd="med" advClick="1">
    <p:fade/>
  </p:transition>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B0E1A"/>
        </a:solidFill>
        <a:effectLst/>
      </p:bgPr>
    </p:bg>
    <p:spTree>
      <p:nvGrpSpPr>
        <p:cNvPr id="1" name=""/>
        <p:cNvGrpSpPr/>
        <p:nvPr/>
      </p:nvGrpSpPr>
      <p:grpSpPr/>
      <p:sp>
        <p:nvSpPr>
          <p:cNvPr id="2" name="TextBox 1"/>
          <p:cNvSpPr txBox="1"/>
          <p:nvPr/>
        </p:nvSpPr>
        <p:spPr>
          <a:xfrm>
            <a:off x="548640" y="274320"/>
            <a:ext cx="8229600" cy="548640"/>
          </a:xfrm>
          <a:prstGeom prst="rect">
            <a:avLst/>
          </a:prstGeom>
          <a:noFill/>
        </p:spPr>
        <p:txBody>
          <a:bodyPr wrap="square">
            <a:spAutoFit/>
          </a:bodyPr>
          <a:lstStyle/>
          <a:p>
            <a:pPr algn="l">
              <a:defRPr sz="3200" b="1">
                <a:solidFill>
                  <a:srgbClr val="FFFFFF"/>
                </a:solidFill>
                <a:latin typeface="Calibri"/>
              </a:defRPr>
            </a:pPr>
            <a:r>
              <a:t>RL-BASED ROUTING</a:t>
            </a:r>
          </a:p>
        </p:txBody>
      </p:sp>
      <p:sp>
        <p:nvSpPr>
          <p:cNvPr id="3" name="TextBox 2"/>
          <p:cNvSpPr txBox="1"/>
          <p:nvPr/>
        </p:nvSpPr>
        <p:spPr>
          <a:xfrm>
            <a:off x="548640" y="822960"/>
            <a:ext cx="8229600" cy="365760"/>
          </a:xfrm>
          <a:prstGeom prst="rect">
            <a:avLst/>
          </a:prstGeom>
          <a:noFill/>
        </p:spPr>
        <p:txBody>
          <a:bodyPr wrap="square">
            <a:spAutoFit/>
          </a:bodyPr>
          <a:lstStyle/>
          <a:p>
            <a:pPr algn="l">
              <a:defRPr sz="1600" b="0">
                <a:solidFill>
                  <a:srgbClr val="00D4AA"/>
                </a:solidFill>
                <a:latin typeface="Calibri"/>
              </a:defRPr>
            </a:pPr>
            <a:r>
              <a:t>AI Innovation</a:t>
            </a:r>
          </a:p>
        </p:txBody>
      </p:sp>
      <p:sp>
        <p:nvSpPr>
          <p:cNvPr id="4" name="Rectangle 3"/>
          <p:cNvSpPr/>
          <p:nvPr/>
        </p:nvSpPr>
        <p:spPr>
          <a:xfrm>
            <a:off x="548640" y="1234440"/>
            <a:ext cx="2286000" cy="38100"/>
          </a:xfrm>
          <a:prstGeom prst="rect">
            <a:avLst/>
          </a:prstGeom>
          <a:solidFill>
            <a:srgbClr val="00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74320" y="1417320"/>
            <a:ext cx="4206240" cy="2286000"/>
          </a:xfrm>
          <a:prstGeom prst="roundRect">
            <a:avLst/>
          </a:prstGeom>
          <a:solidFill>
            <a:srgbClr val="141B2D"/>
          </a:solidFill>
          <a:ln w="12700">
            <a:solidFill>
              <a:srgbClr val="FF4D4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defRPr sz="1600" b="1">
                <a:solidFill>
                  <a:srgbClr val="009EFF"/>
                </a:solidFill>
                <a:latin typeface="Calibri"/>
              </a:defRPr>
            </a:pPr>
            <a:r>
              <a:t>Contact Graph Routing</a:t>
            </a:r>
          </a:p>
          <a:p>
            <a:pPr algn="l">
              <a:spcBef>
                <a:spcPts val="200"/>
              </a:spcBef>
              <a:spcAft>
                <a:spcPts val="200"/>
              </a:spcAft>
              <a:defRPr sz="1300" b="0">
                <a:solidFill>
                  <a:srgbClr val="B0B8CC"/>
                </a:solidFill>
                <a:latin typeface="Calibri"/>
              </a:defRPr>
            </a:pPr>
            <a:r>
              <a:t>Pre-computed contact plans required</a:t>
            </a:r>
          </a:p>
          <a:p>
            <a:pPr algn="l">
              <a:spcBef>
                <a:spcPts val="200"/>
              </a:spcBef>
              <a:spcAft>
                <a:spcPts val="200"/>
              </a:spcAft>
              <a:defRPr sz="1300" b="0">
                <a:solidFill>
                  <a:srgbClr val="B0B8CC"/>
                </a:solidFill>
                <a:latin typeface="Calibri"/>
              </a:defRPr>
            </a:pPr>
            <a:r>
              <a:t>Cannot adapt to unexpected link failures</a:t>
            </a:r>
          </a:p>
          <a:p>
            <a:pPr algn="l">
              <a:spcBef>
                <a:spcPts val="200"/>
              </a:spcBef>
              <a:spcAft>
                <a:spcPts val="200"/>
              </a:spcAft>
              <a:defRPr sz="1300" b="0">
                <a:solidFill>
                  <a:srgbClr val="B0B8CC"/>
                </a:solidFill>
                <a:latin typeface="Calibri"/>
              </a:defRPr>
            </a:pPr>
            <a:r>
              <a:t>Computational cost grows O(n³) per route</a:t>
            </a:r>
          </a:p>
          <a:p>
            <a:pPr algn="l">
              <a:spcBef>
                <a:spcPts val="200"/>
              </a:spcBef>
              <a:spcAft>
                <a:spcPts val="200"/>
              </a:spcAft>
              <a:defRPr sz="1300" b="0">
                <a:solidFill>
                  <a:srgbClr val="B0B8CC"/>
                </a:solidFill>
                <a:latin typeface="Calibri"/>
              </a:defRPr>
            </a:pPr>
            <a:r>
              <a:t>No learning from historical performance</a:t>
            </a:r>
          </a:p>
          <a:p>
            <a:pPr algn="l">
              <a:spcBef>
                <a:spcPts val="200"/>
              </a:spcBef>
              <a:spcAft>
                <a:spcPts val="200"/>
              </a:spcAft>
              <a:defRPr sz="1300" b="0">
                <a:solidFill>
                  <a:srgbClr val="B0B8CC"/>
                </a:solidFill>
                <a:latin typeface="Calibri"/>
              </a:defRPr>
            </a:pPr>
            <a:r>
              <a:t>Single-path — ignores multipath opportunity</a:t>
            </a:r>
          </a:p>
        </p:txBody>
      </p:sp>
      <p:sp>
        <p:nvSpPr>
          <p:cNvPr id="6" name="Rounded Rectangle 5"/>
          <p:cNvSpPr/>
          <p:nvPr/>
        </p:nvSpPr>
        <p:spPr>
          <a:xfrm>
            <a:off x="4663440" y="1417320"/>
            <a:ext cx="4206240" cy="2286000"/>
          </a:xfrm>
          <a:prstGeom prst="roundRect">
            <a:avLst/>
          </a:prstGeom>
          <a:solidFill>
            <a:srgbClr val="141B2D"/>
          </a:solidFill>
          <a:ln w="12700">
            <a:solidFill>
              <a:srgbClr val="00D4A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defRPr sz="1600" b="1">
                <a:solidFill>
                  <a:srgbClr val="009EFF"/>
                </a:solidFill>
                <a:latin typeface="Calibri"/>
              </a:defRPr>
            </a:pPr>
            <a:r>
              <a:t>RL Agent</a:t>
            </a:r>
          </a:p>
          <a:p>
            <a:pPr algn="l">
              <a:spcBef>
                <a:spcPts val="200"/>
              </a:spcBef>
              <a:spcAft>
                <a:spcPts val="200"/>
              </a:spcAft>
              <a:defRPr sz="1300" b="0">
                <a:solidFill>
                  <a:srgbClr val="B0B8CC"/>
                </a:solidFill>
                <a:latin typeface="Calibri"/>
              </a:defRPr>
            </a:pPr>
            <a:r>
              <a:t>State: (node, neighbors, link quality, buffer)</a:t>
            </a:r>
          </a:p>
          <a:p>
            <a:pPr algn="l">
              <a:spcBef>
                <a:spcPts val="200"/>
              </a:spcBef>
              <a:spcAft>
                <a:spcPts val="200"/>
              </a:spcAft>
              <a:defRPr sz="1300" b="0">
                <a:solidFill>
                  <a:srgbClr val="B0B8CC"/>
                </a:solidFill>
                <a:latin typeface="Calibri"/>
              </a:defRPr>
            </a:pPr>
            <a:r>
              <a:t>Actions: forward | store | drop | split</a:t>
            </a:r>
          </a:p>
          <a:p>
            <a:pPr algn="l">
              <a:spcBef>
                <a:spcPts val="200"/>
              </a:spcBef>
              <a:spcAft>
                <a:spcPts val="200"/>
              </a:spcAft>
              <a:defRPr sz="1300" b="0">
                <a:solidFill>
                  <a:srgbClr val="B0B8CC"/>
                </a:solidFill>
                <a:latin typeface="Calibri"/>
              </a:defRPr>
            </a:pPr>
            <a:r>
              <a:t>Reward: R = α(delivery) − β(delay) − γ(hops) − δ(drops) − ε(energy)</a:t>
            </a:r>
          </a:p>
          <a:p>
            <a:pPr algn="l">
              <a:spcBef>
                <a:spcPts val="200"/>
              </a:spcBef>
              <a:spcAft>
                <a:spcPts val="200"/>
              </a:spcAft>
              <a:defRPr sz="1300" b="0">
                <a:solidFill>
                  <a:srgbClr val="B0B8CC"/>
                </a:solidFill>
                <a:latin typeface="Calibri"/>
              </a:defRPr>
            </a:pPr>
            <a:r>
              <a:t>ε-greedy exploration with decay</a:t>
            </a:r>
          </a:p>
          <a:p>
            <a:pPr algn="l">
              <a:spcBef>
                <a:spcPts val="200"/>
              </a:spcBef>
              <a:spcAft>
                <a:spcPts val="200"/>
              </a:spcAft>
              <a:defRPr sz="1300" b="0">
                <a:solidFill>
                  <a:srgbClr val="B0B8CC"/>
                </a:solidFill>
                <a:latin typeface="Calibri"/>
              </a:defRPr>
            </a:pPr>
            <a:r>
              <a:t>Q-table + federated aggregation across nodes</a:t>
            </a:r>
          </a:p>
        </p:txBody>
      </p:sp>
      <p:sp>
        <p:nvSpPr>
          <p:cNvPr id="7" name="Rounded Rectangle 6"/>
          <p:cNvSpPr/>
          <p:nvPr/>
        </p:nvSpPr>
        <p:spPr>
          <a:xfrm>
            <a:off x="274320" y="3886200"/>
            <a:ext cx="2834640" cy="1005840"/>
          </a:xfrm>
          <a:prstGeom prst="roundRect">
            <a:avLst/>
          </a:prstGeom>
          <a:solidFill>
            <a:srgbClr val="141B2D"/>
          </a:solidFill>
          <a:ln w="12700">
            <a:solidFill>
              <a:srgbClr val="2ECC7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400" b="1">
                <a:solidFill>
                  <a:srgbClr val="2ECC71"/>
                </a:solidFill>
                <a:latin typeface="Calibri"/>
              </a:defRPr>
            </a:pPr>
            <a:r>
              <a:t>+20–40%</a:t>
            </a:r>
          </a:p>
          <a:p>
            <a:pPr algn="ctr">
              <a:spcBef>
                <a:spcPts val="200"/>
              </a:spcBef>
              <a:spcAft>
                <a:spcPts val="400"/>
              </a:spcAft>
              <a:defRPr sz="1000" b="0">
                <a:solidFill>
                  <a:srgbClr val="B0B8CC"/>
                </a:solidFill>
                <a:latin typeface="Calibri"/>
              </a:defRPr>
            </a:pPr>
            <a:r>
              <a:t>Faster delivery vs CGR</a:t>
            </a:r>
          </a:p>
        </p:txBody>
      </p:sp>
      <p:sp>
        <p:nvSpPr>
          <p:cNvPr id="8" name="Rounded Rectangle 7"/>
          <p:cNvSpPr/>
          <p:nvPr/>
        </p:nvSpPr>
        <p:spPr>
          <a:xfrm>
            <a:off x="3246120" y="3886200"/>
            <a:ext cx="2834640" cy="1005840"/>
          </a:xfrm>
          <a:prstGeom prst="roundRect">
            <a:avLst/>
          </a:prstGeom>
          <a:solidFill>
            <a:srgbClr val="141B2D"/>
          </a:solidFill>
          <a:ln w="12700">
            <a:solidFill>
              <a:srgbClr val="009E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400" b="1">
                <a:solidFill>
                  <a:srgbClr val="009EFF"/>
                </a:solidFill>
                <a:latin typeface="Calibri"/>
              </a:defRPr>
            </a:pPr>
            <a:r>
              <a:t>3600×</a:t>
            </a:r>
          </a:p>
          <a:p>
            <a:pPr algn="ctr">
              <a:spcBef>
                <a:spcPts val="200"/>
              </a:spcBef>
              <a:spcAft>
                <a:spcPts val="400"/>
              </a:spcAft>
              <a:defRPr sz="1000" b="0">
                <a:solidFill>
                  <a:srgbClr val="B0B8CC"/>
                </a:solidFill>
                <a:latin typeface="Calibri"/>
              </a:defRPr>
            </a:pPr>
            <a:r>
              <a:t>Recovery speed</a:t>
            </a:r>
          </a:p>
        </p:txBody>
      </p:sp>
      <p:sp>
        <p:nvSpPr>
          <p:cNvPr id="9" name="Rounded Rectangle 8"/>
          <p:cNvSpPr/>
          <p:nvPr/>
        </p:nvSpPr>
        <p:spPr>
          <a:xfrm>
            <a:off x="6217920" y="3886200"/>
            <a:ext cx="2834640" cy="1005840"/>
          </a:xfrm>
          <a:prstGeom prst="roundRect">
            <a:avLst/>
          </a:prstGeom>
          <a:solidFill>
            <a:srgbClr val="141B2D"/>
          </a:solidFill>
          <a:ln w="127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400" b="1">
                <a:solidFill>
                  <a:srgbClr val="8B5CF6"/>
                </a:solidFill>
                <a:latin typeface="Calibri"/>
              </a:defRPr>
            </a:pPr>
            <a:r>
              <a:t>Federated</a:t>
            </a:r>
          </a:p>
          <a:p>
            <a:pPr algn="ctr">
              <a:spcBef>
                <a:spcPts val="200"/>
              </a:spcBef>
              <a:spcAft>
                <a:spcPts val="400"/>
              </a:spcAft>
              <a:defRPr sz="1000" b="0">
                <a:solidFill>
                  <a:srgbClr val="B0B8CC"/>
                </a:solidFill>
                <a:latin typeface="Calibri"/>
              </a:defRPr>
            </a:pPr>
            <a:r>
              <a:t>Multi-agent learning</a:t>
            </a:r>
          </a:p>
        </p:txBody>
      </p:sp>
      <p:sp>
        <p:nvSpPr>
          <p:cNvPr id="10" name="TextBox 9"/>
          <p:cNvSpPr txBox="1"/>
          <p:nvPr/>
        </p:nvSpPr>
        <p:spPr>
          <a:xfrm>
            <a:off x="457200" y="6400800"/>
            <a:ext cx="4572000" cy="365760"/>
          </a:xfrm>
          <a:prstGeom prst="rect">
            <a:avLst/>
          </a:prstGeom>
          <a:noFill/>
        </p:spPr>
        <p:txBody>
          <a:bodyPr wrap="square">
            <a:spAutoFit/>
          </a:bodyPr>
          <a:lstStyle/>
          <a:p>
            <a:pPr algn="l">
              <a:defRPr sz="1000" b="0">
                <a:solidFill>
                  <a:srgbClr val="6B7B96"/>
                </a:solidFill>
                <a:latin typeface="Calibri"/>
              </a:defRPr>
            </a:pPr>
            <a:r>
              <a:t>AETHERIX — Interplanetary Communication Network</a:t>
            </a:r>
          </a:p>
        </p:txBody>
      </p:sp>
      <p:sp>
        <p:nvSpPr>
          <p:cNvPr id="11" name="TextBox 10"/>
          <p:cNvSpPr txBox="1"/>
          <p:nvPr/>
        </p:nvSpPr>
        <p:spPr>
          <a:xfrm>
            <a:off x="10058400" y="6400800"/>
            <a:ext cx="1828800" cy="365760"/>
          </a:xfrm>
          <a:prstGeom prst="rect">
            <a:avLst/>
          </a:prstGeom>
          <a:noFill/>
        </p:spPr>
        <p:txBody>
          <a:bodyPr wrap="square">
            <a:spAutoFit/>
          </a:bodyPr>
          <a:lstStyle/>
          <a:p>
            <a:pPr algn="r">
              <a:defRPr sz="1000" b="0">
                <a:solidFill>
                  <a:srgbClr val="6B7B96"/>
                </a:solidFill>
                <a:latin typeface="Calibri"/>
              </a:defRPr>
            </a:pPr>
            <a:r>
              <a:t>25 / 46</a:t>
            </a:r>
          </a:p>
        </p:txBody>
      </p:sp>
    </p:spTree>
  </p:cSld>
  <p:transition spd="med" advClick="1">
    <p:wipe dir="d"/>
  </p:transition>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B0E1A"/>
        </a:solidFill>
        <a:effectLst/>
      </p:bgPr>
    </p:bg>
    <p:spTree>
      <p:nvGrpSpPr>
        <p:cNvPr id="1" name=""/>
        <p:cNvGrpSpPr/>
        <p:nvPr/>
      </p:nvGrpSpPr>
      <p:grpSpPr/>
      <p:sp>
        <p:nvSpPr>
          <p:cNvPr id="2" name="TextBox 1"/>
          <p:cNvSpPr txBox="1"/>
          <p:nvPr/>
        </p:nvSpPr>
        <p:spPr>
          <a:xfrm>
            <a:off x="640080" y="274320"/>
            <a:ext cx="10058400" cy="640080"/>
          </a:xfrm>
          <a:prstGeom prst="rect">
            <a:avLst/>
          </a:prstGeom>
          <a:noFill/>
        </p:spPr>
        <p:txBody>
          <a:bodyPr wrap="square">
            <a:spAutoFit/>
          </a:bodyPr>
          <a:lstStyle/>
          <a:p>
            <a:pPr algn="l">
              <a:defRPr sz="3200" b="1">
                <a:solidFill>
                  <a:srgbClr val="FFFFFF"/>
                </a:solidFill>
                <a:latin typeface="Calibri"/>
              </a:defRPr>
            </a:pPr>
            <a:r>
              <a:t>RL ROUTING HEATMAP</a:t>
            </a:r>
          </a:p>
        </p:txBody>
      </p:sp>
      <p:sp>
        <p:nvSpPr>
          <p:cNvPr id="3" name="TextBox 2"/>
          <p:cNvSpPr txBox="1"/>
          <p:nvPr/>
        </p:nvSpPr>
        <p:spPr>
          <a:xfrm>
            <a:off x="640080" y="822960"/>
            <a:ext cx="10058400" cy="365760"/>
          </a:xfrm>
          <a:prstGeom prst="rect">
            <a:avLst/>
          </a:prstGeom>
          <a:noFill/>
        </p:spPr>
        <p:txBody>
          <a:bodyPr wrap="square">
            <a:spAutoFit/>
          </a:bodyPr>
          <a:lstStyle/>
          <a:p>
            <a:pPr algn="l">
              <a:defRPr sz="1600" b="0">
                <a:solidFill>
                  <a:srgbClr val="00D4AA"/>
                </a:solidFill>
                <a:latin typeface="Calibri"/>
              </a:defRPr>
            </a:pPr>
            <a:r>
              <a:t>Q-Value Distribution</a:t>
            </a:r>
          </a:p>
        </p:txBody>
      </p:sp>
      <p:sp>
        <p:nvSpPr>
          <p:cNvPr id="4" name="Rectangle 3"/>
          <p:cNvSpPr/>
          <p:nvPr/>
        </p:nvSpPr>
        <p:spPr>
          <a:xfrm>
            <a:off x="640080" y="1234440"/>
            <a:ext cx="2286000" cy="381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rl_routing_heatmap.png"/>
          <p:cNvPicPr>
            <a:picLocks noChangeAspect="1"/>
          </p:cNvPicPr>
          <p:nvPr/>
        </p:nvPicPr>
        <p:blipFill>
          <a:blip r:embed="rId2"/>
          <a:stretch>
            <a:fillRect/>
          </a:stretch>
        </p:blipFill>
        <p:spPr>
          <a:xfrm>
            <a:off x="640080" y="1371600"/>
            <a:ext cx="6400800" cy="4114800"/>
          </a:xfrm>
          <a:prstGeom prst="rect">
            <a:avLst/>
          </a:prstGeom>
        </p:spPr>
      </p:pic>
      <p:sp>
        <p:nvSpPr>
          <p:cNvPr id="6" name="TextBox 5"/>
          <p:cNvSpPr txBox="1"/>
          <p:nvPr/>
        </p:nvSpPr>
        <p:spPr>
          <a:xfrm>
            <a:off x="640080" y="5669280"/>
            <a:ext cx="10058400" cy="274320"/>
          </a:xfrm>
          <a:prstGeom prst="rect">
            <a:avLst/>
          </a:prstGeom>
          <a:noFill/>
        </p:spPr>
        <p:txBody>
          <a:bodyPr wrap="square">
            <a:spAutoFit/>
          </a:bodyPr>
          <a:lstStyle/>
          <a:p>
            <a:pPr algn="ctr">
              <a:defRPr sz="1000" b="0">
                <a:solidFill>
                  <a:srgbClr val="6B7B96"/>
                </a:solidFill>
                <a:latin typeface="Calibri"/>
              </a:defRPr>
            </a:pPr>
            <a:r>
              <a:t>Learned routing preferences across network nodes — brighter = higher Q-value</a:t>
            </a:r>
          </a:p>
        </p:txBody>
      </p:sp>
      <p:sp>
        <p:nvSpPr>
          <p:cNvPr id="7" name="TextBox 6"/>
          <p:cNvSpPr txBox="1"/>
          <p:nvPr/>
        </p:nvSpPr>
        <p:spPr>
          <a:xfrm>
            <a:off x="457200" y="6400800"/>
            <a:ext cx="4572000" cy="365760"/>
          </a:xfrm>
          <a:prstGeom prst="rect">
            <a:avLst/>
          </a:prstGeom>
          <a:noFill/>
        </p:spPr>
        <p:txBody>
          <a:bodyPr wrap="square">
            <a:spAutoFit/>
          </a:bodyPr>
          <a:lstStyle/>
          <a:p>
            <a:pPr algn="l">
              <a:defRPr sz="1000" b="0">
                <a:solidFill>
                  <a:srgbClr val="6B7B96"/>
                </a:solidFill>
                <a:latin typeface="Calibri"/>
              </a:defRPr>
            </a:pPr>
            <a:r>
              <a:t>AETHERIX — Interplanetary Communication Network</a:t>
            </a:r>
          </a:p>
        </p:txBody>
      </p:sp>
      <p:sp>
        <p:nvSpPr>
          <p:cNvPr id="8" name="TextBox 7"/>
          <p:cNvSpPr txBox="1"/>
          <p:nvPr/>
        </p:nvSpPr>
        <p:spPr>
          <a:xfrm>
            <a:off x="10058400" y="6400800"/>
            <a:ext cx="1828800" cy="365760"/>
          </a:xfrm>
          <a:prstGeom prst="rect">
            <a:avLst/>
          </a:prstGeom>
          <a:noFill/>
        </p:spPr>
        <p:txBody>
          <a:bodyPr wrap="square">
            <a:spAutoFit/>
          </a:bodyPr>
          <a:lstStyle/>
          <a:p>
            <a:pPr algn="r">
              <a:defRPr sz="1000" b="0">
                <a:solidFill>
                  <a:srgbClr val="6B7B96"/>
                </a:solidFill>
                <a:latin typeface="Calibri"/>
              </a:defRPr>
            </a:pPr>
            <a:r>
              <a:t>26 / 46</a:t>
            </a:r>
          </a:p>
        </p:txBody>
      </p:sp>
    </p:spTree>
  </p:cSld>
  <p:transition spd="med" advClick="1">
    <p:fade/>
  </p:transition>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B0E1A"/>
        </a:solidFill>
        <a:effectLst/>
      </p:bgPr>
    </p:bg>
    <p:spTree>
      <p:nvGrpSpPr>
        <p:cNvPr id="1" name=""/>
        <p:cNvGrpSpPr/>
        <p:nvPr/>
      </p:nvGrpSpPr>
      <p:grpSpPr/>
      <p:sp>
        <p:nvSpPr>
          <p:cNvPr id="2" name="TextBox 1"/>
          <p:cNvSpPr txBox="1"/>
          <p:nvPr/>
        </p:nvSpPr>
        <p:spPr>
          <a:xfrm>
            <a:off x="640080" y="274320"/>
            <a:ext cx="10058400" cy="640080"/>
          </a:xfrm>
          <a:prstGeom prst="rect">
            <a:avLst/>
          </a:prstGeom>
          <a:noFill/>
        </p:spPr>
        <p:txBody>
          <a:bodyPr wrap="square">
            <a:spAutoFit/>
          </a:bodyPr>
          <a:lstStyle/>
          <a:p>
            <a:pPr algn="l">
              <a:defRPr sz="3200" b="1">
                <a:solidFill>
                  <a:srgbClr val="FFFFFF"/>
                </a:solidFill>
                <a:latin typeface="Calibri"/>
              </a:defRPr>
            </a:pPr>
            <a:r>
              <a:t>ENERGY EFFICIENCY</a:t>
            </a:r>
          </a:p>
        </p:txBody>
      </p:sp>
      <p:sp>
        <p:nvSpPr>
          <p:cNvPr id="3" name="TextBox 2"/>
          <p:cNvSpPr txBox="1"/>
          <p:nvPr/>
        </p:nvSpPr>
        <p:spPr>
          <a:xfrm>
            <a:off x="640080" y="822960"/>
            <a:ext cx="10058400" cy="365760"/>
          </a:xfrm>
          <a:prstGeom prst="rect">
            <a:avLst/>
          </a:prstGeom>
          <a:noFill/>
        </p:spPr>
        <p:txBody>
          <a:bodyPr wrap="square">
            <a:spAutoFit/>
          </a:bodyPr>
          <a:lstStyle/>
          <a:p>
            <a:pPr algn="l">
              <a:defRPr sz="1600" b="0">
                <a:solidFill>
                  <a:srgbClr val="8B5CF6"/>
                </a:solidFill>
                <a:latin typeface="Calibri"/>
              </a:defRPr>
            </a:pPr>
            <a:r>
              <a:t>RL Agent Power Optimization</a:t>
            </a:r>
          </a:p>
        </p:txBody>
      </p:sp>
      <p:sp>
        <p:nvSpPr>
          <p:cNvPr id="4" name="Rectangle 3"/>
          <p:cNvSpPr/>
          <p:nvPr/>
        </p:nvSpPr>
        <p:spPr>
          <a:xfrm>
            <a:off x="640080" y="1234440"/>
            <a:ext cx="2286000" cy="3810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energy_efficiency.png"/>
          <p:cNvPicPr>
            <a:picLocks noChangeAspect="1"/>
          </p:cNvPicPr>
          <p:nvPr/>
        </p:nvPicPr>
        <p:blipFill>
          <a:blip r:embed="rId2"/>
          <a:stretch>
            <a:fillRect/>
          </a:stretch>
        </p:blipFill>
        <p:spPr>
          <a:xfrm>
            <a:off x="640080" y="1371600"/>
            <a:ext cx="6400800" cy="4114800"/>
          </a:xfrm>
          <a:prstGeom prst="rect">
            <a:avLst/>
          </a:prstGeom>
        </p:spPr>
      </p:pic>
      <p:sp>
        <p:nvSpPr>
          <p:cNvPr id="6" name="TextBox 5"/>
          <p:cNvSpPr txBox="1"/>
          <p:nvPr/>
        </p:nvSpPr>
        <p:spPr>
          <a:xfrm>
            <a:off x="640080" y="5669280"/>
            <a:ext cx="10058400" cy="274320"/>
          </a:xfrm>
          <a:prstGeom prst="rect">
            <a:avLst/>
          </a:prstGeom>
          <a:noFill/>
        </p:spPr>
        <p:txBody>
          <a:bodyPr wrap="square">
            <a:spAutoFit/>
          </a:bodyPr>
          <a:lstStyle/>
          <a:p>
            <a:pPr algn="ctr">
              <a:defRPr sz="1000" b="0">
                <a:solidFill>
                  <a:srgbClr val="6B7B96"/>
                </a:solidFill>
                <a:latin typeface="Calibri"/>
              </a:defRPr>
            </a:pPr>
            <a:r>
              <a:t>The reward function penalizes energy waste, optimizing for mission lifetime</a:t>
            </a:r>
          </a:p>
        </p:txBody>
      </p:sp>
      <p:sp>
        <p:nvSpPr>
          <p:cNvPr id="7" name="TextBox 6"/>
          <p:cNvSpPr txBox="1"/>
          <p:nvPr/>
        </p:nvSpPr>
        <p:spPr>
          <a:xfrm>
            <a:off x="457200" y="6400800"/>
            <a:ext cx="4572000" cy="365760"/>
          </a:xfrm>
          <a:prstGeom prst="rect">
            <a:avLst/>
          </a:prstGeom>
          <a:noFill/>
        </p:spPr>
        <p:txBody>
          <a:bodyPr wrap="square">
            <a:spAutoFit/>
          </a:bodyPr>
          <a:lstStyle/>
          <a:p>
            <a:pPr algn="l">
              <a:defRPr sz="1000" b="0">
                <a:solidFill>
                  <a:srgbClr val="6B7B96"/>
                </a:solidFill>
                <a:latin typeface="Calibri"/>
              </a:defRPr>
            </a:pPr>
            <a:r>
              <a:t>AETHERIX — Interplanetary Communication Network</a:t>
            </a:r>
          </a:p>
        </p:txBody>
      </p:sp>
      <p:sp>
        <p:nvSpPr>
          <p:cNvPr id="8" name="TextBox 7"/>
          <p:cNvSpPr txBox="1"/>
          <p:nvPr/>
        </p:nvSpPr>
        <p:spPr>
          <a:xfrm>
            <a:off x="10058400" y="6400800"/>
            <a:ext cx="1828800" cy="365760"/>
          </a:xfrm>
          <a:prstGeom prst="rect">
            <a:avLst/>
          </a:prstGeom>
          <a:noFill/>
        </p:spPr>
        <p:txBody>
          <a:bodyPr wrap="square">
            <a:spAutoFit/>
          </a:bodyPr>
          <a:lstStyle/>
          <a:p>
            <a:pPr algn="r">
              <a:defRPr sz="1000" b="0">
                <a:solidFill>
                  <a:srgbClr val="6B7B96"/>
                </a:solidFill>
                <a:latin typeface="Calibri"/>
              </a:defRPr>
            </a:pPr>
            <a:r>
              <a:t>27 / 46</a:t>
            </a:r>
          </a:p>
        </p:txBody>
      </p:sp>
    </p:spTree>
  </p:cSld>
  <p:transition spd="med" advClick="1">
    <p:fade/>
  </p:transition>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B0E1A"/>
        </a:solidFill>
        <a:effectLst/>
      </p:bgPr>
    </p:bg>
    <p:spTree>
      <p:nvGrpSpPr>
        <p:cNvPr id="1" name=""/>
        <p:cNvGrpSpPr/>
        <p:nvPr/>
      </p:nvGrpSpPr>
      <p:grpSpPr/>
      <p:sp>
        <p:nvSpPr>
          <p:cNvPr id="2" name="TextBox 1"/>
          <p:cNvSpPr txBox="1"/>
          <p:nvPr/>
        </p:nvSpPr>
        <p:spPr>
          <a:xfrm>
            <a:off x="548640" y="274320"/>
            <a:ext cx="8229600" cy="548640"/>
          </a:xfrm>
          <a:prstGeom prst="rect">
            <a:avLst/>
          </a:prstGeom>
          <a:noFill/>
        </p:spPr>
        <p:txBody>
          <a:bodyPr wrap="square">
            <a:spAutoFit/>
          </a:bodyPr>
          <a:lstStyle/>
          <a:p>
            <a:pPr algn="l">
              <a:defRPr sz="3200" b="1">
                <a:solidFill>
                  <a:srgbClr val="FFFFFF"/>
                </a:solidFill>
                <a:latin typeface="Calibri"/>
              </a:defRPr>
            </a:pPr>
            <a:r>
              <a:t>QUANTUM SECURITY</a:t>
            </a:r>
          </a:p>
        </p:txBody>
      </p:sp>
      <p:sp>
        <p:nvSpPr>
          <p:cNvPr id="3" name="TextBox 2"/>
          <p:cNvSpPr txBox="1"/>
          <p:nvPr/>
        </p:nvSpPr>
        <p:spPr>
          <a:xfrm>
            <a:off x="548640" y="822960"/>
            <a:ext cx="8229600" cy="365760"/>
          </a:xfrm>
          <a:prstGeom prst="rect">
            <a:avLst/>
          </a:prstGeom>
          <a:noFill/>
        </p:spPr>
        <p:txBody>
          <a:bodyPr wrap="square">
            <a:spAutoFit/>
          </a:bodyPr>
          <a:lstStyle/>
          <a:p>
            <a:pPr algn="l">
              <a:defRPr sz="1600" b="0">
                <a:solidFill>
                  <a:srgbClr val="00D4AA"/>
                </a:solidFill>
                <a:latin typeface="Calibri"/>
              </a:defRPr>
            </a:pPr>
            <a:r>
              <a:t>Future-Proof</a:t>
            </a:r>
          </a:p>
        </p:txBody>
      </p:sp>
      <p:sp>
        <p:nvSpPr>
          <p:cNvPr id="4" name="Rectangle 3"/>
          <p:cNvSpPr/>
          <p:nvPr/>
        </p:nvSpPr>
        <p:spPr>
          <a:xfrm>
            <a:off x="548640" y="1234440"/>
            <a:ext cx="2286000" cy="38100"/>
          </a:xfrm>
          <a:prstGeom prst="rect">
            <a:avLst/>
          </a:prstGeom>
          <a:solidFill>
            <a:srgbClr val="00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74320" y="1417320"/>
            <a:ext cx="4389120" cy="2286000"/>
          </a:xfrm>
          <a:prstGeom prst="roundRect">
            <a:avLst/>
          </a:prstGeom>
          <a:solidFill>
            <a:srgbClr val="141B2D"/>
          </a:solidFill>
          <a:ln w="127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defRPr sz="1600" b="1">
                <a:solidFill>
                  <a:srgbClr val="009EFF"/>
                </a:solidFill>
                <a:latin typeface="Calibri"/>
              </a:defRPr>
            </a:pPr>
            <a:r>
              <a:t>BB84 Protocol</a:t>
            </a:r>
          </a:p>
          <a:p>
            <a:pPr algn="l">
              <a:spcBef>
                <a:spcPts val="200"/>
              </a:spcBef>
              <a:spcAft>
                <a:spcPts val="200"/>
              </a:spcAft>
              <a:defRPr sz="1300" b="0">
                <a:solidFill>
                  <a:srgbClr val="B0B8CC"/>
                </a:solidFill>
                <a:latin typeface="Calibri"/>
              </a:defRPr>
            </a:pPr>
            <a:r>
              <a:t>1. Alice sends random polarized photons (H/V, D/A bases)</a:t>
            </a:r>
          </a:p>
          <a:p>
            <a:pPr algn="l">
              <a:spcBef>
                <a:spcPts val="200"/>
              </a:spcBef>
              <a:spcAft>
                <a:spcPts val="200"/>
              </a:spcAft>
              <a:defRPr sz="1300" b="0">
                <a:solidFill>
                  <a:srgbClr val="B0B8CC"/>
                </a:solidFill>
                <a:latin typeface="Calibri"/>
              </a:defRPr>
            </a:pPr>
            <a:r>
              <a:t>2. Bob measures each photon in a random basis</a:t>
            </a:r>
          </a:p>
          <a:p>
            <a:pPr algn="l">
              <a:spcBef>
                <a:spcPts val="200"/>
              </a:spcBef>
              <a:spcAft>
                <a:spcPts val="200"/>
              </a:spcAft>
              <a:defRPr sz="1300" b="0">
                <a:solidFill>
                  <a:srgbClr val="B0B8CC"/>
                </a:solidFill>
                <a:latin typeface="Calibri"/>
              </a:defRPr>
            </a:pPr>
            <a:r>
              <a:t>3. Public reconciliation — keep matching-basis bits</a:t>
            </a:r>
          </a:p>
          <a:p>
            <a:pPr algn="l">
              <a:spcBef>
                <a:spcPts val="200"/>
              </a:spcBef>
              <a:spcAft>
                <a:spcPts val="200"/>
              </a:spcAft>
              <a:defRPr sz="1300" b="0">
                <a:solidFill>
                  <a:srgbClr val="B0B8CC"/>
                </a:solidFill>
                <a:latin typeface="Calibri"/>
              </a:defRPr>
            </a:pPr>
            <a:r>
              <a:t>4. Error estimation — sample subset for QBER</a:t>
            </a:r>
          </a:p>
          <a:p>
            <a:pPr algn="l">
              <a:spcBef>
                <a:spcPts val="200"/>
              </a:spcBef>
              <a:spcAft>
                <a:spcPts val="200"/>
              </a:spcAft>
              <a:defRPr sz="1300" b="0">
                <a:solidFill>
                  <a:srgbClr val="B0B8CC"/>
                </a:solidFill>
                <a:latin typeface="Calibri"/>
              </a:defRPr>
            </a:pPr>
            <a:r>
              <a:t>5. Privacy amplification — universal hashing</a:t>
            </a:r>
          </a:p>
          <a:p>
            <a:pPr algn="l">
              <a:spcBef>
                <a:spcPts val="200"/>
              </a:spcBef>
              <a:spcAft>
                <a:spcPts val="200"/>
              </a:spcAft>
              <a:defRPr sz="1300" b="0">
                <a:solidFill>
                  <a:srgbClr val="B0B8CC"/>
                </a:solidFill>
                <a:latin typeface="Calibri"/>
              </a:defRPr>
            </a:pPr>
            <a:r>
              <a:t>6. QBER &lt; 11% → SECURE key established</a:t>
            </a:r>
          </a:p>
        </p:txBody>
      </p:sp>
      <p:sp>
        <p:nvSpPr>
          <p:cNvPr id="6" name="Rounded Rectangle 5"/>
          <p:cNvSpPr/>
          <p:nvPr/>
        </p:nvSpPr>
        <p:spPr>
          <a:xfrm>
            <a:off x="4846320" y="1417320"/>
            <a:ext cx="4023360" cy="2286000"/>
          </a:xfrm>
          <a:prstGeom prst="roundRect">
            <a:avLst/>
          </a:prstGeom>
          <a:solidFill>
            <a:srgbClr val="141B2D"/>
          </a:solidFill>
          <a:ln w="12700">
            <a:solidFill>
              <a:srgbClr val="FF8C00"/>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defRPr sz="1600" b="1">
                <a:solidFill>
                  <a:srgbClr val="009EFF"/>
                </a:solidFill>
                <a:latin typeface="Calibri"/>
              </a:defRPr>
            </a:pPr>
            <a:r>
              <a:t>Post-Quantum Cryptography</a:t>
            </a:r>
          </a:p>
          <a:p>
            <a:pPr algn="l">
              <a:spcBef>
                <a:spcPts val="200"/>
              </a:spcBef>
              <a:spcAft>
                <a:spcPts val="200"/>
              </a:spcAft>
              <a:defRPr sz="1300" b="0">
                <a:solidFill>
                  <a:srgbClr val="B0B8CC"/>
                </a:solidFill>
                <a:latin typeface="Calibri"/>
              </a:defRPr>
            </a:pPr>
            <a:r>
              <a:t>Kyber (ML-KEM) — key encapsulation</a:t>
            </a:r>
          </a:p>
          <a:p>
            <a:pPr algn="l">
              <a:spcBef>
                <a:spcPts val="200"/>
              </a:spcBef>
              <a:spcAft>
                <a:spcPts val="200"/>
              </a:spcAft>
              <a:defRPr sz="1300" b="0">
                <a:solidFill>
                  <a:srgbClr val="B0B8CC"/>
                </a:solidFill>
                <a:latin typeface="Calibri"/>
              </a:defRPr>
            </a:pPr>
            <a:r>
              <a:t>Dilithium (ML-DSA) — digital signatures</a:t>
            </a:r>
          </a:p>
          <a:p>
            <a:pPr algn="l">
              <a:spcBef>
                <a:spcPts val="200"/>
              </a:spcBef>
              <a:spcAft>
                <a:spcPts val="200"/>
              </a:spcAft>
              <a:defRPr sz="1300" b="0">
                <a:solidFill>
                  <a:srgbClr val="B0B8CC"/>
                </a:solidFill>
                <a:latin typeface="Calibri"/>
              </a:defRPr>
            </a:pPr>
            <a:r>
              <a:t>NIST PQC standard — quantum-resistant</a:t>
            </a:r>
          </a:p>
          <a:p>
            <a:pPr algn="l">
              <a:spcBef>
                <a:spcPts val="200"/>
              </a:spcBef>
              <a:spcAft>
                <a:spcPts val="200"/>
              </a:spcAft>
              <a:defRPr sz="1300" b="0">
                <a:solidFill>
                  <a:srgbClr val="B0B8CC"/>
                </a:solidFill>
                <a:latin typeface="Calibri"/>
              </a:defRPr>
            </a:pPr>
            <a:r>
              <a:t>Hybrid classical-quantum key exchange</a:t>
            </a:r>
          </a:p>
        </p:txBody>
      </p:sp>
      <p:graphicFrame>
        <p:nvGraphicFramePr>
          <p:cNvPr id="7" name="Table 6"/>
          <p:cNvGraphicFramePr>
            <a:graphicFrameLocks noGrp="1"/>
          </p:cNvGraphicFramePr>
          <p:nvPr/>
        </p:nvGraphicFramePr>
        <p:xfrm>
          <a:off x="274320" y="3886200"/>
          <a:ext cx="8595360" cy="1371600"/>
        </p:xfrm>
        <a:graphic>
          <a:graphicData uri="http://schemas.openxmlformats.org/drawingml/2006/table">
            <a:tbl>
              <a:tblPr firstRow="1" bandRow="1">
                <a:tableStyleId>{5C22544A-7EE6-4342-B048-85BDC9FD1C3A}</a:tableStyleId>
              </a:tblPr>
              <a:tblGrid>
                <a:gridCol w="2865120"/>
                <a:gridCol w="2865120"/>
                <a:gridCol w="2865120"/>
              </a:tblGrid>
              <a:tr h="342900">
                <a:tc>
                  <a:txBody>
                    <a:bodyPr/>
                    <a:lstStyle/>
                    <a:p>
                      <a:pPr algn="ctr">
                        <a:defRPr b="1" sz="1200">
                          <a:solidFill>
                            <a:srgbClr val="FFFFFF"/>
                          </a:solidFill>
                          <a:latin typeface="Calibri"/>
                        </a:defRPr>
                      </a:pPr>
                      <a:r>
                        <a:t>Phase</a:t>
                      </a:r>
                    </a:p>
                  </a:txBody>
                  <a:tcPr anchor="ctr" marL="73152" marR="73152" marT="36576" marB="36576">
                    <a:solidFill>
                      <a:srgbClr val="8B5CF6"/>
                    </a:solidFill>
                  </a:tcPr>
                </a:tc>
                <a:tc>
                  <a:txBody>
                    <a:bodyPr/>
                    <a:lstStyle/>
                    <a:p>
                      <a:pPr algn="ctr">
                        <a:defRPr b="1" sz="1200">
                          <a:solidFill>
                            <a:srgbClr val="FFFFFF"/>
                          </a:solidFill>
                          <a:latin typeface="Calibri"/>
                        </a:defRPr>
                      </a:pPr>
                      <a:r>
                        <a:t>Protocol</a:t>
                      </a:r>
                    </a:p>
                  </a:txBody>
                  <a:tcPr anchor="ctr" marL="73152" marR="73152" marT="36576" marB="36576">
                    <a:solidFill>
                      <a:srgbClr val="8B5CF6"/>
                    </a:solidFill>
                  </a:tcPr>
                </a:tc>
                <a:tc>
                  <a:txBody>
                    <a:bodyPr/>
                    <a:lstStyle/>
                    <a:p>
                      <a:pPr algn="ctr">
                        <a:defRPr b="1" sz="1200">
                          <a:solidFill>
                            <a:srgbClr val="FFFFFF"/>
                          </a:solidFill>
                          <a:latin typeface="Calibri"/>
                        </a:defRPr>
                      </a:pPr>
                      <a:r>
                        <a:t>Key Rate</a:t>
                      </a:r>
                    </a:p>
                  </a:txBody>
                  <a:tcPr anchor="ctr" marL="73152" marR="73152" marT="36576" marB="36576">
                    <a:solidFill>
                      <a:srgbClr val="8B5CF6"/>
                    </a:solidFill>
                  </a:tcPr>
                </a:tc>
              </a:tr>
              <a:tr h="342900">
                <a:tc>
                  <a:txBody>
                    <a:bodyPr/>
                    <a:lstStyle/>
                    <a:p>
                      <a:pPr>
                        <a:defRPr sz="1100">
                          <a:solidFill>
                            <a:srgbClr val="B0B8CC"/>
                          </a:solidFill>
                          <a:latin typeface="Calibri"/>
                        </a:defRPr>
                      </a:pPr>
                      <a:r>
                        <a:t>Phase 1 — LEO</a:t>
                      </a:r>
                    </a:p>
                  </a:txBody>
                  <a:tcPr anchor="ctr" marL="73152" marR="73152" marT="36576" marB="36576">
                    <a:solidFill>
                      <a:srgbClr val="141B2D"/>
                    </a:solidFill>
                  </a:tcPr>
                </a:tc>
                <a:tc>
                  <a:txBody>
                    <a:bodyPr/>
                    <a:lstStyle/>
                    <a:p>
                      <a:pPr>
                        <a:defRPr sz="1100">
                          <a:solidFill>
                            <a:srgbClr val="B0B8CC"/>
                          </a:solidFill>
                          <a:latin typeface="Calibri"/>
                        </a:defRPr>
                      </a:pPr>
                      <a:r>
                        <a:t>BB84</a:t>
                      </a:r>
                    </a:p>
                  </a:txBody>
                  <a:tcPr anchor="ctr" marL="73152" marR="73152" marT="36576" marB="36576">
                    <a:solidFill>
                      <a:srgbClr val="141B2D"/>
                    </a:solidFill>
                  </a:tcPr>
                </a:tc>
                <a:tc>
                  <a:txBody>
                    <a:bodyPr/>
                    <a:lstStyle/>
                    <a:p>
                      <a:pPr>
                        <a:defRPr sz="1100">
                          <a:solidFill>
                            <a:srgbClr val="B0B8CC"/>
                          </a:solidFill>
                          <a:latin typeface="Calibri"/>
                        </a:defRPr>
                      </a:pPr>
                      <a:r>
                        <a:t>1–10 kbps</a:t>
                      </a:r>
                    </a:p>
                  </a:txBody>
                  <a:tcPr anchor="ctr" marL="73152" marR="73152" marT="36576" marB="36576">
                    <a:solidFill>
                      <a:srgbClr val="141B2D"/>
                    </a:solidFill>
                  </a:tcPr>
                </a:tc>
              </a:tr>
              <a:tr h="342900">
                <a:tc>
                  <a:txBody>
                    <a:bodyPr/>
                    <a:lstStyle/>
                    <a:p>
                      <a:pPr>
                        <a:defRPr sz="1100">
                          <a:solidFill>
                            <a:srgbClr val="B0B8CC"/>
                          </a:solidFill>
                          <a:latin typeface="Calibri"/>
                        </a:defRPr>
                      </a:pPr>
                      <a:r>
                        <a:t>Phase 2 — GEO</a:t>
                      </a:r>
                    </a:p>
                  </a:txBody>
                  <a:tcPr anchor="ctr" marL="73152" marR="73152" marT="36576" marB="36576">
                    <a:solidFill>
                      <a:srgbClr val="182236"/>
                    </a:solidFill>
                  </a:tcPr>
                </a:tc>
                <a:tc>
                  <a:txBody>
                    <a:bodyPr/>
                    <a:lstStyle/>
                    <a:p>
                      <a:pPr>
                        <a:defRPr sz="1100">
                          <a:solidFill>
                            <a:srgbClr val="B0B8CC"/>
                          </a:solidFill>
                          <a:latin typeface="Calibri"/>
                        </a:defRPr>
                      </a:pPr>
                      <a:r>
                        <a:t>BB84 + E91</a:t>
                      </a:r>
                    </a:p>
                  </a:txBody>
                  <a:tcPr anchor="ctr" marL="73152" marR="73152" marT="36576" marB="36576">
                    <a:solidFill>
                      <a:srgbClr val="182236"/>
                    </a:solidFill>
                  </a:tcPr>
                </a:tc>
                <a:tc>
                  <a:txBody>
                    <a:bodyPr/>
                    <a:lstStyle/>
                    <a:p>
                      <a:pPr>
                        <a:defRPr sz="1100">
                          <a:solidFill>
                            <a:srgbClr val="B0B8CC"/>
                          </a:solidFill>
                          <a:latin typeface="Calibri"/>
                        </a:defRPr>
                      </a:pPr>
                      <a:r>
                        <a:t>10–100 kbps</a:t>
                      </a:r>
                    </a:p>
                  </a:txBody>
                  <a:tcPr anchor="ctr" marL="73152" marR="73152" marT="36576" marB="36576">
                    <a:solidFill>
                      <a:srgbClr val="182236"/>
                    </a:solidFill>
                  </a:tcPr>
                </a:tc>
              </a:tr>
              <a:tr h="342900">
                <a:tc>
                  <a:txBody>
                    <a:bodyPr/>
                    <a:lstStyle/>
                    <a:p>
                      <a:pPr>
                        <a:defRPr sz="1100">
                          <a:solidFill>
                            <a:srgbClr val="B0B8CC"/>
                          </a:solidFill>
                          <a:latin typeface="Calibri"/>
                        </a:defRPr>
                      </a:pPr>
                      <a:r>
                        <a:t>Phase 3 — Mars</a:t>
                      </a:r>
                    </a:p>
                  </a:txBody>
                  <a:tcPr anchor="ctr" marL="73152" marR="73152" marT="36576" marB="36576">
                    <a:solidFill>
                      <a:srgbClr val="141B2D"/>
                    </a:solidFill>
                  </a:tcPr>
                </a:tc>
                <a:tc>
                  <a:txBody>
                    <a:bodyPr/>
                    <a:lstStyle/>
                    <a:p>
                      <a:pPr>
                        <a:defRPr sz="1100">
                          <a:solidFill>
                            <a:srgbClr val="B0B8CC"/>
                          </a:solidFill>
                          <a:latin typeface="Calibri"/>
                        </a:defRPr>
                      </a:pPr>
                      <a:r>
                        <a:t>E91 + Repeaters</a:t>
                      </a:r>
                    </a:p>
                  </a:txBody>
                  <a:tcPr anchor="ctr" marL="73152" marR="73152" marT="36576" marB="36576">
                    <a:solidFill>
                      <a:srgbClr val="141B2D"/>
                    </a:solidFill>
                  </a:tcPr>
                </a:tc>
                <a:tc>
                  <a:txBody>
                    <a:bodyPr/>
                    <a:lstStyle/>
                    <a:p>
                      <a:pPr>
                        <a:defRPr sz="1100">
                          <a:solidFill>
                            <a:srgbClr val="B0B8CC"/>
                          </a:solidFill>
                          <a:latin typeface="Calibri"/>
                        </a:defRPr>
                      </a:pPr>
                      <a:r>
                        <a:t>1+ kbps</a:t>
                      </a:r>
                    </a:p>
                  </a:txBody>
                  <a:tcPr anchor="ctr" marL="73152" marR="73152" marT="36576" marB="36576">
                    <a:solidFill>
                      <a:srgbClr val="141B2D"/>
                    </a:solidFill>
                  </a:tcPr>
                </a:tc>
              </a:tr>
            </a:tbl>
          </a:graphicData>
        </a:graphic>
      </p:graphicFrame>
      <p:sp>
        <p:nvSpPr>
          <p:cNvPr id="8" name="TextBox 7"/>
          <p:cNvSpPr txBox="1"/>
          <p:nvPr/>
        </p:nvSpPr>
        <p:spPr>
          <a:xfrm>
            <a:off x="457200" y="6400800"/>
            <a:ext cx="4572000" cy="365760"/>
          </a:xfrm>
          <a:prstGeom prst="rect">
            <a:avLst/>
          </a:prstGeom>
          <a:noFill/>
        </p:spPr>
        <p:txBody>
          <a:bodyPr wrap="square">
            <a:spAutoFit/>
          </a:bodyPr>
          <a:lstStyle/>
          <a:p>
            <a:pPr algn="l">
              <a:defRPr sz="1000" b="0">
                <a:solidFill>
                  <a:srgbClr val="6B7B96"/>
                </a:solidFill>
                <a:latin typeface="Calibri"/>
              </a:defRPr>
            </a:pPr>
            <a:r>
              <a:t>AETHERIX — Interplanetary Communication Network</a:t>
            </a:r>
          </a:p>
        </p:txBody>
      </p:sp>
      <p:sp>
        <p:nvSpPr>
          <p:cNvPr id="9" name="TextBox 8"/>
          <p:cNvSpPr txBox="1"/>
          <p:nvPr/>
        </p:nvSpPr>
        <p:spPr>
          <a:xfrm>
            <a:off x="10058400" y="6400800"/>
            <a:ext cx="1828800" cy="365760"/>
          </a:xfrm>
          <a:prstGeom prst="rect">
            <a:avLst/>
          </a:prstGeom>
          <a:noFill/>
        </p:spPr>
        <p:txBody>
          <a:bodyPr wrap="square">
            <a:spAutoFit/>
          </a:bodyPr>
          <a:lstStyle/>
          <a:p>
            <a:pPr algn="r">
              <a:defRPr sz="1000" b="0">
                <a:solidFill>
                  <a:srgbClr val="6B7B96"/>
                </a:solidFill>
                <a:latin typeface="Calibri"/>
              </a:defRPr>
            </a:pPr>
            <a:r>
              <a:t>28 / 46</a:t>
            </a:r>
          </a:p>
        </p:txBody>
      </p:sp>
    </p:spTree>
  </p:cSld>
  <p:transition spd="med" advClick="1">
    <p:cover dir="l"/>
  </p:transition>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B0E1A"/>
        </a:solidFill>
        <a:effectLst/>
      </p:bgPr>
    </p:bg>
    <p:spTree>
      <p:nvGrpSpPr>
        <p:cNvPr id="1" name=""/>
        <p:cNvGrpSpPr/>
        <p:nvPr/>
      </p:nvGrpSpPr>
      <p:grpSpPr/>
      <p:sp>
        <p:nvSpPr>
          <p:cNvPr id="2" name="TextBox 1"/>
          <p:cNvSpPr txBox="1"/>
          <p:nvPr/>
        </p:nvSpPr>
        <p:spPr>
          <a:xfrm>
            <a:off x="640080" y="274320"/>
            <a:ext cx="10058400" cy="640080"/>
          </a:xfrm>
          <a:prstGeom prst="rect">
            <a:avLst/>
          </a:prstGeom>
          <a:noFill/>
        </p:spPr>
        <p:txBody>
          <a:bodyPr wrap="square">
            <a:spAutoFit/>
          </a:bodyPr>
          <a:lstStyle/>
          <a:p>
            <a:pPr algn="l">
              <a:defRPr sz="3200" b="1">
                <a:solidFill>
                  <a:srgbClr val="FFFFFF"/>
                </a:solidFill>
                <a:latin typeface="Calibri"/>
              </a:defRPr>
            </a:pPr>
            <a:r>
              <a:t>QKD SECURITY ANALYSIS</a:t>
            </a:r>
          </a:p>
        </p:txBody>
      </p:sp>
      <p:sp>
        <p:nvSpPr>
          <p:cNvPr id="3" name="TextBox 2"/>
          <p:cNvSpPr txBox="1"/>
          <p:nvPr/>
        </p:nvSpPr>
        <p:spPr>
          <a:xfrm>
            <a:off x="640080" y="822960"/>
            <a:ext cx="10058400" cy="365760"/>
          </a:xfrm>
          <a:prstGeom prst="rect">
            <a:avLst/>
          </a:prstGeom>
          <a:noFill/>
        </p:spPr>
        <p:txBody>
          <a:bodyPr wrap="square">
            <a:spAutoFit/>
          </a:bodyPr>
          <a:lstStyle/>
          <a:p>
            <a:pPr algn="l">
              <a:defRPr sz="1600" b="0">
                <a:solidFill>
                  <a:srgbClr val="8B5CF6"/>
                </a:solidFill>
                <a:latin typeface="Calibri"/>
              </a:defRPr>
            </a:pPr>
            <a:r>
              <a:t>Quantum Bit Error Rate</a:t>
            </a:r>
          </a:p>
        </p:txBody>
      </p:sp>
      <p:sp>
        <p:nvSpPr>
          <p:cNvPr id="4" name="Rectangle 3"/>
          <p:cNvSpPr/>
          <p:nvPr/>
        </p:nvSpPr>
        <p:spPr>
          <a:xfrm>
            <a:off x="640080" y="1234440"/>
            <a:ext cx="2286000" cy="3810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qkd_security.png"/>
          <p:cNvPicPr>
            <a:picLocks noChangeAspect="1"/>
          </p:cNvPicPr>
          <p:nvPr/>
        </p:nvPicPr>
        <p:blipFill>
          <a:blip r:embed="rId2"/>
          <a:stretch>
            <a:fillRect/>
          </a:stretch>
        </p:blipFill>
        <p:spPr>
          <a:xfrm>
            <a:off x="640080" y="1371600"/>
            <a:ext cx="6400800" cy="4114800"/>
          </a:xfrm>
          <a:prstGeom prst="rect">
            <a:avLst/>
          </a:prstGeom>
        </p:spPr>
      </p:pic>
      <p:sp>
        <p:nvSpPr>
          <p:cNvPr id="6" name="TextBox 5"/>
          <p:cNvSpPr txBox="1"/>
          <p:nvPr/>
        </p:nvSpPr>
        <p:spPr>
          <a:xfrm>
            <a:off x="640080" y="5669280"/>
            <a:ext cx="10058400" cy="274320"/>
          </a:xfrm>
          <a:prstGeom prst="rect">
            <a:avLst/>
          </a:prstGeom>
          <a:noFill/>
        </p:spPr>
        <p:txBody>
          <a:bodyPr wrap="square">
            <a:spAutoFit/>
          </a:bodyPr>
          <a:lstStyle/>
          <a:p>
            <a:pPr algn="ctr">
              <a:defRPr sz="1000" b="0">
                <a:solidFill>
                  <a:srgbClr val="6B7B96"/>
                </a:solidFill>
                <a:latin typeface="Calibri"/>
              </a:defRPr>
            </a:pPr>
            <a:r>
              <a:t>QBER below 11% confirms secure key exchange — no eavesdropper detected</a:t>
            </a:r>
          </a:p>
        </p:txBody>
      </p:sp>
      <p:sp>
        <p:nvSpPr>
          <p:cNvPr id="7" name="TextBox 6"/>
          <p:cNvSpPr txBox="1"/>
          <p:nvPr/>
        </p:nvSpPr>
        <p:spPr>
          <a:xfrm>
            <a:off x="457200" y="6400800"/>
            <a:ext cx="4572000" cy="365760"/>
          </a:xfrm>
          <a:prstGeom prst="rect">
            <a:avLst/>
          </a:prstGeom>
          <a:noFill/>
        </p:spPr>
        <p:txBody>
          <a:bodyPr wrap="square">
            <a:spAutoFit/>
          </a:bodyPr>
          <a:lstStyle/>
          <a:p>
            <a:pPr algn="l">
              <a:defRPr sz="1000" b="0">
                <a:solidFill>
                  <a:srgbClr val="6B7B96"/>
                </a:solidFill>
                <a:latin typeface="Calibri"/>
              </a:defRPr>
            </a:pPr>
            <a:r>
              <a:t>AETHERIX — Interplanetary Communication Network</a:t>
            </a:r>
          </a:p>
        </p:txBody>
      </p:sp>
      <p:sp>
        <p:nvSpPr>
          <p:cNvPr id="8" name="TextBox 7"/>
          <p:cNvSpPr txBox="1"/>
          <p:nvPr/>
        </p:nvSpPr>
        <p:spPr>
          <a:xfrm>
            <a:off x="10058400" y="6400800"/>
            <a:ext cx="1828800" cy="365760"/>
          </a:xfrm>
          <a:prstGeom prst="rect">
            <a:avLst/>
          </a:prstGeom>
          <a:noFill/>
        </p:spPr>
        <p:txBody>
          <a:bodyPr wrap="square">
            <a:spAutoFit/>
          </a:bodyPr>
          <a:lstStyle/>
          <a:p>
            <a:pPr algn="r">
              <a:defRPr sz="1000" b="0">
                <a:solidFill>
                  <a:srgbClr val="6B7B96"/>
                </a:solidFill>
                <a:latin typeface="Calibri"/>
              </a:defRPr>
            </a:pPr>
            <a:r>
              <a:t>29 / 46</a:t>
            </a:r>
          </a:p>
        </p:txBody>
      </p:sp>
    </p:spTree>
  </p:cSld>
  <p:transition spd="med" advClick="1">
    <p:fade/>
  </p:transition>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B0E1A"/>
        </a:solidFill>
        <a:effectLst/>
      </p:bgPr>
    </p:bg>
    <p:spTree>
      <p:nvGrpSpPr>
        <p:cNvPr id="1" name=""/>
        <p:cNvGrpSpPr/>
        <p:nvPr/>
      </p:nvGrpSpPr>
      <p:grpSpPr/>
      <p:sp>
        <p:nvSpPr>
          <p:cNvPr id="2" name="TextBox 1"/>
          <p:cNvSpPr txBox="1"/>
          <p:nvPr/>
        </p:nvSpPr>
        <p:spPr>
          <a:xfrm>
            <a:off x="640080" y="274320"/>
            <a:ext cx="10058400" cy="640080"/>
          </a:xfrm>
          <a:prstGeom prst="rect">
            <a:avLst/>
          </a:prstGeom>
          <a:noFill/>
        </p:spPr>
        <p:txBody>
          <a:bodyPr wrap="square">
            <a:spAutoFit/>
          </a:bodyPr>
          <a:lstStyle/>
          <a:p>
            <a:pPr algn="l">
              <a:defRPr sz="3200" b="1">
                <a:solidFill>
                  <a:srgbClr val="FFFFFF"/>
                </a:solidFill>
                <a:latin typeface="Calibri"/>
              </a:defRPr>
            </a:pPr>
            <a:r>
              <a:t>QKD KEY GENERATION RATE</a:t>
            </a:r>
          </a:p>
        </p:txBody>
      </p:sp>
      <p:sp>
        <p:nvSpPr>
          <p:cNvPr id="3" name="TextBox 2"/>
          <p:cNvSpPr txBox="1"/>
          <p:nvPr/>
        </p:nvSpPr>
        <p:spPr>
          <a:xfrm>
            <a:off x="640080" y="822960"/>
            <a:ext cx="10058400" cy="365760"/>
          </a:xfrm>
          <a:prstGeom prst="rect">
            <a:avLst/>
          </a:prstGeom>
          <a:noFill/>
        </p:spPr>
        <p:txBody>
          <a:bodyPr wrap="square">
            <a:spAutoFit/>
          </a:bodyPr>
          <a:lstStyle/>
          <a:p>
            <a:pPr algn="l">
              <a:defRPr sz="1600" b="0">
                <a:solidFill>
                  <a:srgbClr val="00D4AA"/>
                </a:solidFill>
                <a:latin typeface="Calibri"/>
              </a:defRPr>
            </a:pPr>
            <a:r>
              <a:t>Secure Key Rate vs Distance</a:t>
            </a:r>
          </a:p>
        </p:txBody>
      </p:sp>
      <p:sp>
        <p:nvSpPr>
          <p:cNvPr id="4" name="Rectangle 3"/>
          <p:cNvSpPr/>
          <p:nvPr/>
        </p:nvSpPr>
        <p:spPr>
          <a:xfrm>
            <a:off x="640080" y="1234440"/>
            <a:ext cx="2286000" cy="381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qkd_key_rate.png"/>
          <p:cNvPicPr>
            <a:picLocks noChangeAspect="1"/>
          </p:cNvPicPr>
          <p:nvPr/>
        </p:nvPicPr>
        <p:blipFill>
          <a:blip r:embed="rId2"/>
          <a:stretch>
            <a:fillRect/>
          </a:stretch>
        </p:blipFill>
        <p:spPr>
          <a:xfrm>
            <a:off x="640080" y="1371600"/>
            <a:ext cx="6400800" cy="4114800"/>
          </a:xfrm>
          <a:prstGeom prst="rect">
            <a:avLst/>
          </a:prstGeom>
        </p:spPr>
      </p:pic>
      <p:sp>
        <p:nvSpPr>
          <p:cNvPr id="6" name="TextBox 5"/>
          <p:cNvSpPr txBox="1"/>
          <p:nvPr/>
        </p:nvSpPr>
        <p:spPr>
          <a:xfrm>
            <a:off x="640080" y="5669280"/>
            <a:ext cx="10058400" cy="274320"/>
          </a:xfrm>
          <a:prstGeom prst="rect">
            <a:avLst/>
          </a:prstGeom>
          <a:noFill/>
        </p:spPr>
        <p:txBody>
          <a:bodyPr wrap="square">
            <a:spAutoFit/>
          </a:bodyPr>
          <a:lstStyle/>
          <a:p>
            <a:pPr algn="ctr">
              <a:defRPr sz="1000" b="0">
                <a:solidFill>
                  <a:srgbClr val="6B7B96"/>
                </a:solidFill>
                <a:latin typeface="Calibri"/>
              </a:defRPr>
            </a:pPr>
            <a:r>
              <a:t>Key rate decreases with channel loss — repeater chains extend operational range</a:t>
            </a:r>
          </a:p>
        </p:txBody>
      </p:sp>
      <p:sp>
        <p:nvSpPr>
          <p:cNvPr id="7" name="TextBox 6"/>
          <p:cNvSpPr txBox="1"/>
          <p:nvPr/>
        </p:nvSpPr>
        <p:spPr>
          <a:xfrm>
            <a:off x="457200" y="6400800"/>
            <a:ext cx="4572000" cy="365760"/>
          </a:xfrm>
          <a:prstGeom prst="rect">
            <a:avLst/>
          </a:prstGeom>
          <a:noFill/>
        </p:spPr>
        <p:txBody>
          <a:bodyPr wrap="square">
            <a:spAutoFit/>
          </a:bodyPr>
          <a:lstStyle/>
          <a:p>
            <a:pPr algn="l">
              <a:defRPr sz="1000" b="0">
                <a:solidFill>
                  <a:srgbClr val="6B7B96"/>
                </a:solidFill>
                <a:latin typeface="Calibri"/>
              </a:defRPr>
            </a:pPr>
            <a:r>
              <a:t>AETHERIX — Interplanetary Communication Network</a:t>
            </a:r>
          </a:p>
        </p:txBody>
      </p:sp>
      <p:sp>
        <p:nvSpPr>
          <p:cNvPr id="8" name="TextBox 7"/>
          <p:cNvSpPr txBox="1"/>
          <p:nvPr/>
        </p:nvSpPr>
        <p:spPr>
          <a:xfrm>
            <a:off x="10058400" y="6400800"/>
            <a:ext cx="1828800" cy="365760"/>
          </a:xfrm>
          <a:prstGeom prst="rect">
            <a:avLst/>
          </a:prstGeom>
          <a:noFill/>
        </p:spPr>
        <p:txBody>
          <a:bodyPr wrap="square">
            <a:spAutoFit/>
          </a:bodyPr>
          <a:lstStyle/>
          <a:p>
            <a:pPr algn="r">
              <a:defRPr sz="1000" b="0">
                <a:solidFill>
                  <a:srgbClr val="6B7B96"/>
                </a:solidFill>
                <a:latin typeface="Calibri"/>
              </a:defRPr>
            </a:pPr>
            <a:r>
              <a:t>30 / 46</a:t>
            </a:r>
          </a:p>
        </p:txBody>
      </p:sp>
    </p:spTree>
  </p:cSld>
  <p:transition spd="med" advClick="1">
    <p:fade/>
  </p:transition>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B0E1A"/>
        </a:solidFill>
        <a:effectLst/>
      </p:bgPr>
    </p:bg>
    <p:spTree>
      <p:nvGrpSpPr>
        <p:cNvPr id="1" name=""/>
        <p:cNvGrpSpPr/>
        <p:nvPr/>
      </p:nvGrpSpPr>
      <p:grpSpPr/>
      <p:sp>
        <p:nvSpPr>
          <p:cNvPr id="2" name="TextBox 1"/>
          <p:cNvSpPr txBox="1"/>
          <p:nvPr/>
        </p:nvSpPr>
        <p:spPr>
          <a:xfrm>
            <a:off x="548640" y="274320"/>
            <a:ext cx="8229600" cy="548640"/>
          </a:xfrm>
          <a:prstGeom prst="rect">
            <a:avLst/>
          </a:prstGeom>
          <a:noFill/>
        </p:spPr>
        <p:txBody>
          <a:bodyPr wrap="square">
            <a:spAutoFit/>
          </a:bodyPr>
          <a:lstStyle/>
          <a:p>
            <a:pPr algn="l">
              <a:defRPr sz="3200" b="1">
                <a:solidFill>
                  <a:srgbClr val="FFFFFF"/>
                </a:solidFill>
                <a:latin typeface="Calibri"/>
              </a:defRPr>
            </a:pPr>
            <a:r>
              <a:t>ORBITAL MECHANICS</a:t>
            </a:r>
          </a:p>
        </p:txBody>
      </p:sp>
      <p:sp>
        <p:nvSpPr>
          <p:cNvPr id="3" name="TextBox 2"/>
          <p:cNvSpPr txBox="1"/>
          <p:nvPr/>
        </p:nvSpPr>
        <p:spPr>
          <a:xfrm>
            <a:off x="548640" y="822960"/>
            <a:ext cx="8229600" cy="365760"/>
          </a:xfrm>
          <a:prstGeom prst="rect">
            <a:avLst/>
          </a:prstGeom>
          <a:noFill/>
        </p:spPr>
        <p:txBody>
          <a:bodyPr wrap="square">
            <a:spAutoFit/>
          </a:bodyPr>
          <a:lstStyle/>
          <a:p>
            <a:pPr algn="l">
              <a:defRPr sz="1600" b="0">
                <a:solidFill>
                  <a:srgbClr val="00D4AA"/>
                </a:solidFill>
                <a:latin typeface="Calibri"/>
              </a:defRPr>
            </a:pPr>
            <a:r>
              <a:t>Contact Windows</a:t>
            </a:r>
          </a:p>
        </p:txBody>
      </p:sp>
      <p:sp>
        <p:nvSpPr>
          <p:cNvPr id="4" name="Rectangle 3"/>
          <p:cNvSpPr/>
          <p:nvPr/>
        </p:nvSpPr>
        <p:spPr>
          <a:xfrm>
            <a:off x="548640" y="1234440"/>
            <a:ext cx="2286000" cy="38100"/>
          </a:xfrm>
          <a:prstGeom prst="rect">
            <a:avLst/>
          </a:prstGeom>
          <a:solidFill>
            <a:srgbClr val="00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274320" y="1417320"/>
          <a:ext cx="4297680" cy="2103120"/>
        </p:xfrm>
        <a:graphic>
          <a:graphicData uri="http://schemas.openxmlformats.org/drawingml/2006/table">
            <a:tbl>
              <a:tblPr firstRow="1" bandRow="1">
                <a:tableStyleId>{5C22544A-7EE6-4342-B048-85BDC9FD1C3A}</a:tableStyleId>
              </a:tblPr>
              <a:tblGrid>
                <a:gridCol w="2148840"/>
                <a:gridCol w="2148840"/>
              </a:tblGrid>
              <a:tr h="350520">
                <a:tc>
                  <a:txBody>
                    <a:bodyPr/>
                    <a:lstStyle/>
                    <a:p>
                      <a:pPr algn="ctr">
                        <a:defRPr b="1" sz="1200">
                          <a:solidFill>
                            <a:srgbClr val="FFFFFF"/>
                          </a:solidFill>
                          <a:latin typeface="Calibri"/>
                        </a:defRPr>
                      </a:pPr>
                      <a:r>
                        <a:t>Parameter</a:t>
                      </a:r>
                    </a:p>
                  </a:txBody>
                  <a:tcPr anchor="ctr" marL="73152" marR="73152" marT="36576" marB="36576">
                    <a:solidFill>
                      <a:srgbClr val="FF8C00"/>
                    </a:solidFill>
                  </a:tcPr>
                </a:tc>
                <a:tc>
                  <a:txBody>
                    <a:bodyPr/>
                    <a:lstStyle/>
                    <a:p>
                      <a:pPr algn="ctr">
                        <a:defRPr b="1" sz="1200">
                          <a:solidFill>
                            <a:srgbClr val="FFFFFF"/>
                          </a:solidFill>
                          <a:latin typeface="Calibri"/>
                        </a:defRPr>
                      </a:pPr>
                      <a:r>
                        <a:t>Value</a:t>
                      </a:r>
                    </a:p>
                  </a:txBody>
                  <a:tcPr anchor="ctr" marL="73152" marR="73152" marT="36576" marB="36576">
                    <a:solidFill>
                      <a:srgbClr val="FF8C00"/>
                    </a:solidFill>
                  </a:tcPr>
                </a:tc>
              </a:tr>
              <a:tr h="350520">
                <a:tc>
                  <a:txBody>
                    <a:bodyPr/>
                    <a:lstStyle/>
                    <a:p>
                      <a:pPr>
                        <a:defRPr sz="1100">
                          <a:solidFill>
                            <a:srgbClr val="B0B8CC"/>
                          </a:solidFill>
                          <a:latin typeface="Calibri"/>
                        </a:defRPr>
                      </a:pPr>
                      <a:r>
                        <a:t>Semi-major axis</a:t>
                      </a:r>
                    </a:p>
                  </a:txBody>
                  <a:tcPr anchor="ctr" marL="73152" marR="73152" marT="36576" marB="36576">
                    <a:solidFill>
                      <a:srgbClr val="141B2D"/>
                    </a:solidFill>
                  </a:tcPr>
                </a:tc>
                <a:tc>
                  <a:txBody>
                    <a:bodyPr/>
                    <a:lstStyle/>
                    <a:p>
                      <a:pPr>
                        <a:defRPr sz="1100">
                          <a:solidFill>
                            <a:srgbClr val="B0B8CC"/>
                          </a:solidFill>
                          <a:latin typeface="Calibri"/>
                        </a:defRPr>
                      </a:pPr>
                      <a:r>
                        <a:t>1.524 AU</a:t>
                      </a:r>
                    </a:p>
                  </a:txBody>
                  <a:tcPr anchor="ctr" marL="73152" marR="73152" marT="36576" marB="36576">
                    <a:solidFill>
                      <a:srgbClr val="141B2D"/>
                    </a:solidFill>
                  </a:tcPr>
                </a:tc>
              </a:tr>
              <a:tr h="350520">
                <a:tc>
                  <a:txBody>
                    <a:bodyPr/>
                    <a:lstStyle/>
                    <a:p>
                      <a:pPr>
                        <a:defRPr sz="1100">
                          <a:solidFill>
                            <a:srgbClr val="B0B8CC"/>
                          </a:solidFill>
                          <a:latin typeface="Calibri"/>
                        </a:defRPr>
                      </a:pPr>
                      <a:r>
                        <a:t>Synodic period</a:t>
                      </a:r>
                    </a:p>
                  </a:txBody>
                  <a:tcPr anchor="ctr" marL="73152" marR="73152" marT="36576" marB="36576">
                    <a:solidFill>
                      <a:srgbClr val="182236"/>
                    </a:solidFill>
                  </a:tcPr>
                </a:tc>
                <a:tc>
                  <a:txBody>
                    <a:bodyPr/>
                    <a:lstStyle/>
                    <a:p>
                      <a:pPr>
                        <a:defRPr sz="1100">
                          <a:solidFill>
                            <a:srgbClr val="B0B8CC"/>
                          </a:solidFill>
                          <a:latin typeface="Calibri"/>
                        </a:defRPr>
                      </a:pPr>
                      <a:r>
                        <a:t>779.94 days</a:t>
                      </a:r>
                    </a:p>
                  </a:txBody>
                  <a:tcPr anchor="ctr" marL="73152" marR="73152" marT="36576" marB="36576">
                    <a:solidFill>
                      <a:srgbClr val="182236"/>
                    </a:solidFill>
                  </a:tcPr>
                </a:tc>
              </a:tr>
              <a:tr h="350520">
                <a:tc>
                  <a:txBody>
                    <a:bodyPr/>
                    <a:lstStyle/>
                    <a:p>
                      <a:pPr>
                        <a:defRPr sz="1100">
                          <a:solidFill>
                            <a:srgbClr val="B0B8CC"/>
                          </a:solidFill>
                          <a:latin typeface="Calibri"/>
                        </a:defRPr>
                      </a:pPr>
                      <a:r>
                        <a:t>Distance range</a:t>
                      </a:r>
                    </a:p>
                  </a:txBody>
                  <a:tcPr anchor="ctr" marL="73152" marR="73152" marT="36576" marB="36576">
                    <a:solidFill>
                      <a:srgbClr val="141B2D"/>
                    </a:solidFill>
                  </a:tcPr>
                </a:tc>
                <a:tc>
                  <a:txBody>
                    <a:bodyPr/>
                    <a:lstStyle/>
                    <a:p>
                      <a:pPr>
                        <a:defRPr sz="1100">
                          <a:solidFill>
                            <a:srgbClr val="B0B8CC"/>
                          </a:solidFill>
                          <a:latin typeface="Calibri"/>
                        </a:defRPr>
                      </a:pPr>
                      <a:r>
                        <a:t>54.6M – 401M km</a:t>
                      </a:r>
                    </a:p>
                  </a:txBody>
                  <a:tcPr anchor="ctr" marL="73152" marR="73152" marT="36576" marB="36576">
                    <a:solidFill>
                      <a:srgbClr val="141B2D"/>
                    </a:solidFill>
                  </a:tcPr>
                </a:tc>
              </a:tr>
              <a:tr h="350520">
                <a:tc>
                  <a:txBody>
                    <a:bodyPr/>
                    <a:lstStyle/>
                    <a:p>
                      <a:pPr>
                        <a:defRPr sz="1100">
                          <a:solidFill>
                            <a:srgbClr val="B0B8CC"/>
                          </a:solidFill>
                          <a:latin typeface="Calibri"/>
                        </a:defRPr>
                      </a:pPr>
                      <a:r>
                        <a:t>Areostationary altitude</a:t>
                      </a:r>
                    </a:p>
                  </a:txBody>
                  <a:tcPr anchor="ctr" marL="73152" marR="73152" marT="36576" marB="36576">
                    <a:solidFill>
                      <a:srgbClr val="182236"/>
                    </a:solidFill>
                  </a:tcPr>
                </a:tc>
                <a:tc>
                  <a:txBody>
                    <a:bodyPr/>
                    <a:lstStyle/>
                    <a:p>
                      <a:pPr>
                        <a:defRPr sz="1100">
                          <a:solidFill>
                            <a:srgbClr val="B0B8CC"/>
                          </a:solidFill>
                          <a:latin typeface="Calibri"/>
                        </a:defRPr>
                      </a:pPr>
                      <a:r>
                        <a:t>17,032 km</a:t>
                      </a:r>
                    </a:p>
                  </a:txBody>
                  <a:tcPr anchor="ctr" marL="73152" marR="73152" marT="36576" marB="36576">
                    <a:solidFill>
                      <a:srgbClr val="182236"/>
                    </a:solidFill>
                  </a:tcPr>
                </a:tc>
              </a:tr>
              <a:tr h="350520">
                <a:tc>
                  <a:txBody>
                    <a:bodyPr/>
                    <a:lstStyle/>
                    <a:p>
                      <a:pPr>
                        <a:defRPr sz="1100">
                          <a:solidFill>
                            <a:srgbClr val="B0B8CC"/>
                          </a:solidFill>
                          <a:latin typeface="Calibri"/>
                        </a:defRPr>
                      </a:pPr>
                      <a:r>
                        <a:t>One-way light time</a:t>
                      </a:r>
                    </a:p>
                  </a:txBody>
                  <a:tcPr anchor="ctr" marL="73152" marR="73152" marT="36576" marB="36576">
                    <a:solidFill>
                      <a:srgbClr val="141B2D"/>
                    </a:solidFill>
                  </a:tcPr>
                </a:tc>
                <a:tc>
                  <a:txBody>
                    <a:bodyPr/>
                    <a:lstStyle/>
                    <a:p>
                      <a:pPr>
                        <a:defRPr sz="1100">
                          <a:solidFill>
                            <a:srgbClr val="B0B8CC"/>
                          </a:solidFill>
                          <a:latin typeface="Calibri"/>
                        </a:defRPr>
                      </a:pPr>
                      <a:r>
                        <a:t>3 – 22 minutes</a:t>
                      </a:r>
                    </a:p>
                  </a:txBody>
                  <a:tcPr anchor="ctr" marL="73152" marR="73152" marT="36576" marB="36576">
                    <a:solidFill>
                      <a:srgbClr val="141B2D"/>
                    </a:solidFill>
                  </a:tcPr>
                </a:tc>
              </a:tr>
            </a:tbl>
          </a:graphicData>
        </a:graphic>
      </p:graphicFrame>
      <p:graphicFrame>
        <p:nvGraphicFramePr>
          <p:cNvPr id="6" name="Table 5"/>
          <p:cNvGraphicFramePr>
            <a:graphicFrameLocks noGrp="1"/>
          </p:cNvGraphicFramePr>
          <p:nvPr/>
        </p:nvGraphicFramePr>
        <p:xfrm>
          <a:off x="4663440" y="1417320"/>
          <a:ext cx="4206240" cy="2103120"/>
        </p:xfrm>
        <a:graphic>
          <a:graphicData uri="http://schemas.openxmlformats.org/drawingml/2006/table">
            <a:tbl>
              <a:tblPr firstRow="1" bandRow="1">
                <a:tableStyleId>{5C22544A-7EE6-4342-B048-85BDC9FD1C3A}</a:tableStyleId>
              </a:tblPr>
              <a:tblGrid>
                <a:gridCol w="1051560"/>
                <a:gridCol w="1051560"/>
                <a:gridCol w="1051560"/>
                <a:gridCol w="1051560"/>
              </a:tblGrid>
              <a:tr h="420624">
                <a:tc>
                  <a:txBody>
                    <a:bodyPr/>
                    <a:lstStyle/>
                    <a:p>
                      <a:pPr algn="ctr">
                        <a:defRPr b="1" sz="1200">
                          <a:solidFill>
                            <a:srgbClr val="FFFFFF"/>
                          </a:solidFill>
                          <a:latin typeface="Calibri"/>
                        </a:defRPr>
                      </a:pPr>
                      <a:r>
                        <a:t>Window</a:t>
                      </a:r>
                    </a:p>
                  </a:txBody>
                  <a:tcPr anchor="ctr" marL="73152" marR="73152" marT="36576" marB="36576">
                    <a:solidFill>
                      <a:srgbClr val="009EFF"/>
                    </a:solidFill>
                  </a:tcPr>
                </a:tc>
                <a:tc>
                  <a:txBody>
                    <a:bodyPr/>
                    <a:lstStyle/>
                    <a:p>
                      <a:pPr algn="ctr">
                        <a:defRPr b="1" sz="1200">
                          <a:solidFill>
                            <a:srgbClr val="FFFFFF"/>
                          </a:solidFill>
                          <a:latin typeface="Calibri"/>
                        </a:defRPr>
                      </a:pPr>
                      <a:r>
                        <a:t>Availability</a:t>
                      </a:r>
                    </a:p>
                  </a:txBody>
                  <a:tcPr anchor="ctr" marL="73152" marR="73152" marT="36576" marB="36576">
                    <a:solidFill>
                      <a:srgbClr val="009EFF"/>
                    </a:solidFill>
                  </a:tcPr>
                </a:tc>
                <a:tc>
                  <a:txBody>
                    <a:bodyPr/>
                    <a:lstStyle/>
                    <a:p>
                      <a:pPr algn="ctr">
                        <a:defRPr b="1" sz="1200">
                          <a:solidFill>
                            <a:srgbClr val="FFFFFF"/>
                          </a:solidFill>
                          <a:latin typeface="Calibri"/>
                        </a:defRPr>
                      </a:pPr>
                      <a:r>
                        <a:t>Duration</a:t>
                      </a:r>
                    </a:p>
                  </a:txBody>
                  <a:tcPr anchor="ctr" marL="73152" marR="73152" marT="36576" marB="36576">
                    <a:solidFill>
                      <a:srgbClr val="009EFF"/>
                    </a:solidFill>
                  </a:tcPr>
                </a:tc>
                <a:tc>
                  <a:txBody>
                    <a:bodyPr/>
                    <a:lstStyle/>
                    <a:p>
                      <a:pPr algn="ctr">
                        <a:defRPr b="1" sz="1200">
                          <a:solidFill>
                            <a:srgbClr val="FFFFFF"/>
                          </a:solidFill>
                          <a:latin typeface="Calibri"/>
                        </a:defRPr>
                      </a:pPr>
                      <a:r>
                        <a:t>Data Rate</a:t>
                      </a:r>
                    </a:p>
                  </a:txBody>
                  <a:tcPr anchor="ctr" marL="73152" marR="73152" marT="36576" marB="36576">
                    <a:solidFill>
                      <a:srgbClr val="009EFF"/>
                    </a:solidFill>
                  </a:tcPr>
                </a:tc>
              </a:tr>
              <a:tr h="420624">
                <a:tc>
                  <a:txBody>
                    <a:bodyPr/>
                    <a:lstStyle/>
                    <a:p>
                      <a:pPr>
                        <a:defRPr sz="1100">
                          <a:solidFill>
                            <a:srgbClr val="B0B8CC"/>
                          </a:solidFill>
                          <a:latin typeface="Calibri"/>
                        </a:defRPr>
                      </a:pPr>
                      <a:r>
                        <a:t>Optimal</a:t>
                      </a:r>
                    </a:p>
                  </a:txBody>
                  <a:tcPr anchor="ctr" marL="73152" marR="73152" marT="36576" marB="36576">
                    <a:solidFill>
                      <a:srgbClr val="141B2D"/>
                    </a:solidFill>
                  </a:tcPr>
                </a:tc>
                <a:tc>
                  <a:txBody>
                    <a:bodyPr/>
                    <a:lstStyle/>
                    <a:p>
                      <a:pPr>
                        <a:defRPr sz="1100">
                          <a:solidFill>
                            <a:srgbClr val="B0B8CC"/>
                          </a:solidFill>
                          <a:latin typeface="Calibri"/>
                        </a:defRPr>
                      </a:pPr>
                      <a:r>
                        <a:t>99%</a:t>
                      </a:r>
                    </a:p>
                  </a:txBody>
                  <a:tcPr anchor="ctr" marL="73152" marR="73152" marT="36576" marB="36576">
                    <a:solidFill>
                      <a:srgbClr val="141B2D"/>
                    </a:solidFill>
                  </a:tcPr>
                </a:tc>
                <a:tc>
                  <a:txBody>
                    <a:bodyPr/>
                    <a:lstStyle/>
                    <a:p>
                      <a:pPr>
                        <a:defRPr sz="1100">
                          <a:solidFill>
                            <a:srgbClr val="B0B8CC"/>
                          </a:solidFill>
                          <a:latin typeface="Calibri"/>
                        </a:defRPr>
                      </a:pPr>
                      <a:r>
                        <a:t>8–12 hrs</a:t>
                      </a:r>
                    </a:p>
                  </a:txBody>
                  <a:tcPr anchor="ctr" marL="73152" marR="73152" marT="36576" marB="36576">
                    <a:solidFill>
                      <a:srgbClr val="141B2D"/>
                    </a:solidFill>
                  </a:tcPr>
                </a:tc>
                <a:tc>
                  <a:txBody>
                    <a:bodyPr/>
                    <a:lstStyle/>
                    <a:p>
                      <a:pPr>
                        <a:defRPr sz="1100">
                          <a:solidFill>
                            <a:srgbClr val="B0B8CC"/>
                          </a:solidFill>
                          <a:latin typeface="Calibri"/>
                        </a:defRPr>
                      </a:pPr>
                      <a:r>
                        <a:t>100–200 Mbps</a:t>
                      </a:r>
                    </a:p>
                  </a:txBody>
                  <a:tcPr anchor="ctr" marL="73152" marR="73152" marT="36576" marB="36576">
                    <a:solidFill>
                      <a:srgbClr val="141B2D"/>
                    </a:solidFill>
                  </a:tcPr>
                </a:tc>
              </a:tr>
              <a:tr h="420624">
                <a:tc>
                  <a:txBody>
                    <a:bodyPr/>
                    <a:lstStyle/>
                    <a:p>
                      <a:pPr>
                        <a:defRPr sz="1100">
                          <a:solidFill>
                            <a:srgbClr val="B0B8CC"/>
                          </a:solidFill>
                          <a:latin typeface="Calibri"/>
                        </a:defRPr>
                      </a:pPr>
                      <a:r>
                        <a:t>Good</a:t>
                      </a:r>
                    </a:p>
                  </a:txBody>
                  <a:tcPr anchor="ctr" marL="73152" marR="73152" marT="36576" marB="36576">
                    <a:solidFill>
                      <a:srgbClr val="182236"/>
                    </a:solidFill>
                  </a:tcPr>
                </a:tc>
                <a:tc>
                  <a:txBody>
                    <a:bodyPr/>
                    <a:lstStyle/>
                    <a:p>
                      <a:pPr>
                        <a:defRPr sz="1100">
                          <a:solidFill>
                            <a:srgbClr val="B0B8CC"/>
                          </a:solidFill>
                          <a:latin typeface="Calibri"/>
                        </a:defRPr>
                      </a:pPr>
                      <a:r>
                        <a:t>95%</a:t>
                      </a:r>
                    </a:p>
                  </a:txBody>
                  <a:tcPr anchor="ctr" marL="73152" marR="73152" marT="36576" marB="36576">
                    <a:solidFill>
                      <a:srgbClr val="182236"/>
                    </a:solidFill>
                  </a:tcPr>
                </a:tc>
                <a:tc>
                  <a:txBody>
                    <a:bodyPr/>
                    <a:lstStyle/>
                    <a:p>
                      <a:pPr>
                        <a:defRPr sz="1100">
                          <a:solidFill>
                            <a:srgbClr val="B0B8CC"/>
                          </a:solidFill>
                          <a:latin typeface="Calibri"/>
                        </a:defRPr>
                      </a:pPr>
                      <a:r>
                        <a:t>6–8 hrs</a:t>
                      </a:r>
                    </a:p>
                  </a:txBody>
                  <a:tcPr anchor="ctr" marL="73152" marR="73152" marT="36576" marB="36576">
                    <a:solidFill>
                      <a:srgbClr val="182236"/>
                    </a:solidFill>
                  </a:tcPr>
                </a:tc>
                <a:tc>
                  <a:txBody>
                    <a:bodyPr/>
                    <a:lstStyle/>
                    <a:p>
                      <a:pPr>
                        <a:defRPr sz="1100">
                          <a:solidFill>
                            <a:srgbClr val="B0B8CC"/>
                          </a:solidFill>
                          <a:latin typeface="Calibri"/>
                        </a:defRPr>
                      </a:pPr>
                      <a:r>
                        <a:t>20–100 Mbps</a:t>
                      </a:r>
                    </a:p>
                  </a:txBody>
                  <a:tcPr anchor="ctr" marL="73152" marR="73152" marT="36576" marB="36576">
                    <a:solidFill>
                      <a:srgbClr val="182236"/>
                    </a:solidFill>
                  </a:tcPr>
                </a:tc>
              </a:tr>
              <a:tr h="420624">
                <a:tc>
                  <a:txBody>
                    <a:bodyPr/>
                    <a:lstStyle/>
                    <a:p>
                      <a:pPr>
                        <a:defRPr sz="1100">
                          <a:solidFill>
                            <a:srgbClr val="B0B8CC"/>
                          </a:solidFill>
                          <a:latin typeface="Calibri"/>
                        </a:defRPr>
                      </a:pPr>
                      <a:r>
                        <a:t>Fair</a:t>
                      </a:r>
                    </a:p>
                  </a:txBody>
                  <a:tcPr anchor="ctr" marL="73152" marR="73152" marT="36576" marB="36576">
                    <a:solidFill>
                      <a:srgbClr val="141B2D"/>
                    </a:solidFill>
                  </a:tcPr>
                </a:tc>
                <a:tc>
                  <a:txBody>
                    <a:bodyPr/>
                    <a:lstStyle/>
                    <a:p>
                      <a:pPr>
                        <a:defRPr sz="1100">
                          <a:solidFill>
                            <a:srgbClr val="B0B8CC"/>
                          </a:solidFill>
                          <a:latin typeface="Calibri"/>
                        </a:defRPr>
                      </a:pPr>
                      <a:r>
                        <a:t>85%</a:t>
                      </a:r>
                    </a:p>
                  </a:txBody>
                  <a:tcPr anchor="ctr" marL="73152" marR="73152" marT="36576" marB="36576">
                    <a:solidFill>
                      <a:srgbClr val="141B2D"/>
                    </a:solidFill>
                  </a:tcPr>
                </a:tc>
                <a:tc>
                  <a:txBody>
                    <a:bodyPr/>
                    <a:lstStyle/>
                    <a:p>
                      <a:pPr>
                        <a:defRPr sz="1100">
                          <a:solidFill>
                            <a:srgbClr val="B0B8CC"/>
                          </a:solidFill>
                          <a:latin typeface="Calibri"/>
                        </a:defRPr>
                      </a:pPr>
                      <a:r>
                        <a:t>4–6 hrs</a:t>
                      </a:r>
                    </a:p>
                  </a:txBody>
                  <a:tcPr anchor="ctr" marL="73152" marR="73152" marT="36576" marB="36576">
                    <a:solidFill>
                      <a:srgbClr val="141B2D"/>
                    </a:solidFill>
                  </a:tcPr>
                </a:tc>
                <a:tc>
                  <a:txBody>
                    <a:bodyPr/>
                    <a:lstStyle/>
                    <a:p>
                      <a:pPr>
                        <a:defRPr sz="1100">
                          <a:solidFill>
                            <a:srgbClr val="B0B8CC"/>
                          </a:solidFill>
                          <a:latin typeface="Calibri"/>
                        </a:defRPr>
                      </a:pPr>
                      <a:r>
                        <a:t>5–20 Mbps</a:t>
                      </a:r>
                    </a:p>
                  </a:txBody>
                  <a:tcPr anchor="ctr" marL="73152" marR="73152" marT="36576" marB="36576">
                    <a:solidFill>
                      <a:srgbClr val="141B2D"/>
                    </a:solidFill>
                  </a:tcPr>
                </a:tc>
              </a:tr>
              <a:tr h="420624">
                <a:tc>
                  <a:txBody>
                    <a:bodyPr/>
                    <a:lstStyle/>
                    <a:p>
                      <a:pPr>
                        <a:defRPr sz="1100">
                          <a:solidFill>
                            <a:srgbClr val="B0B8CC"/>
                          </a:solidFill>
                          <a:latin typeface="Calibri"/>
                        </a:defRPr>
                      </a:pPr>
                      <a:r>
                        <a:t>Blackout</a:t>
                      </a:r>
                    </a:p>
                  </a:txBody>
                  <a:tcPr anchor="ctr" marL="73152" marR="73152" marT="36576" marB="36576">
                    <a:solidFill>
                      <a:srgbClr val="182236"/>
                    </a:solidFill>
                  </a:tcPr>
                </a:tc>
                <a:tc>
                  <a:txBody>
                    <a:bodyPr/>
                    <a:lstStyle/>
                    <a:p>
                      <a:pPr>
                        <a:defRPr sz="1100">
                          <a:solidFill>
                            <a:srgbClr val="B0B8CC"/>
                          </a:solidFill>
                          <a:latin typeface="Calibri"/>
                        </a:defRPr>
                      </a:pPr>
                      <a:r>
                        <a:t>0%</a:t>
                      </a:r>
                    </a:p>
                  </a:txBody>
                  <a:tcPr anchor="ctr" marL="73152" marR="73152" marT="36576" marB="36576">
                    <a:solidFill>
                      <a:srgbClr val="182236"/>
                    </a:solidFill>
                  </a:tcPr>
                </a:tc>
                <a:tc>
                  <a:txBody>
                    <a:bodyPr/>
                    <a:lstStyle/>
                    <a:p>
                      <a:pPr>
                        <a:defRPr sz="1100">
                          <a:solidFill>
                            <a:srgbClr val="B0B8CC"/>
                          </a:solidFill>
                          <a:latin typeface="Calibri"/>
                        </a:defRPr>
                      </a:pPr>
                      <a:r>
                        <a:t>2–4 weeks</a:t>
                      </a:r>
                    </a:p>
                  </a:txBody>
                  <a:tcPr anchor="ctr" marL="73152" marR="73152" marT="36576" marB="36576">
                    <a:solidFill>
                      <a:srgbClr val="182236"/>
                    </a:solidFill>
                  </a:tcPr>
                </a:tc>
                <a:tc>
                  <a:txBody>
                    <a:bodyPr/>
                    <a:lstStyle/>
                    <a:p>
                      <a:pPr>
                        <a:defRPr sz="1100">
                          <a:solidFill>
                            <a:srgbClr val="B0B8CC"/>
                          </a:solidFill>
                          <a:latin typeface="Calibri"/>
                        </a:defRPr>
                      </a:pPr>
                      <a:r>
                        <a:t>—</a:t>
                      </a:r>
                    </a:p>
                  </a:txBody>
                  <a:tcPr anchor="ctr" marL="73152" marR="73152" marT="36576" marB="36576">
                    <a:solidFill>
                      <a:srgbClr val="182236"/>
                    </a:solidFill>
                  </a:tcPr>
                </a:tc>
              </a:tr>
            </a:tbl>
          </a:graphicData>
        </a:graphic>
      </p:graphicFrame>
      <p:sp>
        <p:nvSpPr>
          <p:cNvPr id="7" name="TextBox 6"/>
          <p:cNvSpPr txBox="1"/>
          <p:nvPr/>
        </p:nvSpPr>
        <p:spPr>
          <a:xfrm>
            <a:off x="457200" y="6400800"/>
            <a:ext cx="4572000" cy="365760"/>
          </a:xfrm>
          <a:prstGeom prst="rect">
            <a:avLst/>
          </a:prstGeom>
          <a:noFill/>
        </p:spPr>
        <p:txBody>
          <a:bodyPr wrap="square">
            <a:spAutoFit/>
          </a:bodyPr>
          <a:lstStyle/>
          <a:p>
            <a:pPr algn="l">
              <a:defRPr sz="1000" b="0">
                <a:solidFill>
                  <a:srgbClr val="6B7B96"/>
                </a:solidFill>
                <a:latin typeface="Calibri"/>
              </a:defRPr>
            </a:pPr>
            <a:r>
              <a:t>AETHERIX — Interplanetary Communication Network</a:t>
            </a:r>
          </a:p>
        </p:txBody>
      </p:sp>
      <p:sp>
        <p:nvSpPr>
          <p:cNvPr id="8" name="TextBox 7"/>
          <p:cNvSpPr txBox="1"/>
          <p:nvPr/>
        </p:nvSpPr>
        <p:spPr>
          <a:xfrm>
            <a:off x="10058400" y="6400800"/>
            <a:ext cx="1828800" cy="365760"/>
          </a:xfrm>
          <a:prstGeom prst="rect">
            <a:avLst/>
          </a:prstGeom>
          <a:noFill/>
        </p:spPr>
        <p:txBody>
          <a:bodyPr wrap="square">
            <a:spAutoFit/>
          </a:bodyPr>
          <a:lstStyle/>
          <a:p>
            <a:pPr algn="r">
              <a:defRPr sz="1000" b="0">
                <a:solidFill>
                  <a:srgbClr val="6B7B96"/>
                </a:solidFill>
                <a:latin typeface="Calibri"/>
              </a:defRPr>
            </a:pPr>
            <a:r>
              <a:t>31 / 46</a:t>
            </a:r>
          </a:p>
        </p:txBody>
      </p:sp>
    </p:spTree>
  </p:cSld>
  <p:transition spd="med" advClick="1">
    <p:fade/>
  </p:transition>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B0E1A"/>
        </a:solidFill>
        <a:effectLst/>
      </p:bgPr>
    </p:bg>
    <p:spTree>
      <p:nvGrpSpPr>
        <p:cNvPr id="1" name=""/>
        <p:cNvGrpSpPr/>
        <p:nvPr/>
      </p:nvGrpSpPr>
      <p:grpSpPr/>
      <p:sp>
        <p:nvSpPr>
          <p:cNvPr id="2" name="TextBox 1"/>
          <p:cNvSpPr txBox="1"/>
          <p:nvPr/>
        </p:nvSpPr>
        <p:spPr>
          <a:xfrm>
            <a:off x="640080" y="274320"/>
            <a:ext cx="10058400" cy="640080"/>
          </a:xfrm>
          <a:prstGeom prst="rect">
            <a:avLst/>
          </a:prstGeom>
          <a:noFill/>
        </p:spPr>
        <p:txBody>
          <a:bodyPr wrap="square">
            <a:spAutoFit/>
          </a:bodyPr>
          <a:lstStyle/>
          <a:p>
            <a:pPr algn="l">
              <a:defRPr sz="3200" b="1">
                <a:solidFill>
                  <a:srgbClr val="FFFFFF"/>
                </a:solidFill>
                <a:latin typeface="Calibri"/>
              </a:defRPr>
            </a:pPr>
            <a:r>
              <a:t>CONTACT WINDOWS</a:t>
            </a:r>
          </a:p>
        </p:txBody>
      </p:sp>
      <p:sp>
        <p:nvSpPr>
          <p:cNvPr id="3" name="TextBox 2"/>
          <p:cNvSpPr txBox="1"/>
          <p:nvPr/>
        </p:nvSpPr>
        <p:spPr>
          <a:xfrm>
            <a:off x="640080" y="822960"/>
            <a:ext cx="10058400" cy="365760"/>
          </a:xfrm>
          <a:prstGeom prst="rect">
            <a:avLst/>
          </a:prstGeom>
          <a:noFill/>
        </p:spPr>
        <p:txBody>
          <a:bodyPr wrap="square">
            <a:spAutoFit/>
          </a:bodyPr>
          <a:lstStyle/>
          <a:p>
            <a:pPr algn="l">
              <a:defRPr sz="1600" b="0">
                <a:solidFill>
                  <a:srgbClr val="FF8C00"/>
                </a:solidFill>
                <a:latin typeface="Calibri"/>
              </a:defRPr>
            </a:pPr>
            <a:r>
              <a:t>Communication Opportunity Prediction</a:t>
            </a:r>
          </a:p>
        </p:txBody>
      </p:sp>
      <p:sp>
        <p:nvSpPr>
          <p:cNvPr id="4" name="Rectangle 3"/>
          <p:cNvSpPr/>
          <p:nvPr/>
        </p:nvSpPr>
        <p:spPr>
          <a:xfrm>
            <a:off x="640080" y="1234440"/>
            <a:ext cx="2286000" cy="38100"/>
          </a:xfrm>
          <a:prstGeom prst="rect">
            <a:avLst/>
          </a:prstGeom>
          <a:solidFill>
            <a:srgbClr val="FF8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ontact_windows.png"/>
          <p:cNvPicPr>
            <a:picLocks noChangeAspect="1"/>
          </p:cNvPicPr>
          <p:nvPr/>
        </p:nvPicPr>
        <p:blipFill>
          <a:blip r:embed="rId2"/>
          <a:stretch>
            <a:fillRect/>
          </a:stretch>
        </p:blipFill>
        <p:spPr>
          <a:xfrm>
            <a:off x="640080" y="1371600"/>
            <a:ext cx="6400800" cy="4114800"/>
          </a:xfrm>
          <a:prstGeom prst="rect">
            <a:avLst/>
          </a:prstGeom>
        </p:spPr>
      </p:pic>
      <p:sp>
        <p:nvSpPr>
          <p:cNvPr id="6" name="TextBox 5"/>
          <p:cNvSpPr txBox="1"/>
          <p:nvPr/>
        </p:nvSpPr>
        <p:spPr>
          <a:xfrm>
            <a:off x="640080" y="5669280"/>
            <a:ext cx="10058400" cy="274320"/>
          </a:xfrm>
          <a:prstGeom prst="rect">
            <a:avLst/>
          </a:prstGeom>
          <a:noFill/>
        </p:spPr>
        <p:txBody>
          <a:bodyPr wrap="square">
            <a:spAutoFit/>
          </a:bodyPr>
          <a:lstStyle/>
          <a:p>
            <a:pPr algn="ctr">
              <a:defRPr sz="1000" b="0">
                <a:solidFill>
                  <a:srgbClr val="6B7B96"/>
                </a:solidFill>
                <a:latin typeface="Calibri"/>
              </a:defRPr>
            </a:pPr>
            <a:r>
              <a:t>Contact windows vary from 4 to 12 hours depending on orbital geometry</a:t>
            </a:r>
          </a:p>
        </p:txBody>
      </p:sp>
      <p:sp>
        <p:nvSpPr>
          <p:cNvPr id="7" name="TextBox 6"/>
          <p:cNvSpPr txBox="1"/>
          <p:nvPr/>
        </p:nvSpPr>
        <p:spPr>
          <a:xfrm>
            <a:off x="457200" y="6400800"/>
            <a:ext cx="4572000" cy="365760"/>
          </a:xfrm>
          <a:prstGeom prst="rect">
            <a:avLst/>
          </a:prstGeom>
          <a:noFill/>
        </p:spPr>
        <p:txBody>
          <a:bodyPr wrap="square">
            <a:spAutoFit/>
          </a:bodyPr>
          <a:lstStyle/>
          <a:p>
            <a:pPr algn="l">
              <a:defRPr sz="1000" b="0">
                <a:solidFill>
                  <a:srgbClr val="6B7B96"/>
                </a:solidFill>
                <a:latin typeface="Calibri"/>
              </a:defRPr>
            </a:pPr>
            <a:r>
              <a:t>AETHERIX — Interplanetary Communication Network</a:t>
            </a:r>
          </a:p>
        </p:txBody>
      </p:sp>
      <p:sp>
        <p:nvSpPr>
          <p:cNvPr id="8" name="TextBox 7"/>
          <p:cNvSpPr txBox="1"/>
          <p:nvPr/>
        </p:nvSpPr>
        <p:spPr>
          <a:xfrm>
            <a:off x="10058400" y="6400800"/>
            <a:ext cx="1828800" cy="365760"/>
          </a:xfrm>
          <a:prstGeom prst="rect">
            <a:avLst/>
          </a:prstGeom>
          <a:noFill/>
        </p:spPr>
        <p:txBody>
          <a:bodyPr wrap="square">
            <a:spAutoFit/>
          </a:bodyPr>
          <a:lstStyle/>
          <a:p>
            <a:pPr algn="r">
              <a:defRPr sz="1000" b="0">
                <a:solidFill>
                  <a:srgbClr val="6B7B96"/>
                </a:solidFill>
                <a:latin typeface="Calibri"/>
              </a:defRPr>
            </a:pPr>
            <a:r>
              <a:t>32 / 46</a:t>
            </a:r>
          </a:p>
        </p:txBody>
      </p:sp>
    </p:spTree>
  </p:cSld>
  <p:transition spd="med" advClick="1">
    <p:fade/>
  </p:transition>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B0E1A"/>
        </a:solidFill>
        <a:effectLst/>
      </p:bgPr>
    </p:bg>
    <p:spTree>
      <p:nvGrpSpPr>
        <p:cNvPr id="1" name=""/>
        <p:cNvGrpSpPr/>
        <p:nvPr/>
      </p:nvGrpSpPr>
      <p:grpSpPr/>
      <p:sp>
        <p:nvSpPr>
          <p:cNvPr id="2" name="TextBox 1"/>
          <p:cNvSpPr txBox="1"/>
          <p:nvPr/>
        </p:nvSpPr>
        <p:spPr>
          <a:xfrm>
            <a:off x="548640" y="274320"/>
            <a:ext cx="10058400" cy="548640"/>
          </a:xfrm>
          <a:prstGeom prst="rect">
            <a:avLst/>
          </a:prstGeom>
          <a:noFill/>
        </p:spPr>
        <p:txBody>
          <a:bodyPr wrap="square">
            <a:spAutoFit/>
          </a:bodyPr>
          <a:lstStyle/>
          <a:p>
            <a:pPr algn="l">
              <a:defRPr sz="3000" b="1">
                <a:solidFill>
                  <a:srgbClr val="FFFFFF"/>
                </a:solidFill>
                <a:latin typeface="Calibri"/>
              </a:defRPr>
            </a:pPr>
            <a:r>
              <a:t>RADIATION-HARDENED COMPUTING</a:t>
            </a:r>
          </a:p>
        </p:txBody>
      </p:sp>
      <p:sp>
        <p:nvSpPr>
          <p:cNvPr id="3" name="TextBox 2"/>
          <p:cNvSpPr txBox="1"/>
          <p:nvPr/>
        </p:nvSpPr>
        <p:spPr>
          <a:xfrm>
            <a:off x="548640" y="822960"/>
            <a:ext cx="10058400" cy="365760"/>
          </a:xfrm>
          <a:prstGeom prst="rect">
            <a:avLst/>
          </a:prstGeom>
          <a:noFill/>
        </p:spPr>
        <p:txBody>
          <a:bodyPr wrap="square">
            <a:spAutoFit/>
          </a:bodyPr>
          <a:lstStyle/>
          <a:p>
            <a:pPr algn="l">
              <a:defRPr sz="1500" b="0">
                <a:solidFill>
                  <a:srgbClr val="00D4AA"/>
                </a:solidFill>
                <a:latin typeface="Calibri"/>
              </a:defRPr>
            </a:pPr>
            <a:r>
              <a:t>Surviving SEUs, latchup and total dose on the way to Mars</a:t>
            </a:r>
          </a:p>
        </p:txBody>
      </p:sp>
      <p:sp>
        <p:nvSpPr>
          <p:cNvPr id="4" name="Rectangle 3"/>
          <p:cNvSpPr/>
          <p:nvPr/>
        </p:nvSpPr>
        <p:spPr>
          <a:xfrm>
            <a:off x="548640" y="1234440"/>
            <a:ext cx="2286000" cy="38100"/>
          </a:xfrm>
          <a:prstGeom prst="rect">
            <a:avLst/>
          </a:prstGeom>
          <a:solidFill>
            <a:srgbClr val="FF4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274320" y="1463040"/>
          <a:ext cx="5852160" cy="2194560"/>
        </p:xfrm>
        <a:graphic>
          <a:graphicData uri="http://schemas.openxmlformats.org/drawingml/2006/table">
            <a:tbl>
              <a:tblPr firstRow="1" bandRow="1">
                <a:tableStyleId>{5C22544A-7EE6-4342-B048-85BDC9FD1C3A}</a:tableStyleId>
              </a:tblPr>
              <a:tblGrid>
                <a:gridCol w="1950720"/>
                <a:gridCol w="1950720"/>
                <a:gridCol w="1950720"/>
              </a:tblGrid>
              <a:tr h="438912">
                <a:tc>
                  <a:txBody>
                    <a:bodyPr/>
                    <a:lstStyle/>
                    <a:p>
                      <a:pPr algn="ctr">
                        <a:defRPr b="1" sz="1200">
                          <a:solidFill>
                            <a:srgbClr val="FFFFFF"/>
                          </a:solidFill>
                          <a:latin typeface="Calibri"/>
                        </a:defRPr>
                      </a:pPr>
                      <a:r>
                        <a:t>Effect</a:t>
                      </a:r>
                    </a:p>
                  </a:txBody>
                  <a:tcPr anchor="ctr" marL="73152" marR="73152" marT="36576" marB="36576">
                    <a:solidFill>
                      <a:srgbClr val="FF4D4D"/>
                    </a:solidFill>
                  </a:tcPr>
                </a:tc>
                <a:tc>
                  <a:txBody>
                    <a:bodyPr/>
                    <a:lstStyle/>
                    <a:p>
                      <a:pPr algn="ctr">
                        <a:defRPr b="1" sz="1200">
                          <a:solidFill>
                            <a:srgbClr val="FFFFFF"/>
                          </a:solidFill>
                          <a:latin typeface="Calibri"/>
                        </a:defRPr>
                      </a:pPr>
                      <a:r>
                        <a:t>What it does</a:t>
                      </a:r>
                    </a:p>
                  </a:txBody>
                  <a:tcPr anchor="ctr" marL="73152" marR="73152" marT="36576" marB="36576">
                    <a:solidFill>
                      <a:srgbClr val="FF4D4D"/>
                    </a:solidFill>
                  </a:tcPr>
                </a:tc>
                <a:tc>
                  <a:txBody>
                    <a:bodyPr/>
                    <a:lstStyle/>
                    <a:p>
                      <a:pPr algn="ctr">
                        <a:defRPr b="1" sz="1200">
                          <a:solidFill>
                            <a:srgbClr val="FFFFFF"/>
                          </a:solidFill>
                          <a:latin typeface="Calibri"/>
                        </a:defRPr>
                      </a:pPr>
                      <a:r>
                        <a:t>Mitigation</a:t>
                      </a:r>
                    </a:p>
                  </a:txBody>
                  <a:tcPr anchor="ctr" marL="73152" marR="73152" marT="36576" marB="36576">
                    <a:solidFill>
                      <a:srgbClr val="FF4D4D"/>
                    </a:solidFill>
                  </a:tcPr>
                </a:tc>
              </a:tr>
              <a:tr h="438912">
                <a:tc>
                  <a:txBody>
                    <a:bodyPr/>
                    <a:lstStyle/>
                    <a:p>
                      <a:pPr>
                        <a:defRPr sz="1100">
                          <a:solidFill>
                            <a:srgbClr val="B0B8CC"/>
                          </a:solidFill>
                          <a:latin typeface="Calibri"/>
                        </a:defRPr>
                      </a:pPr>
                      <a:r>
                        <a:t>SEU</a:t>
                      </a:r>
                    </a:p>
                  </a:txBody>
                  <a:tcPr anchor="ctr" marL="73152" marR="73152" marT="36576" marB="36576">
                    <a:solidFill>
                      <a:srgbClr val="141B2D"/>
                    </a:solidFill>
                  </a:tcPr>
                </a:tc>
                <a:tc>
                  <a:txBody>
                    <a:bodyPr/>
                    <a:lstStyle/>
                    <a:p>
                      <a:pPr>
                        <a:defRPr sz="1100">
                          <a:solidFill>
                            <a:srgbClr val="B0B8CC"/>
                          </a:solidFill>
                          <a:latin typeface="Calibri"/>
                        </a:defRPr>
                      </a:pPr>
                      <a:r>
                        <a:t>Single bit flip</a:t>
                      </a:r>
                    </a:p>
                  </a:txBody>
                  <a:tcPr anchor="ctr" marL="73152" marR="73152" marT="36576" marB="36576">
                    <a:solidFill>
                      <a:srgbClr val="141B2D"/>
                    </a:solidFill>
                  </a:tcPr>
                </a:tc>
                <a:tc>
                  <a:txBody>
                    <a:bodyPr/>
                    <a:lstStyle/>
                    <a:p>
                      <a:pPr>
                        <a:defRPr sz="1100">
                          <a:solidFill>
                            <a:srgbClr val="B0B8CC"/>
                          </a:solidFill>
                          <a:latin typeface="Calibri"/>
                        </a:defRPr>
                      </a:pPr>
                      <a:r>
                        <a:t>SECDED ECC</a:t>
                      </a:r>
                    </a:p>
                  </a:txBody>
                  <a:tcPr anchor="ctr" marL="73152" marR="73152" marT="36576" marB="36576">
                    <a:solidFill>
                      <a:srgbClr val="141B2D"/>
                    </a:solidFill>
                  </a:tcPr>
                </a:tc>
              </a:tr>
              <a:tr h="438912">
                <a:tc>
                  <a:txBody>
                    <a:bodyPr/>
                    <a:lstStyle/>
                    <a:p>
                      <a:pPr>
                        <a:defRPr sz="1100">
                          <a:solidFill>
                            <a:srgbClr val="B0B8CC"/>
                          </a:solidFill>
                          <a:latin typeface="Calibri"/>
                        </a:defRPr>
                      </a:pPr>
                      <a:r>
                        <a:t>MBU</a:t>
                      </a:r>
                    </a:p>
                  </a:txBody>
                  <a:tcPr anchor="ctr" marL="73152" marR="73152" marT="36576" marB="36576">
                    <a:solidFill>
                      <a:srgbClr val="182236"/>
                    </a:solidFill>
                  </a:tcPr>
                </a:tc>
                <a:tc>
                  <a:txBody>
                    <a:bodyPr/>
                    <a:lstStyle/>
                    <a:p>
                      <a:pPr>
                        <a:defRPr sz="1100">
                          <a:solidFill>
                            <a:srgbClr val="B0B8CC"/>
                          </a:solidFill>
                          <a:latin typeface="Calibri"/>
                        </a:defRPr>
                      </a:pPr>
                      <a:r>
                        <a:t>Multi-bit flip (1 ion)</a:t>
                      </a:r>
                    </a:p>
                  </a:txBody>
                  <a:tcPr anchor="ctr" marL="73152" marR="73152" marT="36576" marB="36576">
                    <a:solidFill>
                      <a:srgbClr val="182236"/>
                    </a:solidFill>
                  </a:tcPr>
                </a:tc>
                <a:tc>
                  <a:txBody>
                    <a:bodyPr/>
                    <a:lstStyle/>
                    <a:p>
                      <a:pPr>
                        <a:defRPr sz="1100">
                          <a:solidFill>
                            <a:srgbClr val="B0B8CC"/>
                          </a:solidFill>
                          <a:latin typeface="Calibri"/>
                        </a:defRPr>
                      </a:pPr>
                      <a:r>
                        <a:t>Bit interleaving</a:t>
                      </a:r>
                    </a:p>
                  </a:txBody>
                  <a:tcPr anchor="ctr" marL="73152" marR="73152" marT="36576" marB="36576">
                    <a:solidFill>
                      <a:srgbClr val="182236"/>
                    </a:solidFill>
                  </a:tcPr>
                </a:tc>
              </a:tr>
              <a:tr h="438912">
                <a:tc>
                  <a:txBody>
                    <a:bodyPr/>
                    <a:lstStyle/>
                    <a:p>
                      <a:pPr>
                        <a:defRPr sz="1100">
                          <a:solidFill>
                            <a:srgbClr val="B0B8CC"/>
                          </a:solidFill>
                          <a:latin typeface="Calibri"/>
                        </a:defRPr>
                      </a:pPr>
                      <a:r>
                        <a:t>SEL</a:t>
                      </a:r>
                    </a:p>
                  </a:txBody>
                  <a:tcPr anchor="ctr" marL="73152" marR="73152" marT="36576" marB="36576">
                    <a:solidFill>
                      <a:srgbClr val="141B2D"/>
                    </a:solidFill>
                  </a:tcPr>
                </a:tc>
                <a:tc>
                  <a:txBody>
                    <a:bodyPr/>
                    <a:lstStyle/>
                    <a:p>
                      <a:pPr>
                        <a:defRPr sz="1100">
                          <a:solidFill>
                            <a:srgbClr val="B0B8CC"/>
                          </a:solidFill>
                          <a:latin typeface="Calibri"/>
                        </a:defRPr>
                      </a:pPr>
                      <a:r>
                        <a:t>Latchup (destructive)</a:t>
                      </a:r>
                    </a:p>
                  </a:txBody>
                  <a:tcPr anchor="ctr" marL="73152" marR="73152" marT="36576" marB="36576">
                    <a:solidFill>
                      <a:srgbClr val="141B2D"/>
                    </a:solidFill>
                  </a:tcPr>
                </a:tc>
                <a:tc>
                  <a:txBody>
                    <a:bodyPr/>
                    <a:lstStyle/>
                    <a:p>
                      <a:pPr>
                        <a:defRPr sz="1100">
                          <a:solidFill>
                            <a:srgbClr val="B0B8CC"/>
                          </a:solidFill>
                          <a:latin typeface="Calibri"/>
                        </a:defRPr>
                      </a:pPr>
                      <a:r>
                        <a:t>Current limit + power-cycle</a:t>
                      </a:r>
                    </a:p>
                  </a:txBody>
                  <a:tcPr anchor="ctr" marL="73152" marR="73152" marT="36576" marB="36576">
                    <a:solidFill>
                      <a:srgbClr val="141B2D"/>
                    </a:solidFill>
                  </a:tcPr>
                </a:tc>
              </a:tr>
              <a:tr h="438912">
                <a:tc>
                  <a:txBody>
                    <a:bodyPr/>
                    <a:lstStyle/>
                    <a:p>
                      <a:pPr>
                        <a:defRPr sz="1100">
                          <a:solidFill>
                            <a:srgbClr val="B0B8CC"/>
                          </a:solidFill>
                          <a:latin typeface="Calibri"/>
                        </a:defRPr>
                      </a:pPr>
                      <a:r>
                        <a:t>TID</a:t>
                      </a:r>
                    </a:p>
                  </a:txBody>
                  <a:tcPr anchor="ctr" marL="73152" marR="73152" marT="36576" marB="36576">
                    <a:solidFill>
                      <a:srgbClr val="182236"/>
                    </a:solidFill>
                  </a:tcPr>
                </a:tc>
                <a:tc>
                  <a:txBody>
                    <a:bodyPr/>
                    <a:lstStyle/>
                    <a:p>
                      <a:pPr>
                        <a:defRPr sz="1100">
                          <a:solidFill>
                            <a:srgbClr val="B0B8CC"/>
                          </a:solidFill>
                          <a:latin typeface="Calibri"/>
                        </a:defRPr>
                      </a:pPr>
                      <a:r>
                        <a:t>Cumulative dose</a:t>
                      </a:r>
                    </a:p>
                  </a:txBody>
                  <a:tcPr anchor="ctr" marL="73152" marR="73152" marT="36576" marB="36576">
                    <a:solidFill>
                      <a:srgbClr val="182236"/>
                    </a:solidFill>
                  </a:tcPr>
                </a:tc>
                <a:tc>
                  <a:txBody>
                    <a:bodyPr/>
                    <a:lstStyle/>
                    <a:p>
                      <a:pPr>
                        <a:defRPr sz="1100">
                          <a:solidFill>
                            <a:srgbClr val="B0B8CC"/>
                          </a:solidFill>
                          <a:latin typeface="Calibri"/>
                        </a:defRPr>
                      </a:pPr>
                      <a:r>
                        <a:t>Rad-hard parts (RAD750)</a:t>
                      </a:r>
                    </a:p>
                  </a:txBody>
                  <a:tcPr anchor="ctr" marL="73152" marR="73152" marT="36576" marB="36576">
                    <a:solidFill>
                      <a:srgbClr val="182236"/>
                    </a:solidFill>
                  </a:tcPr>
                </a:tc>
              </a:tr>
            </a:tbl>
          </a:graphicData>
        </a:graphic>
      </p:graphicFrame>
      <p:sp>
        <p:nvSpPr>
          <p:cNvPr id="6" name="Rounded Rectangle 5"/>
          <p:cNvSpPr/>
          <p:nvPr/>
        </p:nvSpPr>
        <p:spPr>
          <a:xfrm>
            <a:off x="6400800" y="1463040"/>
            <a:ext cx="5486400" cy="2194560"/>
          </a:xfrm>
          <a:prstGeom prst="roundRect">
            <a:avLst/>
          </a:prstGeom>
          <a:solidFill>
            <a:srgbClr val="141B2D"/>
          </a:solidFill>
          <a:ln w="12700">
            <a:solidFill>
              <a:srgbClr val="1E2A42"/>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defRPr sz="1600" b="1">
                <a:solidFill>
                  <a:srgbClr val="FF4D4D"/>
                </a:solidFill>
                <a:latin typeface="Calibri"/>
              </a:defRPr>
            </a:pPr>
            <a:r>
              <a:t>Defense-in-Depth Stack</a:t>
            </a:r>
          </a:p>
          <a:p>
            <a:pPr algn="l">
              <a:spcBef>
                <a:spcPts val="200"/>
              </a:spcBef>
              <a:spcAft>
                <a:spcPts val="200"/>
              </a:spcAft>
              <a:defRPr sz="1300" b="0">
                <a:solidFill>
                  <a:srgbClr val="B0B8CC"/>
                </a:solidFill>
                <a:latin typeface="Calibri"/>
              </a:defRPr>
            </a:pPr>
            <a:r>
              <a:t>• TMR — triple replicas, majority vote (masks logic faults)</a:t>
            </a:r>
          </a:p>
          <a:p>
            <a:pPr algn="l">
              <a:spcBef>
                <a:spcPts val="200"/>
              </a:spcBef>
              <a:spcAft>
                <a:spcPts val="200"/>
              </a:spcAft>
              <a:defRPr sz="1300" b="0">
                <a:solidFill>
                  <a:srgbClr val="B0B8CC"/>
                </a:solidFill>
                <a:latin typeface="Calibri"/>
              </a:defRPr>
            </a:pPr>
            <a:r>
              <a:t>• SECDED (39,32) ECC — correct 1 bit, detect 2</a:t>
            </a:r>
          </a:p>
          <a:p>
            <a:pPr algn="l">
              <a:spcBef>
                <a:spcPts val="200"/>
              </a:spcBef>
              <a:spcAft>
                <a:spcPts val="200"/>
              </a:spcAft>
              <a:defRPr sz="1300" b="0">
                <a:solidFill>
                  <a:srgbClr val="B0B8CC"/>
                </a:solidFill>
                <a:latin typeface="Calibri"/>
              </a:defRPr>
            </a:pPr>
            <a:r>
              <a:t>• Scrubbing — rewrite memory before a 2nd upset accumulates</a:t>
            </a:r>
          </a:p>
          <a:p>
            <a:pPr algn="l">
              <a:spcBef>
                <a:spcPts val="200"/>
              </a:spcBef>
              <a:spcAft>
                <a:spcPts val="200"/>
              </a:spcAft>
              <a:defRPr sz="1300" b="0">
                <a:solidFill>
                  <a:srgbClr val="B0B8CC"/>
                </a:solidFill>
                <a:latin typeface="Calibri"/>
              </a:defRPr>
            </a:pPr>
            <a:r>
              <a:t>• FDIR + watchdog — detect → isolate → reset → SAFE-MODE</a:t>
            </a:r>
          </a:p>
        </p:txBody>
      </p:sp>
      <p:sp>
        <p:nvSpPr>
          <p:cNvPr id="7" name="Rounded Rectangle 6"/>
          <p:cNvSpPr/>
          <p:nvPr/>
        </p:nvSpPr>
        <p:spPr>
          <a:xfrm>
            <a:off x="274320" y="4023360"/>
            <a:ext cx="2743200" cy="1097280"/>
          </a:xfrm>
          <a:prstGeom prst="roundRect">
            <a:avLst/>
          </a:prstGeom>
          <a:solidFill>
            <a:srgbClr val="141B2D"/>
          </a:solidFill>
          <a:ln w="12700">
            <a:solidFill>
              <a:srgbClr val="00D4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400" b="1">
                <a:solidFill>
                  <a:srgbClr val="00D4AA"/>
                </a:solidFill>
                <a:latin typeface="Calibri"/>
              </a:defRPr>
            </a:pPr>
            <a:r>
              <a:t>200x</a:t>
            </a:r>
          </a:p>
          <a:p>
            <a:pPr algn="ctr">
              <a:spcBef>
                <a:spcPts val="200"/>
              </a:spcBef>
              <a:spcAft>
                <a:spcPts val="400"/>
              </a:spcAft>
              <a:defRPr sz="1000" b="0">
                <a:solidFill>
                  <a:srgbClr val="B0B8CC"/>
                </a:solidFill>
                <a:latin typeface="Calibri"/>
              </a:defRPr>
            </a:pPr>
            <a:r>
              <a:t>Fewer errors (ECC + scrub + interleave)</a:t>
            </a:r>
          </a:p>
        </p:txBody>
      </p:sp>
      <p:sp>
        <p:nvSpPr>
          <p:cNvPr id="8" name="Rounded Rectangle 7"/>
          <p:cNvSpPr/>
          <p:nvPr/>
        </p:nvSpPr>
        <p:spPr>
          <a:xfrm>
            <a:off x="3200400" y="4023360"/>
            <a:ext cx="2743200" cy="1097280"/>
          </a:xfrm>
          <a:prstGeom prst="roundRect">
            <a:avLst/>
          </a:prstGeom>
          <a:solidFill>
            <a:srgbClr val="141B2D"/>
          </a:solidFill>
          <a:ln w="12700">
            <a:solidFill>
              <a:srgbClr val="009E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400" b="1">
                <a:solidFill>
                  <a:srgbClr val="009EFF"/>
                </a:solidFill>
                <a:latin typeface="Calibri"/>
              </a:defRPr>
            </a:pPr>
            <a:r>
              <a:t>3,334x</a:t>
            </a:r>
          </a:p>
          <a:p>
            <a:pPr algn="ctr">
              <a:spcBef>
                <a:spcPts val="200"/>
              </a:spcBef>
              <a:spcAft>
                <a:spcPts val="400"/>
              </a:spcAft>
              <a:defRPr sz="1000" b="0">
                <a:solidFill>
                  <a:srgbClr val="B0B8CC"/>
                </a:solidFill>
                <a:latin typeface="Calibri"/>
              </a:defRPr>
            </a:pPr>
            <a:r>
              <a:t>TMR reliability gain (p=1e-4/op)</a:t>
            </a:r>
          </a:p>
        </p:txBody>
      </p:sp>
      <p:sp>
        <p:nvSpPr>
          <p:cNvPr id="9" name="Rounded Rectangle 8"/>
          <p:cNvSpPr/>
          <p:nvPr/>
        </p:nvSpPr>
        <p:spPr>
          <a:xfrm>
            <a:off x="6126480" y="4023360"/>
            <a:ext cx="2743200" cy="1097280"/>
          </a:xfrm>
          <a:prstGeom prst="roundRect">
            <a:avLst/>
          </a:prstGeom>
          <a:solidFill>
            <a:srgbClr val="141B2D"/>
          </a:solidFill>
          <a:ln w="12700">
            <a:solidFill>
              <a:srgbClr val="FF8C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400" b="1">
                <a:solidFill>
                  <a:srgbClr val="FF8C00"/>
                </a:solidFill>
                <a:latin typeface="Calibri"/>
              </a:defRPr>
            </a:pPr>
            <a:r>
              <a:t>200 krad</a:t>
            </a:r>
          </a:p>
          <a:p>
            <a:pPr algn="ctr">
              <a:spcBef>
                <a:spcPts val="200"/>
              </a:spcBef>
              <a:spcAft>
                <a:spcPts val="400"/>
              </a:spcAft>
              <a:defRPr sz="1000" b="0">
                <a:solidFill>
                  <a:srgbClr val="B0B8CC"/>
                </a:solidFill>
                <a:latin typeface="Calibri"/>
              </a:defRPr>
            </a:pPr>
            <a:r>
              <a:t>RAD750 TID tolerance (&gt;2000x margin)</a:t>
            </a:r>
          </a:p>
        </p:txBody>
      </p:sp>
      <p:sp>
        <p:nvSpPr>
          <p:cNvPr id="10" name="Rounded Rectangle 9"/>
          <p:cNvSpPr/>
          <p:nvPr/>
        </p:nvSpPr>
        <p:spPr>
          <a:xfrm>
            <a:off x="9052560" y="4023360"/>
            <a:ext cx="2834640" cy="1097280"/>
          </a:xfrm>
          <a:prstGeom prst="roundRect">
            <a:avLst/>
          </a:prstGeom>
          <a:solidFill>
            <a:srgbClr val="141B2D"/>
          </a:solidFill>
          <a:ln w="127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400" b="1">
                <a:solidFill>
                  <a:srgbClr val="8B5CF6"/>
                </a:solidFill>
                <a:latin typeface="Calibri"/>
              </a:defRPr>
            </a:pPr>
            <a:r>
              <a:t>~0.9 / day</a:t>
            </a:r>
          </a:p>
          <a:p>
            <a:pPr algn="ctr">
              <a:spcBef>
                <a:spcPts val="200"/>
              </a:spcBef>
              <a:spcAft>
                <a:spcPts val="400"/>
              </a:spcAft>
              <a:defRPr sz="1000" b="0">
                <a:solidFill>
                  <a:srgbClr val="B0B8CC"/>
                </a:solidFill>
                <a:latin typeface="Calibri"/>
              </a:defRPr>
            </a:pPr>
            <a:r>
              <a:t>Residual uncorrectable, Earth-Mars transit</a:t>
            </a:r>
          </a:p>
        </p:txBody>
      </p:sp>
      <p:sp>
        <p:nvSpPr>
          <p:cNvPr id="11" name="TextBox 10"/>
          <p:cNvSpPr txBox="1"/>
          <p:nvPr/>
        </p:nvSpPr>
        <p:spPr>
          <a:xfrm>
            <a:off x="548640" y="5349240"/>
            <a:ext cx="11155680" cy="822960"/>
          </a:xfrm>
          <a:prstGeom prst="rect">
            <a:avLst/>
          </a:prstGeom>
          <a:noFill/>
        </p:spPr>
        <p:txBody>
          <a:bodyPr wrap="square">
            <a:spAutoFit/>
          </a:bodyPr>
          <a:lstStyle/>
          <a:p>
            <a:pPr algn="l">
              <a:defRPr sz="1100" b="0">
                <a:solidFill>
                  <a:srgbClr val="6B7B96"/>
                </a:solidFill>
                <a:latin typeface="Calibri"/>
              </a:defRPr>
            </a:pPr>
            <a:r>
              <a:t>Model: 512 Mbit, ~210-day GCR cruise. ~37,000 raw bit upsets reduced to ~186 uncorrectable over the mission. Heritage: NASA RAD750 (Curiosity/Perseverance), ESA LEON3FT.  →  src/computing/radiation.py</a:t>
            </a:r>
          </a:p>
        </p:txBody>
      </p:sp>
      <p:sp>
        <p:nvSpPr>
          <p:cNvPr id="12" name="TextBox 11"/>
          <p:cNvSpPr txBox="1"/>
          <p:nvPr/>
        </p:nvSpPr>
        <p:spPr>
          <a:xfrm>
            <a:off x="457200" y="6400800"/>
            <a:ext cx="4572000" cy="365760"/>
          </a:xfrm>
          <a:prstGeom prst="rect">
            <a:avLst/>
          </a:prstGeom>
          <a:noFill/>
        </p:spPr>
        <p:txBody>
          <a:bodyPr wrap="square">
            <a:spAutoFit/>
          </a:bodyPr>
          <a:lstStyle/>
          <a:p>
            <a:pPr algn="l">
              <a:defRPr sz="1000" b="0">
                <a:solidFill>
                  <a:srgbClr val="6B7B96"/>
                </a:solidFill>
                <a:latin typeface="Calibri"/>
              </a:defRPr>
            </a:pPr>
            <a:r>
              <a:t>AETHERIX — Interplanetary Communication Network</a:t>
            </a:r>
          </a:p>
        </p:txBody>
      </p:sp>
      <p:sp>
        <p:nvSpPr>
          <p:cNvPr id="13" name="TextBox 12"/>
          <p:cNvSpPr txBox="1"/>
          <p:nvPr/>
        </p:nvSpPr>
        <p:spPr>
          <a:xfrm>
            <a:off x="10058400" y="6400800"/>
            <a:ext cx="1828800" cy="365760"/>
          </a:xfrm>
          <a:prstGeom prst="rect">
            <a:avLst/>
          </a:prstGeom>
          <a:noFill/>
        </p:spPr>
        <p:txBody>
          <a:bodyPr wrap="square">
            <a:spAutoFit/>
          </a:bodyPr>
          <a:lstStyle/>
          <a:p>
            <a:pPr algn="r">
              <a:defRPr sz="1000" b="0">
                <a:solidFill>
                  <a:srgbClr val="6B7B96"/>
                </a:solidFill>
                <a:latin typeface="Calibri"/>
              </a:defRPr>
            </a:pPr>
            <a:r>
              <a:t>33 / 46</a:t>
            </a:r>
          </a:p>
        </p:txBody>
      </p:sp>
    </p:spTree>
  </p:cSld>
  <p:transition spd="med" advClick="1">
    <p:fade/>
  </p:transition>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B0E1A"/>
        </a:solidFill>
        <a:effectLst/>
      </p:bgPr>
    </p:bg>
    <p:spTree>
      <p:nvGrpSpPr>
        <p:cNvPr id="1" name=""/>
        <p:cNvGrpSpPr/>
        <p:nvPr/>
      </p:nvGrpSpPr>
      <p:grpSpPr/>
      <p:sp>
        <p:nvSpPr>
          <p:cNvPr id="2" name="TextBox 1"/>
          <p:cNvSpPr txBox="1"/>
          <p:nvPr/>
        </p:nvSpPr>
        <p:spPr>
          <a:xfrm>
            <a:off x="548640" y="274320"/>
            <a:ext cx="10058400" cy="548640"/>
          </a:xfrm>
          <a:prstGeom prst="rect">
            <a:avLst/>
          </a:prstGeom>
          <a:noFill/>
        </p:spPr>
        <p:txBody>
          <a:bodyPr wrap="square">
            <a:spAutoFit/>
          </a:bodyPr>
          <a:lstStyle/>
          <a:p>
            <a:pPr algn="l">
              <a:defRPr sz="2800" b="1">
                <a:solidFill>
                  <a:srgbClr val="FFFFFF"/>
                </a:solidFill>
                <a:latin typeface="Calibri"/>
              </a:defRPr>
            </a:pPr>
            <a:r>
              <a:t>MISSION-CRITICAL DATA PRIORITIZATION</a:t>
            </a:r>
          </a:p>
        </p:txBody>
      </p:sp>
      <p:sp>
        <p:nvSpPr>
          <p:cNvPr id="3" name="TextBox 2"/>
          <p:cNvSpPr txBox="1"/>
          <p:nvPr/>
        </p:nvSpPr>
        <p:spPr>
          <a:xfrm>
            <a:off x="548640" y="822960"/>
            <a:ext cx="10058400" cy="365760"/>
          </a:xfrm>
          <a:prstGeom prst="rect">
            <a:avLst/>
          </a:prstGeom>
          <a:noFill/>
        </p:spPr>
        <p:txBody>
          <a:bodyPr wrap="square">
            <a:spAutoFit/>
          </a:bodyPr>
          <a:lstStyle/>
          <a:p>
            <a:pPr algn="l">
              <a:defRPr sz="1500" b="0">
                <a:solidFill>
                  <a:srgbClr val="00D4AA"/>
                </a:solidFill>
                <a:latin typeface="Calibri"/>
              </a:defRPr>
            </a:pPr>
            <a:r>
              <a:t>Bandwidth triage: get the right bits home first</a:t>
            </a:r>
          </a:p>
        </p:txBody>
      </p:sp>
      <p:sp>
        <p:nvSpPr>
          <p:cNvPr id="4" name="Rectangle 3"/>
          <p:cNvSpPr/>
          <p:nvPr/>
        </p:nvSpPr>
        <p:spPr>
          <a:xfrm>
            <a:off x="548640" y="1234440"/>
            <a:ext cx="2286000" cy="38100"/>
          </a:xfrm>
          <a:prstGeom prst="rect">
            <a:avLst/>
          </a:prstGeom>
          <a:solidFill>
            <a:srgbClr val="FF8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274320" y="1463040"/>
          <a:ext cx="6400800" cy="2194560"/>
        </p:xfrm>
        <a:graphic>
          <a:graphicData uri="http://schemas.openxmlformats.org/drawingml/2006/table">
            <a:tbl>
              <a:tblPr firstRow="1" bandRow="1">
                <a:tableStyleId>{5C22544A-7EE6-4342-B048-85BDC9FD1C3A}</a:tableStyleId>
              </a:tblPr>
              <a:tblGrid>
                <a:gridCol w="2133600"/>
                <a:gridCol w="2133600"/>
                <a:gridCol w="2133600"/>
              </a:tblGrid>
              <a:tr h="438912">
                <a:tc>
                  <a:txBody>
                    <a:bodyPr/>
                    <a:lstStyle/>
                    <a:p>
                      <a:pPr algn="ctr">
                        <a:defRPr b="1" sz="1200">
                          <a:solidFill>
                            <a:srgbClr val="FFFFFF"/>
                          </a:solidFill>
                          <a:latin typeface="Calibri"/>
                        </a:defRPr>
                      </a:pPr>
                      <a:r>
                        <a:t>Tier</a:t>
                      </a:r>
                    </a:p>
                  </a:txBody>
                  <a:tcPr anchor="ctr" marL="73152" marR="73152" marT="36576" marB="36576">
                    <a:solidFill>
                      <a:srgbClr val="FF8C00"/>
                    </a:solidFill>
                  </a:tcPr>
                </a:tc>
                <a:tc>
                  <a:txBody>
                    <a:bodyPr/>
                    <a:lstStyle/>
                    <a:p>
                      <a:pPr algn="ctr">
                        <a:defRPr b="1" sz="1200">
                          <a:solidFill>
                            <a:srgbClr val="FFFFFF"/>
                          </a:solidFill>
                          <a:latin typeface="Calibri"/>
                        </a:defRPr>
                      </a:pPr>
                      <a:r>
                        <a:t>Class</a:t>
                      </a:r>
                    </a:p>
                  </a:txBody>
                  <a:tcPr anchor="ctr" marL="73152" marR="73152" marT="36576" marB="36576">
                    <a:solidFill>
                      <a:srgbClr val="FF8C00"/>
                    </a:solidFill>
                  </a:tcPr>
                </a:tc>
                <a:tc>
                  <a:txBody>
                    <a:bodyPr/>
                    <a:lstStyle/>
                    <a:p>
                      <a:pPr algn="ctr">
                        <a:defRPr b="1" sz="1200">
                          <a:solidFill>
                            <a:srgbClr val="FFFFFF"/>
                          </a:solidFill>
                          <a:latin typeface="Calibri"/>
                        </a:defRPr>
                      </a:pPr>
                      <a:r>
                        <a:t>Examples</a:t>
                      </a:r>
                    </a:p>
                  </a:txBody>
                  <a:tcPr anchor="ctr" marL="73152" marR="73152" marT="36576" marB="36576">
                    <a:solidFill>
                      <a:srgbClr val="FF8C00"/>
                    </a:solidFill>
                  </a:tcPr>
                </a:tc>
              </a:tr>
              <a:tr h="438912">
                <a:tc>
                  <a:txBody>
                    <a:bodyPr/>
                    <a:lstStyle/>
                    <a:p>
                      <a:pPr>
                        <a:defRPr sz="1100">
                          <a:solidFill>
                            <a:srgbClr val="B0B8CC"/>
                          </a:solidFill>
                          <a:latin typeface="Calibri"/>
                        </a:defRPr>
                      </a:pPr>
                      <a:r>
                        <a:t>P0</a:t>
                      </a:r>
                    </a:p>
                  </a:txBody>
                  <a:tcPr anchor="ctr" marL="73152" marR="73152" marT="36576" marB="36576">
                    <a:solidFill>
                      <a:srgbClr val="141B2D"/>
                    </a:solidFill>
                  </a:tcPr>
                </a:tc>
                <a:tc>
                  <a:txBody>
                    <a:bodyPr/>
                    <a:lstStyle/>
                    <a:p>
                      <a:pPr>
                        <a:defRPr sz="1100">
                          <a:solidFill>
                            <a:srgbClr val="B0B8CC"/>
                          </a:solidFill>
                          <a:latin typeface="Calibri"/>
                        </a:defRPr>
                      </a:pPr>
                      <a:r>
                        <a:t>Emergency / Safety</a:t>
                      </a:r>
                    </a:p>
                  </a:txBody>
                  <a:tcPr anchor="ctr" marL="73152" marR="73152" marT="36576" marB="36576">
                    <a:solidFill>
                      <a:srgbClr val="141B2D"/>
                    </a:solidFill>
                  </a:tcPr>
                </a:tc>
                <a:tc>
                  <a:txBody>
                    <a:bodyPr/>
                    <a:lstStyle/>
                    <a:p>
                      <a:pPr>
                        <a:defRPr sz="1100">
                          <a:solidFill>
                            <a:srgbClr val="B0B8CC"/>
                          </a:solidFill>
                          <a:latin typeface="Calibri"/>
                        </a:defRPr>
                      </a:pPr>
                      <a:r>
                        <a:t>Health telemetry, collision avoidance</a:t>
                      </a:r>
                    </a:p>
                  </a:txBody>
                  <a:tcPr anchor="ctr" marL="73152" marR="73152" marT="36576" marB="36576">
                    <a:solidFill>
                      <a:srgbClr val="141B2D"/>
                    </a:solidFill>
                  </a:tcPr>
                </a:tc>
              </a:tr>
              <a:tr h="438912">
                <a:tc>
                  <a:txBody>
                    <a:bodyPr/>
                    <a:lstStyle/>
                    <a:p>
                      <a:pPr>
                        <a:defRPr sz="1100">
                          <a:solidFill>
                            <a:srgbClr val="B0B8CC"/>
                          </a:solidFill>
                          <a:latin typeface="Calibri"/>
                        </a:defRPr>
                      </a:pPr>
                      <a:r>
                        <a:t>P1</a:t>
                      </a:r>
                    </a:p>
                  </a:txBody>
                  <a:tcPr anchor="ctr" marL="73152" marR="73152" marT="36576" marB="36576">
                    <a:solidFill>
                      <a:srgbClr val="182236"/>
                    </a:solidFill>
                  </a:tcPr>
                </a:tc>
                <a:tc>
                  <a:txBody>
                    <a:bodyPr/>
                    <a:lstStyle/>
                    <a:p>
                      <a:pPr>
                        <a:defRPr sz="1100">
                          <a:solidFill>
                            <a:srgbClr val="B0B8CC"/>
                          </a:solidFill>
                          <a:latin typeface="Calibri"/>
                        </a:defRPr>
                      </a:pPr>
                      <a:r>
                        <a:t>Mission-critical</a:t>
                      </a:r>
                    </a:p>
                  </a:txBody>
                  <a:tcPr anchor="ctr" marL="73152" marR="73152" marT="36576" marB="36576">
                    <a:solidFill>
                      <a:srgbClr val="182236"/>
                    </a:solidFill>
                  </a:tcPr>
                </a:tc>
                <a:tc>
                  <a:txBody>
                    <a:bodyPr/>
                    <a:lstStyle/>
                    <a:p>
                      <a:pPr>
                        <a:defRPr sz="1100">
                          <a:solidFill>
                            <a:srgbClr val="B0B8CC"/>
                          </a:solidFill>
                          <a:latin typeface="Calibri"/>
                        </a:defRPr>
                      </a:pPr>
                      <a:r>
                        <a:t>Command ACKs, time-sensitive science</a:t>
                      </a:r>
                    </a:p>
                  </a:txBody>
                  <a:tcPr anchor="ctr" marL="73152" marR="73152" marT="36576" marB="36576">
                    <a:solidFill>
                      <a:srgbClr val="182236"/>
                    </a:solidFill>
                  </a:tcPr>
                </a:tc>
              </a:tr>
              <a:tr h="438912">
                <a:tc>
                  <a:txBody>
                    <a:bodyPr/>
                    <a:lstStyle/>
                    <a:p>
                      <a:pPr>
                        <a:defRPr sz="1100">
                          <a:solidFill>
                            <a:srgbClr val="B0B8CC"/>
                          </a:solidFill>
                          <a:latin typeface="Calibri"/>
                        </a:defRPr>
                      </a:pPr>
                      <a:r>
                        <a:t>P2</a:t>
                      </a:r>
                    </a:p>
                  </a:txBody>
                  <a:tcPr anchor="ctr" marL="73152" marR="73152" marT="36576" marB="36576">
                    <a:solidFill>
                      <a:srgbClr val="141B2D"/>
                    </a:solidFill>
                  </a:tcPr>
                </a:tc>
                <a:tc>
                  <a:txBody>
                    <a:bodyPr/>
                    <a:lstStyle/>
                    <a:p>
                      <a:pPr>
                        <a:defRPr sz="1100">
                          <a:solidFill>
                            <a:srgbClr val="B0B8CC"/>
                          </a:solidFill>
                          <a:latin typeface="Calibri"/>
                        </a:defRPr>
                      </a:pPr>
                      <a:r>
                        <a:t>High-priority</a:t>
                      </a:r>
                    </a:p>
                  </a:txBody>
                  <a:tcPr anchor="ctr" marL="73152" marR="73152" marT="36576" marB="36576">
                    <a:solidFill>
                      <a:srgbClr val="141B2D"/>
                    </a:solidFill>
                  </a:tcPr>
                </a:tc>
                <a:tc>
                  <a:txBody>
                    <a:bodyPr/>
                    <a:lstStyle/>
                    <a:p>
                      <a:pPr>
                        <a:defRPr sz="1100">
                          <a:solidFill>
                            <a:srgbClr val="B0B8CC"/>
                          </a:solidFill>
                          <a:latin typeface="Calibri"/>
                        </a:defRPr>
                      </a:pPr>
                      <a:r>
                        <a:t>Routine telemetry, scheduled science</a:t>
                      </a:r>
                    </a:p>
                  </a:txBody>
                  <a:tcPr anchor="ctr" marL="73152" marR="73152" marT="36576" marB="36576">
                    <a:solidFill>
                      <a:srgbClr val="141B2D"/>
                    </a:solidFill>
                  </a:tcPr>
                </a:tc>
              </a:tr>
              <a:tr h="438912">
                <a:tc>
                  <a:txBody>
                    <a:bodyPr/>
                    <a:lstStyle/>
                    <a:p>
                      <a:pPr>
                        <a:defRPr sz="1100">
                          <a:solidFill>
                            <a:srgbClr val="B0B8CC"/>
                          </a:solidFill>
                          <a:latin typeface="Calibri"/>
                        </a:defRPr>
                      </a:pPr>
                      <a:r>
                        <a:t>P4</a:t>
                      </a:r>
                    </a:p>
                  </a:txBody>
                  <a:tcPr anchor="ctr" marL="73152" marR="73152" marT="36576" marB="36576">
                    <a:solidFill>
                      <a:srgbClr val="182236"/>
                    </a:solidFill>
                  </a:tcPr>
                </a:tc>
                <a:tc>
                  <a:txBody>
                    <a:bodyPr/>
                    <a:lstStyle/>
                    <a:p>
                      <a:pPr>
                        <a:defRPr sz="1100">
                          <a:solidFill>
                            <a:srgbClr val="B0B8CC"/>
                          </a:solidFill>
                          <a:latin typeface="Calibri"/>
                        </a:defRPr>
                      </a:pPr>
                      <a:r>
                        <a:t>Low / Bulk</a:t>
                      </a:r>
                    </a:p>
                  </a:txBody>
                  <a:tcPr anchor="ctr" marL="73152" marR="73152" marT="36576" marB="36576">
                    <a:solidFill>
                      <a:srgbClr val="182236"/>
                    </a:solidFill>
                  </a:tcPr>
                </a:tc>
                <a:tc>
                  <a:txBody>
                    <a:bodyPr/>
                    <a:lstStyle/>
                    <a:p>
                      <a:pPr>
                        <a:defRPr sz="1100">
                          <a:solidFill>
                            <a:srgbClr val="B0B8CC"/>
                          </a:solidFill>
                          <a:latin typeface="Calibri"/>
                        </a:defRPr>
                      </a:pPr>
                      <a:r>
                        <a:t>Housekeeping logs, file transfers</a:t>
                      </a:r>
                    </a:p>
                  </a:txBody>
                  <a:tcPr anchor="ctr" marL="73152" marR="73152" marT="36576" marB="36576">
                    <a:solidFill>
                      <a:srgbClr val="182236"/>
                    </a:solidFill>
                  </a:tcPr>
                </a:tc>
              </a:tr>
            </a:tbl>
          </a:graphicData>
        </a:graphic>
      </p:graphicFrame>
      <p:graphicFrame>
        <p:nvGraphicFramePr>
          <p:cNvPr id="6" name="Table 5"/>
          <p:cNvGraphicFramePr>
            <a:graphicFrameLocks noGrp="1"/>
          </p:cNvGraphicFramePr>
          <p:nvPr/>
        </p:nvGraphicFramePr>
        <p:xfrm>
          <a:off x="6949440" y="1463040"/>
          <a:ext cx="4937760" cy="1828800"/>
        </p:xfrm>
        <a:graphic>
          <a:graphicData uri="http://schemas.openxmlformats.org/drawingml/2006/table">
            <a:tbl>
              <a:tblPr firstRow="1" bandRow="1">
                <a:tableStyleId>{5C22544A-7EE6-4342-B048-85BDC9FD1C3A}</a:tableStyleId>
              </a:tblPr>
              <a:tblGrid>
                <a:gridCol w="1645920"/>
                <a:gridCol w="1645920"/>
                <a:gridCol w="1645920"/>
              </a:tblGrid>
              <a:tr h="457200">
                <a:tc>
                  <a:txBody>
                    <a:bodyPr/>
                    <a:lstStyle/>
                    <a:p>
                      <a:pPr algn="ctr">
                        <a:defRPr b="1" sz="1200">
                          <a:solidFill>
                            <a:srgbClr val="FFFFFF"/>
                          </a:solidFill>
                          <a:latin typeface="Calibri"/>
                        </a:defRPr>
                      </a:pPr>
                      <a:r>
                        <a:t>Data type</a:t>
                      </a:r>
                    </a:p>
                  </a:txBody>
                  <a:tcPr anchor="ctr" marL="73152" marR="73152" marT="36576" marB="36576">
                    <a:solidFill>
                      <a:srgbClr val="8B5CF6"/>
                    </a:solidFill>
                  </a:tcPr>
                </a:tc>
                <a:tc>
                  <a:txBody>
                    <a:bodyPr/>
                    <a:lstStyle/>
                    <a:p>
                      <a:pPr algn="ctr">
                        <a:defRPr b="1" sz="1200">
                          <a:solidFill>
                            <a:srgbClr val="FFFFFF"/>
                          </a:solidFill>
                          <a:latin typeface="Calibri"/>
                        </a:defRPr>
                      </a:pPr>
                      <a:r>
                        <a:t>Standard</a:t>
                      </a:r>
                    </a:p>
                  </a:txBody>
                  <a:tcPr anchor="ctr" marL="73152" marR="73152" marT="36576" marB="36576">
                    <a:solidFill>
                      <a:srgbClr val="8B5CF6"/>
                    </a:solidFill>
                  </a:tcPr>
                </a:tc>
                <a:tc>
                  <a:txBody>
                    <a:bodyPr/>
                    <a:lstStyle/>
                    <a:p>
                      <a:pPr algn="ctr">
                        <a:defRPr b="1" sz="1200">
                          <a:solidFill>
                            <a:srgbClr val="FFFFFF"/>
                          </a:solidFill>
                          <a:latin typeface="Calibri"/>
                        </a:defRPr>
                      </a:pPr>
                      <a:r>
                        <a:t>Ratio</a:t>
                      </a:r>
                    </a:p>
                  </a:txBody>
                  <a:tcPr anchor="ctr" marL="73152" marR="73152" marT="36576" marB="36576">
                    <a:solidFill>
                      <a:srgbClr val="8B5CF6"/>
                    </a:solidFill>
                  </a:tcPr>
                </a:tc>
              </a:tr>
              <a:tr h="457200">
                <a:tc>
                  <a:txBody>
                    <a:bodyPr/>
                    <a:lstStyle/>
                    <a:p>
                      <a:pPr>
                        <a:defRPr sz="1100">
                          <a:solidFill>
                            <a:srgbClr val="B0B8CC"/>
                          </a:solidFill>
                          <a:latin typeface="Calibri"/>
                        </a:defRPr>
                      </a:pPr>
                      <a:r>
                        <a:t>Telemetry</a:t>
                      </a:r>
                    </a:p>
                  </a:txBody>
                  <a:tcPr anchor="ctr" marL="73152" marR="73152" marT="36576" marB="36576">
                    <a:solidFill>
                      <a:srgbClr val="141B2D"/>
                    </a:solidFill>
                  </a:tcPr>
                </a:tc>
                <a:tc>
                  <a:txBody>
                    <a:bodyPr/>
                    <a:lstStyle/>
                    <a:p>
                      <a:pPr>
                        <a:defRPr sz="1100">
                          <a:solidFill>
                            <a:srgbClr val="B0B8CC"/>
                          </a:solidFill>
                          <a:latin typeface="Calibri"/>
                        </a:defRPr>
                      </a:pPr>
                      <a:r>
                        <a:t>CCSDS 121</a:t>
                      </a:r>
                    </a:p>
                  </a:txBody>
                  <a:tcPr anchor="ctr" marL="73152" marR="73152" marT="36576" marB="36576">
                    <a:solidFill>
                      <a:srgbClr val="141B2D"/>
                    </a:solidFill>
                  </a:tcPr>
                </a:tc>
                <a:tc>
                  <a:txBody>
                    <a:bodyPr/>
                    <a:lstStyle/>
                    <a:p>
                      <a:pPr>
                        <a:defRPr sz="1100">
                          <a:solidFill>
                            <a:srgbClr val="B0B8CC"/>
                          </a:solidFill>
                          <a:latin typeface="Calibri"/>
                        </a:defRPr>
                      </a:pPr>
                      <a:r>
                        <a:t>3x</a:t>
                      </a:r>
                    </a:p>
                  </a:txBody>
                  <a:tcPr anchor="ctr" marL="73152" marR="73152" marT="36576" marB="36576">
                    <a:solidFill>
                      <a:srgbClr val="141B2D"/>
                    </a:solidFill>
                  </a:tcPr>
                </a:tc>
              </a:tr>
              <a:tr h="457200">
                <a:tc>
                  <a:txBody>
                    <a:bodyPr/>
                    <a:lstStyle/>
                    <a:p>
                      <a:pPr>
                        <a:defRPr sz="1100">
                          <a:solidFill>
                            <a:srgbClr val="B0B8CC"/>
                          </a:solidFill>
                          <a:latin typeface="Calibri"/>
                        </a:defRPr>
                      </a:pPr>
                      <a:r>
                        <a:t>Imagery (lossy)</a:t>
                      </a:r>
                    </a:p>
                  </a:txBody>
                  <a:tcPr anchor="ctr" marL="73152" marR="73152" marT="36576" marB="36576">
                    <a:solidFill>
                      <a:srgbClr val="182236"/>
                    </a:solidFill>
                  </a:tcPr>
                </a:tc>
                <a:tc>
                  <a:txBody>
                    <a:bodyPr/>
                    <a:lstStyle/>
                    <a:p>
                      <a:pPr>
                        <a:defRPr sz="1100">
                          <a:solidFill>
                            <a:srgbClr val="B0B8CC"/>
                          </a:solidFill>
                          <a:latin typeface="Calibri"/>
                        </a:defRPr>
                      </a:pPr>
                      <a:r>
                        <a:t>CCSDS 122</a:t>
                      </a:r>
                    </a:p>
                  </a:txBody>
                  <a:tcPr anchor="ctr" marL="73152" marR="73152" marT="36576" marB="36576">
                    <a:solidFill>
                      <a:srgbClr val="182236"/>
                    </a:solidFill>
                  </a:tcPr>
                </a:tc>
                <a:tc>
                  <a:txBody>
                    <a:bodyPr/>
                    <a:lstStyle/>
                    <a:p>
                      <a:pPr>
                        <a:defRPr sz="1100">
                          <a:solidFill>
                            <a:srgbClr val="B0B8CC"/>
                          </a:solidFill>
                          <a:latin typeface="Calibri"/>
                        </a:defRPr>
                      </a:pPr>
                      <a:r>
                        <a:t>10x</a:t>
                      </a:r>
                    </a:p>
                  </a:txBody>
                  <a:tcPr anchor="ctr" marL="73152" marR="73152" marT="36576" marB="36576">
                    <a:solidFill>
                      <a:srgbClr val="182236"/>
                    </a:solidFill>
                  </a:tcPr>
                </a:tc>
              </a:tr>
              <a:tr h="457200">
                <a:tc>
                  <a:txBody>
                    <a:bodyPr/>
                    <a:lstStyle/>
                    <a:p>
                      <a:pPr>
                        <a:defRPr sz="1100">
                          <a:solidFill>
                            <a:srgbClr val="B0B8CC"/>
                          </a:solidFill>
                          <a:latin typeface="Calibri"/>
                        </a:defRPr>
                      </a:pPr>
                      <a:r>
                        <a:t>Video</a:t>
                      </a:r>
                    </a:p>
                  </a:txBody>
                  <a:tcPr anchor="ctr" marL="73152" marR="73152" marT="36576" marB="36576">
                    <a:solidFill>
                      <a:srgbClr val="141B2D"/>
                    </a:solidFill>
                  </a:tcPr>
                </a:tc>
                <a:tc>
                  <a:txBody>
                    <a:bodyPr/>
                    <a:lstStyle/>
                    <a:p>
                      <a:pPr>
                        <a:defRPr sz="1100">
                          <a:solidFill>
                            <a:srgbClr val="B0B8CC"/>
                          </a:solidFill>
                          <a:latin typeface="Calibri"/>
                        </a:defRPr>
                      </a:pPr>
                      <a:r>
                        <a:t>H.265</a:t>
                      </a:r>
                    </a:p>
                  </a:txBody>
                  <a:tcPr anchor="ctr" marL="73152" marR="73152" marT="36576" marB="36576">
                    <a:solidFill>
                      <a:srgbClr val="141B2D"/>
                    </a:solidFill>
                  </a:tcPr>
                </a:tc>
                <a:tc>
                  <a:txBody>
                    <a:bodyPr/>
                    <a:lstStyle/>
                    <a:p>
                      <a:pPr>
                        <a:defRPr sz="1100">
                          <a:solidFill>
                            <a:srgbClr val="B0B8CC"/>
                          </a:solidFill>
                          <a:latin typeface="Calibri"/>
                        </a:defRPr>
                      </a:pPr>
                      <a:r>
                        <a:t>50x</a:t>
                      </a:r>
                    </a:p>
                  </a:txBody>
                  <a:tcPr anchor="ctr" marL="73152" marR="73152" marT="36576" marB="36576">
                    <a:solidFill>
                      <a:srgbClr val="141B2D"/>
                    </a:solidFill>
                  </a:tcPr>
                </a:tc>
              </a:tr>
            </a:tbl>
          </a:graphicData>
        </a:graphic>
      </p:graphicFrame>
      <p:sp>
        <p:nvSpPr>
          <p:cNvPr id="7" name="Rounded Rectangle 6"/>
          <p:cNvSpPr/>
          <p:nvPr/>
        </p:nvSpPr>
        <p:spPr>
          <a:xfrm>
            <a:off x="274320" y="4023360"/>
            <a:ext cx="2743200" cy="1097280"/>
          </a:xfrm>
          <a:prstGeom prst="roundRect">
            <a:avLst/>
          </a:prstGeom>
          <a:solidFill>
            <a:srgbClr val="141B2D"/>
          </a:solidFill>
          <a:ln w="12700">
            <a:solidFill>
              <a:srgbClr val="00D4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400" b="1">
                <a:solidFill>
                  <a:srgbClr val="00D4AA"/>
                </a:solidFill>
                <a:latin typeface="Calibri"/>
              </a:defRPr>
            </a:pPr>
            <a:r>
              <a:t>100%</a:t>
            </a:r>
          </a:p>
          <a:p>
            <a:pPr algn="ctr">
              <a:spcBef>
                <a:spcPts val="200"/>
              </a:spcBef>
              <a:spcAft>
                <a:spcPts val="400"/>
              </a:spcAft>
              <a:defRPr sz="1000" b="0">
                <a:solidFill>
                  <a:srgbClr val="B0B8CC"/>
                </a:solidFill>
                <a:latin typeface="Calibri"/>
              </a:defRPr>
            </a:pPr>
            <a:r>
              <a:t>Link utilization (no wasted bandwidth)</a:t>
            </a:r>
          </a:p>
        </p:txBody>
      </p:sp>
      <p:sp>
        <p:nvSpPr>
          <p:cNvPr id="8" name="Rounded Rectangle 7"/>
          <p:cNvSpPr/>
          <p:nvPr/>
        </p:nvSpPr>
        <p:spPr>
          <a:xfrm>
            <a:off x="3200400" y="4023360"/>
            <a:ext cx="2743200" cy="1097280"/>
          </a:xfrm>
          <a:prstGeom prst="roundRect">
            <a:avLst/>
          </a:prstGeom>
          <a:solidFill>
            <a:srgbClr val="141B2D"/>
          </a:solidFill>
          <a:ln w="12700">
            <a:solidFill>
              <a:srgbClr val="2ECC7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400" b="1">
                <a:solidFill>
                  <a:srgbClr val="2ECC71"/>
                </a:solidFill>
                <a:latin typeface="Calibri"/>
              </a:defRPr>
            </a:pPr>
            <a:r>
              <a:t>5 / 6</a:t>
            </a:r>
          </a:p>
          <a:p>
            <a:pPr algn="ctr">
              <a:spcBef>
                <a:spcPts val="200"/>
              </a:spcBef>
              <a:spcAft>
                <a:spcPts val="400"/>
              </a:spcAft>
              <a:defRPr sz="1000" b="0">
                <a:solidFill>
                  <a:srgbClr val="B0B8CC"/>
                </a:solidFill>
                <a:latin typeface="Calibri"/>
              </a:defRPr>
            </a:pPr>
            <a:r>
              <a:t>Items fully delivered by priority</a:t>
            </a:r>
          </a:p>
        </p:txBody>
      </p:sp>
      <p:sp>
        <p:nvSpPr>
          <p:cNvPr id="9" name="Rounded Rectangle 8"/>
          <p:cNvSpPr/>
          <p:nvPr/>
        </p:nvSpPr>
        <p:spPr>
          <a:xfrm>
            <a:off x="6126480" y="4023360"/>
            <a:ext cx="2743200" cy="1097280"/>
          </a:xfrm>
          <a:prstGeom prst="roundRect">
            <a:avLst/>
          </a:prstGeom>
          <a:solidFill>
            <a:srgbClr val="141B2D"/>
          </a:solidFill>
          <a:ln w="12700">
            <a:solidFill>
              <a:srgbClr val="009E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400" b="1">
                <a:solidFill>
                  <a:srgbClr val="009EFF"/>
                </a:solidFill>
                <a:latin typeface="Calibri"/>
              </a:defRPr>
            </a:pPr>
            <a:r>
              <a:t>BPv7</a:t>
            </a:r>
          </a:p>
          <a:p>
            <a:pPr algn="ctr">
              <a:spcBef>
                <a:spcPts val="200"/>
              </a:spcBef>
              <a:spcAft>
                <a:spcPts val="400"/>
              </a:spcAft>
              <a:defRPr sz="1000" b="0">
                <a:solidFill>
                  <a:srgbClr val="B0B8CC"/>
                </a:solidFill>
                <a:latin typeface="Calibri"/>
              </a:defRPr>
            </a:pPr>
            <a:r>
              <a:t>Fragmentation defers bulk remainder</a:t>
            </a:r>
          </a:p>
        </p:txBody>
      </p:sp>
      <p:sp>
        <p:nvSpPr>
          <p:cNvPr id="10" name="Rounded Rectangle 9"/>
          <p:cNvSpPr/>
          <p:nvPr/>
        </p:nvSpPr>
        <p:spPr>
          <a:xfrm>
            <a:off x="9052560" y="4023360"/>
            <a:ext cx="2834640" cy="1097280"/>
          </a:xfrm>
          <a:prstGeom prst="roundRect">
            <a:avLst/>
          </a:prstGeom>
          <a:solidFill>
            <a:srgbClr val="141B2D"/>
          </a:solidFill>
          <a:ln w="12700">
            <a:solidFill>
              <a:srgbClr val="FF4D4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400" b="1">
                <a:solidFill>
                  <a:srgbClr val="FF4D4D"/>
                </a:solidFill>
                <a:latin typeface="Calibri"/>
              </a:defRPr>
            </a:pPr>
            <a:r>
              <a:t>Preempt</a:t>
            </a:r>
          </a:p>
          <a:p>
            <a:pPr algn="ctr">
              <a:spcBef>
                <a:spcPts val="200"/>
              </a:spcBef>
              <a:spcAft>
                <a:spcPts val="400"/>
              </a:spcAft>
              <a:defRPr sz="1000" b="0">
                <a:solidFill>
                  <a:srgbClr val="B0B8CC"/>
                </a:solidFill>
                <a:latin typeface="Calibri"/>
              </a:defRPr>
            </a:pPr>
            <a:r>
              <a:t>Emergency uses direct-to-Earth backup</a:t>
            </a:r>
          </a:p>
        </p:txBody>
      </p:sp>
      <p:sp>
        <p:nvSpPr>
          <p:cNvPr id="11" name="TextBox 10"/>
          <p:cNvSpPr txBox="1"/>
          <p:nvPr/>
        </p:nvSpPr>
        <p:spPr>
          <a:xfrm>
            <a:off x="548640" y="5349240"/>
            <a:ext cx="11155680" cy="822960"/>
          </a:xfrm>
          <a:prstGeom prst="rect">
            <a:avLst/>
          </a:prstGeom>
          <a:noFill/>
        </p:spPr>
        <p:txBody>
          <a:bodyPr wrap="square">
            <a:spAutoFit/>
          </a:bodyPr>
          <a:lstStyle/>
          <a:p>
            <a:pPr algn="l">
              <a:defRPr sz="1100" b="0">
                <a:solidFill>
                  <a:srgbClr val="6B7B96"/>
                </a:solidFill>
                <a:latin typeface="Calibri"/>
              </a:defRPr>
            </a:pPr>
            <a:r>
              <a:t>Scenario: 30 Mbps, 15-min contact, oversubscribed. Deadline-aware, preemptive QoS scheduler delivers emergency + mission + science first; 6 GB software update fragmented to the next pass.  →  src/routing/prioritization.py</a:t>
            </a:r>
          </a:p>
        </p:txBody>
      </p:sp>
      <p:sp>
        <p:nvSpPr>
          <p:cNvPr id="12" name="TextBox 11"/>
          <p:cNvSpPr txBox="1"/>
          <p:nvPr/>
        </p:nvSpPr>
        <p:spPr>
          <a:xfrm>
            <a:off x="457200" y="6400800"/>
            <a:ext cx="4572000" cy="365760"/>
          </a:xfrm>
          <a:prstGeom prst="rect">
            <a:avLst/>
          </a:prstGeom>
          <a:noFill/>
        </p:spPr>
        <p:txBody>
          <a:bodyPr wrap="square">
            <a:spAutoFit/>
          </a:bodyPr>
          <a:lstStyle/>
          <a:p>
            <a:pPr algn="l">
              <a:defRPr sz="1000" b="0">
                <a:solidFill>
                  <a:srgbClr val="6B7B96"/>
                </a:solidFill>
                <a:latin typeface="Calibri"/>
              </a:defRPr>
            </a:pPr>
            <a:r>
              <a:t>AETHERIX — Interplanetary Communication Network</a:t>
            </a:r>
          </a:p>
        </p:txBody>
      </p:sp>
      <p:sp>
        <p:nvSpPr>
          <p:cNvPr id="13" name="TextBox 12"/>
          <p:cNvSpPr txBox="1"/>
          <p:nvPr/>
        </p:nvSpPr>
        <p:spPr>
          <a:xfrm>
            <a:off x="10058400" y="6400800"/>
            <a:ext cx="1828800" cy="365760"/>
          </a:xfrm>
          <a:prstGeom prst="rect">
            <a:avLst/>
          </a:prstGeom>
          <a:noFill/>
        </p:spPr>
        <p:txBody>
          <a:bodyPr wrap="square">
            <a:spAutoFit/>
          </a:bodyPr>
          <a:lstStyle/>
          <a:p>
            <a:pPr algn="r">
              <a:defRPr sz="1000" b="0">
                <a:solidFill>
                  <a:srgbClr val="6B7B96"/>
                </a:solidFill>
                <a:latin typeface="Calibri"/>
              </a:defRPr>
            </a:pPr>
            <a:r>
              <a:t>34 / 46</a:t>
            </a:r>
          </a:p>
        </p:txBody>
      </p:sp>
    </p:spTree>
  </p:cSld>
  <p:transition spd="med" advClick="1">
    <p:push dir="l"/>
  </p:transition>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B0E1A"/>
        </a:solidFill>
        <a:effectLst/>
      </p:bgPr>
    </p:bg>
    <p:spTree>
      <p:nvGrpSpPr>
        <p:cNvPr id="1" name=""/>
        <p:cNvGrpSpPr/>
        <p:nvPr/>
      </p:nvGrpSpPr>
      <p:grpSpPr/>
      <p:sp>
        <p:nvSpPr>
          <p:cNvPr id="2" name="TextBox 1"/>
          <p:cNvSpPr txBox="1"/>
          <p:nvPr/>
        </p:nvSpPr>
        <p:spPr>
          <a:xfrm>
            <a:off x="548640" y="365760"/>
            <a:ext cx="8229600" cy="548640"/>
          </a:xfrm>
          <a:prstGeom prst="rect">
            <a:avLst/>
          </a:prstGeom>
          <a:noFill/>
        </p:spPr>
        <p:txBody>
          <a:bodyPr wrap="none">
            <a:spAutoFit/>
          </a:bodyPr>
          <a:lstStyle/>
          <a:p>
            <a:pPr algn="l">
              <a:defRPr sz="2800" b="1">
                <a:solidFill>
                  <a:srgbClr val="FFFFFF"/>
                </a:solidFill>
              </a:defRPr>
            </a:pPr>
            <a:r>
              <a:t>END-TO-END MISSION</a:t>
            </a:r>
          </a:p>
        </p:txBody>
      </p:sp>
      <p:sp>
        <p:nvSpPr>
          <p:cNvPr id="3" name="TextBox 2"/>
          <p:cNvSpPr txBox="1"/>
          <p:nvPr/>
        </p:nvSpPr>
        <p:spPr>
          <a:xfrm>
            <a:off x="548640" y="868680"/>
            <a:ext cx="8229600" cy="365760"/>
          </a:xfrm>
          <a:prstGeom prst="rect">
            <a:avLst/>
          </a:prstGeom>
          <a:noFill/>
        </p:spPr>
        <p:txBody>
          <a:bodyPr wrap="none">
            <a:spAutoFit/>
          </a:bodyPr>
          <a:lstStyle/>
          <a:p>
            <a:pPr algn="l">
              <a:defRPr sz="1400">
                <a:solidFill>
                  <a:srgbClr val="00D4AA"/>
                </a:solidFill>
              </a:defRPr>
            </a:pPr>
            <a:r>
              <a:t>Mars Surface → Earth</a:t>
            </a:r>
          </a:p>
        </p:txBody>
      </p:sp>
      <p:sp>
        <p:nvSpPr>
          <p:cNvPr id="4" name="Rounded Rectangle 3"/>
          <p:cNvSpPr/>
          <p:nvPr/>
        </p:nvSpPr>
        <p:spPr>
          <a:xfrm>
            <a:off x="365760" y="365760"/>
            <a:ext cx="822960" cy="411480"/>
          </a:xfrm>
          <a:prstGeom prst="roundRect">
            <a:avLst/>
          </a:prstGeom>
          <a:solidFill>
            <a:srgbClr val="009EFF"/>
          </a:solidFill>
          <a:ln w="12700">
            <a:solidFill>
              <a:srgbClr val="1E2A4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FFFFFF"/>
                </a:solidFill>
              </a:defRPr>
            </a:pPr>
            <a:r>
              <a:t>Rover</a:t>
            </a:r>
          </a:p>
        </p:txBody>
      </p:sp>
      <p:sp>
        <p:nvSpPr>
          <p:cNvPr id="5" name="Right Arrow 4"/>
          <p:cNvSpPr/>
          <p:nvPr/>
        </p:nvSpPr>
        <p:spPr>
          <a:xfrm>
            <a:off x="1595823" y="1691640"/>
            <a:ext cx="182880" cy="137160"/>
          </a:xfrm>
          <a:prstGeom prst="rightArrow">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65760" y="365760"/>
            <a:ext cx="822960" cy="411480"/>
          </a:xfrm>
          <a:prstGeom prst="roundRect">
            <a:avLst/>
          </a:prstGeom>
          <a:solidFill>
            <a:srgbClr val="009EFF"/>
          </a:solidFill>
          <a:ln w="12700">
            <a:solidFill>
              <a:srgbClr val="1E2A4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FFFFFF"/>
                </a:solidFill>
              </a:defRPr>
            </a:pPr>
            <a:r>
              <a:t>UHF</a:t>
            </a:r>
          </a:p>
        </p:txBody>
      </p:sp>
      <p:sp>
        <p:nvSpPr>
          <p:cNvPr id="7" name="Right Arrow 6"/>
          <p:cNvSpPr/>
          <p:nvPr/>
        </p:nvSpPr>
        <p:spPr>
          <a:xfrm>
            <a:off x="3232990" y="1691640"/>
            <a:ext cx="182880" cy="137160"/>
          </a:xfrm>
          <a:prstGeom prst="rightArrow">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65760" y="365760"/>
            <a:ext cx="822960" cy="411480"/>
          </a:xfrm>
          <a:prstGeom prst="roundRect">
            <a:avLst/>
          </a:prstGeom>
          <a:solidFill>
            <a:srgbClr val="009EFF"/>
          </a:solidFill>
          <a:ln w="12700">
            <a:solidFill>
              <a:srgbClr val="1E2A4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FFFFFF"/>
                </a:solidFill>
              </a:defRPr>
            </a:pPr>
            <a:r>
              <a:t>Areostationary</a:t>
            </a:r>
          </a:p>
        </p:txBody>
      </p:sp>
      <p:sp>
        <p:nvSpPr>
          <p:cNvPr id="9" name="Right Arrow 8"/>
          <p:cNvSpPr/>
          <p:nvPr/>
        </p:nvSpPr>
        <p:spPr>
          <a:xfrm>
            <a:off x="4870158" y="1691640"/>
            <a:ext cx="182880" cy="137160"/>
          </a:xfrm>
          <a:prstGeom prst="rightArrow">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65760" y="365760"/>
            <a:ext cx="822960" cy="411480"/>
          </a:xfrm>
          <a:prstGeom prst="roundRect">
            <a:avLst/>
          </a:prstGeom>
          <a:solidFill>
            <a:srgbClr val="009EFF"/>
          </a:solidFill>
          <a:ln w="12700">
            <a:solidFill>
              <a:srgbClr val="1E2A4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FFFFFF"/>
                </a:solidFill>
              </a:defRPr>
            </a:pPr>
            <a:r>
              <a:t>Polar</a:t>
            </a:r>
          </a:p>
        </p:txBody>
      </p:sp>
      <p:sp>
        <p:nvSpPr>
          <p:cNvPr id="11" name="Right Arrow 10"/>
          <p:cNvSpPr/>
          <p:nvPr/>
        </p:nvSpPr>
        <p:spPr>
          <a:xfrm>
            <a:off x="6507326" y="1691640"/>
            <a:ext cx="182880" cy="137160"/>
          </a:xfrm>
          <a:prstGeom prst="rightArrow">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65760" y="365760"/>
            <a:ext cx="822960" cy="411480"/>
          </a:xfrm>
          <a:prstGeom prst="roundRect">
            <a:avLst/>
          </a:prstGeom>
          <a:solidFill>
            <a:srgbClr val="009EFF"/>
          </a:solidFill>
          <a:ln w="12700">
            <a:solidFill>
              <a:srgbClr val="1E2A4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FFFFFF"/>
                </a:solidFill>
              </a:defRPr>
            </a:pPr>
            <a:r>
              <a:t>Deep Space 1550 nm</a:t>
            </a:r>
          </a:p>
        </p:txBody>
      </p:sp>
      <p:sp>
        <p:nvSpPr>
          <p:cNvPr id="13" name="Right Arrow 12"/>
          <p:cNvSpPr/>
          <p:nvPr/>
        </p:nvSpPr>
        <p:spPr>
          <a:xfrm>
            <a:off x="8144494" y="1691640"/>
            <a:ext cx="182880" cy="137160"/>
          </a:xfrm>
          <a:prstGeom prst="rightArrow">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65760" y="365760"/>
            <a:ext cx="822960" cy="411480"/>
          </a:xfrm>
          <a:prstGeom prst="roundRect">
            <a:avLst/>
          </a:prstGeom>
          <a:solidFill>
            <a:srgbClr val="009EFF"/>
          </a:solidFill>
          <a:ln w="12700">
            <a:solidFill>
              <a:srgbClr val="1E2A4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FFFFFF"/>
                </a:solidFill>
              </a:defRPr>
            </a:pPr>
            <a:r>
              <a:t>LEO</a:t>
            </a:r>
          </a:p>
        </p:txBody>
      </p:sp>
      <p:sp>
        <p:nvSpPr>
          <p:cNvPr id="15" name="Right Arrow 14"/>
          <p:cNvSpPr/>
          <p:nvPr/>
        </p:nvSpPr>
        <p:spPr>
          <a:xfrm>
            <a:off x="9781662" y="1691640"/>
            <a:ext cx="182880" cy="137160"/>
          </a:xfrm>
          <a:prstGeom prst="rightArrow">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365760" y="365760"/>
            <a:ext cx="822960" cy="411480"/>
          </a:xfrm>
          <a:prstGeom prst="roundRect">
            <a:avLst/>
          </a:prstGeom>
          <a:solidFill>
            <a:srgbClr val="009EFF"/>
          </a:solidFill>
          <a:ln w="12700">
            <a:solidFill>
              <a:srgbClr val="1E2A4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FFFFFF"/>
                </a:solidFill>
              </a:defRPr>
            </a:pPr>
            <a:r>
              <a:t>DSN / MOC</a:t>
            </a:r>
          </a:p>
        </p:txBody>
      </p:sp>
      <p:sp>
        <p:nvSpPr>
          <p:cNvPr id="17" name="Rounded Rectangle 16"/>
          <p:cNvSpPr/>
          <p:nvPr/>
        </p:nvSpPr>
        <p:spPr>
          <a:xfrm>
            <a:off x="1912467" y="2331720"/>
            <a:ext cx="1920240" cy="1005840"/>
          </a:xfrm>
          <a:prstGeom prst="roundRect">
            <a:avLst/>
          </a:prstGeom>
          <a:solidFill>
            <a:srgbClr val="141B2D"/>
          </a:solidFill>
          <a:ln w="12700">
            <a:solidFill>
              <a:srgbClr val="009E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400" b="1">
                <a:solidFill>
                  <a:srgbClr val="009EFF"/>
                </a:solidFill>
                <a:latin typeface="Calibri"/>
              </a:defRPr>
            </a:pPr>
            <a:r>
              <a:t>~13 min</a:t>
            </a:r>
          </a:p>
          <a:p>
            <a:pPr algn="ctr">
              <a:spcBef>
                <a:spcPts val="200"/>
              </a:spcBef>
              <a:spcAft>
                <a:spcPts val="400"/>
              </a:spcAft>
              <a:defRPr sz="1000" b="0">
                <a:solidFill>
                  <a:srgbClr val="B0B8CC"/>
                </a:solidFill>
                <a:latin typeface="Calibri"/>
              </a:defRPr>
            </a:pPr>
            <a:r>
              <a:t>End-to-End Latency</a:t>
            </a:r>
          </a:p>
        </p:txBody>
      </p:sp>
      <p:sp>
        <p:nvSpPr>
          <p:cNvPr id="18" name="Rounded Rectangle 17"/>
          <p:cNvSpPr/>
          <p:nvPr/>
        </p:nvSpPr>
        <p:spPr>
          <a:xfrm>
            <a:off x="4061307" y="2331720"/>
            <a:ext cx="1920240" cy="1005840"/>
          </a:xfrm>
          <a:prstGeom prst="roundRect">
            <a:avLst/>
          </a:prstGeom>
          <a:solidFill>
            <a:srgbClr val="141B2D"/>
          </a:solidFill>
          <a:ln w="12700">
            <a:solidFill>
              <a:srgbClr val="2ECC7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400" b="1">
                <a:solidFill>
                  <a:srgbClr val="2ECC71"/>
                </a:solidFill>
                <a:latin typeface="Calibri"/>
              </a:defRPr>
            </a:pPr>
            <a:r>
              <a:t>&lt;5%</a:t>
            </a:r>
          </a:p>
          <a:p>
            <a:pPr algn="ctr">
              <a:spcBef>
                <a:spcPts val="200"/>
              </a:spcBef>
              <a:spcAft>
                <a:spcPts val="400"/>
              </a:spcAft>
              <a:defRPr sz="1000" b="0">
                <a:solidFill>
                  <a:srgbClr val="B0B8CC"/>
                </a:solidFill>
                <a:latin typeface="Calibri"/>
              </a:defRPr>
            </a:pPr>
            <a:r>
              <a:t>Packet Loss</a:t>
            </a:r>
          </a:p>
        </p:txBody>
      </p:sp>
      <p:sp>
        <p:nvSpPr>
          <p:cNvPr id="19" name="Rounded Rectangle 18"/>
          <p:cNvSpPr/>
          <p:nvPr/>
        </p:nvSpPr>
        <p:spPr>
          <a:xfrm>
            <a:off x="6210147" y="2331720"/>
            <a:ext cx="1920240" cy="1005840"/>
          </a:xfrm>
          <a:prstGeom prst="roundRect">
            <a:avLst/>
          </a:prstGeom>
          <a:solidFill>
            <a:srgbClr val="141B2D"/>
          </a:solidFill>
          <a:ln w="127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400" b="1">
                <a:solidFill>
                  <a:srgbClr val="8B5CF6"/>
                </a:solidFill>
                <a:latin typeface="Calibri"/>
              </a:defRPr>
            </a:pPr>
            <a:r>
              <a:t>98.7%</a:t>
            </a:r>
          </a:p>
          <a:p>
            <a:pPr algn="ctr">
              <a:spcBef>
                <a:spcPts val="200"/>
              </a:spcBef>
              <a:spcAft>
                <a:spcPts val="400"/>
              </a:spcAft>
              <a:defRPr sz="1000" b="0">
                <a:solidFill>
                  <a:srgbClr val="B0B8CC"/>
                </a:solidFill>
                <a:latin typeface="Calibri"/>
              </a:defRPr>
            </a:pPr>
            <a:r>
              <a:t>Delivery Rate</a:t>
            </a:r>
          </a:p>
        </p:txBody>
      </p:sp>
      <p:sp>
        <p:nvSpPr>
          <p:cNvPr id="20" name="Rounded Rectangle 19"/>
          <p:cNvSpPr/>
          <p:nvPr/>
        </p:nvSpPr>
        <p:spPr>
          <a:xfrm>
            <a:off x="8358987" y="2331720"/>
            <a:ext cx="1920240" cy="1005840"/>
          </a:xfrm>
          <a:prstGeom prst="roundRect">
            <a:avLst/>
          </a:prstGeom>
          <a:solidFill>
            <a:srgbClr val="141B2D"/>
          </a:solidFill>
          <a:ln w="12700">
            <a:solidFill>
              <a:srgbClr val="FF8C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400" b="1">
                <a:solidFill>
                  <a:srgbClr val="FF8C00"/>
                </a:solidFill>
                <a:latin typeface="Calibri"/>
              </a:defRPr>
            </a:pPr>
            <a:r>
              <a:t>7 hops</a:t>
            </a:r>
          </a:p>
          <a:p>
            <a:pPr algn="ctr">
              <a:spcBef>
                <a:spcPts val="200"/>
              </a:spcBef>
              <a:spcAft>
                <a:spcPts val="400"/>
              </a:spcAft>
              <a:defRPr sz="1000" b="0">
                <a:solidFill>
                  <a:srgbClr val="B0B8CC"/>
                </a:solidFill>
                <a:latin typeface="Calibri"/>
              </a:defRPr>
            </a:pPr>
            <a:r>
              <a:t>Network Path</a:t>
            </a:r>
          </a:p>
        </p:txBody>
      </p:sp>
      <p:sp>
        <p:nvSpPr>
          <p:cNvPr id="21" name="Rounded Rectangle 20"/>
          <p:cNvSpPr/>
          <p:nvPr/>
        </p:nvSpPr>
        <p:spPr>
          <a:xfrm>
            <a:off x="548640" y="3657600"/>
            <a:ext cx="11094415" cy="1097280"/>
          </a:xfrm>
          <a:prstGeom prst="roundRect">
            <a:avLst/>
          </a:prstGeom>
          <a:solidFill>
            <a:srgbClr val="141B2D"/>
          </a:solidFill>
          <a:ln w="31750">
            <a:solidFill>
              <a:srgbClr val="FF4D4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defRPr sz="1200" b="1">
                <a:solidFill>
                  <a:srgbClr val="FF4D4D"/>
                </a:solidFill>
                <a:latin typeface="Calibri"/>
              </a:defRPr>
            </a:pPr>
            <a:r>
              <a:t>⚠ FAILURE SCENARIO</a:t>
            </a:r>
          </a:p>
          <a:p>
            <a:pPr>
              <a:defRPr sz="1100">
                <a:solidFill>
                  <a:srgbClr val="FFFFFF"/>
                </a:solidFill>
              </a:defRPr>
            </a:pPr>
            <a:r>
              <a:t>Solar flare at T+400s → stored at MRS-Polar → rerouted via ES-L4 → delayed ~30 min NOT LOST</a:t>
            </a:r>
          </a:p>
        </p:txBody>
      </p:sp>
      <p:sp>
        <p:nvSpPr>
          <p:cNvPr id="22" name="TextBox 21"/>
          <p:cNvSpPr txBox="1"/>
          <p:nvPr/>
        </p:nvSpPr>
        <p:spPr>
          <a:xfrm>
            <a:off x="457200" y="6400800"/>
            <a:ext cx="4572000" cy="365760"/>
          </a:xfrm>
          <a:prstGeom prst="rect">
            <a:avLst/>
          </a:prstGeom>
          <a:noFill/>
        </p:spPr>
        <p:txBody>
          <a:bodyPr wrap="square">
            <a:spAutoFit/>
          </a:bodyPr>
          <a:lstStyle/>
          <a:p>
            <a:pPr algn="l">
              <a:defRPr sz="1000" b="0">
                <a:solidFill>
                  <a:srgbClr val="6B7B96"/>
                </a:solidFill>
                <a:latin typeface="Calibri"/>
              </a:defRPr>
            </a:pPr>
            <a:r>
              <a:t>AETHERIX — Interplanetary Communication Network</a:t>
            </a:r>
          </a:p>
        </p:txBody>
      </p:sp>
      <p:sp>
        <p:nvSpPr>
          <p:cNvPr id="23" name="TextBox 22"/>
          <p:cNvSpPr txBox="1"/>
          <p:nvPr/>
        </p:nvSpPr>
        <p:spPr>
          <a:xfrm>
            <a:off x="10058400" y="6400800"/>
            <a:ext cx="1828800" cy="365760"/>
          </a:xfrm>
          <a:prstGeom prst="rect">
            <a:avLst/>
          </a:prstGeom>
          <a:noFill/>
        </p:spPr>
        <p:txBody>
          <a:bodyPr wrap="square">
            <a:spAutoFit/>
          </a:bodyPr>
          <a:lstStyle/>
          <a:p>
            <a:pPr algn="r">
              <a:defRPr sz="1000" b="0">
                <a:solidFill>
                  <a:srgbClr val="6B7B96"/>
                </a:solidFill>
                <a:latin typeface="Calibri"/>
              </a:defRPr>
            </a:pPr>
            <a:r>
              <a:t>35 / 46</a:t>
            </a:r>
          </a:p>
        </p:txBody>
      </p:sp>
    </p:spTree>
  </p:cSld>
  <p:transition spd="med" advClick="1">
    <p:push dir="l"/>
  </p:transition>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B0E1A"/>
        </a:solidFill>
        <a:effectLst/>
      </p:bgPr>
    </p:bg>
    <p:spTree>
      <p:nvGrpSpPr>
        <p:cNvPr id="1" name=""/>
        <p:cNvGrpSpPr/>
        <p:nvPr/>
      </p:nvGrpSpPr>
      <p:grpSpPr/>
      <p:sp>
        <p:nvSpPr>
          <p:cNvPr id="2" name="TextBox 1"/>
          <p:cNvSpPr txBox="1"/>
          <p:nvPr/>
        </p:nvSpPr>
        <p:spPr>
          <a:xfrm>
            <a:off x="548640" y="365760"/>
            <a:ext cx="8229600" cy="548640"/>
          </a:xfrm>
          <a:prstGeom prst="rect">
            <a:avLst/>
          </a:prstGeom>
          <a:noFill/>
        </p:spPr>
        <p:txBody>
          <a:bodyPr wrap="none">
            <a:spAutoFit/>
          </a:bodyPr>
          <a:lstStyle/>
          <a:p>
            <a:pPr algn="l">
              <a:defRPr sz="2800" b="1">
                <a:solidFill>
                  <a:srgbClr val="FFFFFF"/>
                </a:solidFill>
              </a:defRPr>
            </a:pPr>
            <a:r>
              <a:t>DATA FLOW DIAGRAM</a:t>
            </a:r>
          </a:p>
        </p:txBody>
      </p:sp>
      <p:sp>
        <p:nvSpPr>
          <p:cNvPr id="3" name="Rounded Rectangle 2"/>
          <p:cNvSpPr/>
          <p:nvPr/>
        </p:nvSpPr>
        <p:spPr>
          <a:xfrm>
            <a:off x="457200" y="1188720"/>
            <a:ext cx="3931920" cy="3474720"/>
          </a:xfrm>
          <a:prstGeom prst="roundRect">
            <a:avLst/>
          </a:prstGeom>
          <a:solidFill>
            <a:srgbClr val="141B2D"/>
          </a:solidFill>
          <a:ln w="12700">
            <a:solidFill>
              <a:srgbClr val="1E2A42"/>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spcAft>
                <a:spcPts val="1000"/>
              </a:spcAft>
              <a:defRPr sz="1400" b="1">
                <a:solidFill>
                  <a:srgbClr val="00D4AA"/>
                </a:solidFill>
                <a:latin typeface="Calibri"/>
              </a:defRPr>
            </a:pPr>
            <a:r>
              <a:t>Application → Transport</a:t>
            </a:r>
          </a:p>
          <a:p>
            <a:pPr>
              <a:spcBef>
                <a:spcPts val="600"/>
              </a:spcBef>
              <a:defRPr sz="1100" b="1">
                <a:solidFill>
                  <a:srgbClr val="FFFFFF"/>
                </a:solidFill>
              </a:defRPr>
            </a:pPr>
            <a:r>
              <a:t>1. Source Node</a:t>
            </a:r>
          </a:p>
          <a:p>
            <a:pPr>
              <a:defRPr sz="900">
                <a:solidFill>
                  <a:srgbClr val="B0B8CC"/>
                </a:solidFill>
              </a:defRPr>
            </a:pPr>
            <a:r>
              <a:t>Science data generated</a:t>
            </a:r>
          </a:p>
          <a:p>
            <a:pPr>
              <a:spcBef>
                <a:spcPts val="600"/>
              </a:spcBef>
              <a:defRPr sz="1100" b="1">
                <a:solidFill>
                  <a:srgbClr val="FFFFFF"/>
                </a:solidFill>
              </a:defRPr>
            </a:pPr>
            <a:r>
              <a:t>2. Bundle Protocol</a:t>
            </a:r>
          </a:p>
          <a:p>
            <a:pPr>
              <a:defRPr sz="900">
                <a:solidFill>
                  <a:srgbClr val="B0B8CC"/>
                </a:solidFill>
              </a:defRPr>
            </a:pPr>
            <a:r>
              <a:t>BPv7 wraps data + metadata</a:t>
            </a:r>
          </a:p>
          <a:p>
            <a:pPr>
              <a:spcBef>
                <a:spcPts val="600"/>
              </a:spcBef>
              <a:defRPr sz="1100" b="1">
                <a:solidFill>
                  <a:srgbClr val="FFFFFF"/>
                </a:solidFill>
              </a:defRPr>
            </a:pPr>
            <a:r>
              <a:t>3. RL Routing</a:t>
            </a:r>
          </a:p>
          <a:p>
            <a:pPr>
              <a:defRPr sz="900">
                <a:solidFill>
                  <a:srgbClr val="B0B8CC"/>
                </a:solidFill>
              </a:defRPr>
            </a:pPr>
            <a:r>
              <a:t>Agent evaluates state, selects hop</a:t>
            </a:r>
          </a:p>
          <a:p>
            <a:pPr>
              <a:spcBef>
                <a:spcPts val="600"/>
              </a:spcBef>
              <a:defRPr sz="1100" b="1">
                <a:solidFill>
                  <a:srgbClr val="FFFFFF"/>
                </a:solidFill>
              </a:defRPr>
            </a:pPr>
            <a:r>
              <a:t>4. QKD Encrypt</a:t>
            </a:r>
          </a:p>
          <a:p>
            <a:pPr>
              <a:defRPr sz="900">
                <a:solidFill>
                  <a:srgbClr val="B0B8CC"/>
                </a:solidFill>
              </a:defRPr>
            </a:pPr>
            <a:r>
              <a:t>BB84 shared key applied</a:t>
            </a:r>
          </a:p>
        </p:txBody>
      </p:sp>
      <p:sp>
        <p:nvSpPr>
          <p:cNvPr id="4" name="Rounded Rectangle 3"/>
          <p:cNvSpPr/>
          <p:nvPr/>
        </p:nvSpPr>
        <p:spPr>
          <a:xfrm>
            <a:off x="4754880" y="1188720"/>
            <a:ext cx="3931920" cy="3474720"/>
          </a:xfrm>
          <a:prstGeom prst="roundRect">
            <a:avLst/>
          </a:prstGeom>
          <a:solidFill>
            <a:srgbClr val="141B2D"/>
          </a:solidFill>
          <a:ln w="12700">
            <a:solidFill>
              <a:srgbClr val="1E2A42"/>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spcAft>
                <a:spcPts val="1000"/>
              </a:spcAft>
              <a:defRPr sz="1400" b="1">
                <a:solidFill>
                  <a:srgbClr val="00D4AA"/>
                </a:solidFill>
                <a:latin typeface="Calibri"/>
              </a:defRPr>
            </a:pPr>
            <a:r>
              <a:t>Convergence → Physical → Delivery</a:t>
            </a:r>
          </a:p>
          <a:p>
            <a:pPr>
              <a:spcBef>
                <a:spcPts val="600"/>
              </a:spcBef>
              <a:defRPr sz="1100" b="1">
                <a:solidFill>
                  <a:srgbClr val="FFFFFF"/>
                </a:solidFill>
              </a:defRPr>
            </a:pPr>
            <a:r>
              <a:t>1. LTP Segmentation</a:t>
            </a:r>
          </a:p>
          <a:p>
            <a:pPr>
              <a:defRPr sz="900">
                <a:solidFill>
                  <a:srgbClr val="B0B8CC"/>
                </a:solidFill>
              </a:defRPr>
            </a:pPr>
            <a:r>
              <a:t>Bundle split into blocks</a:t>
            </a:r>
          </a:p>
          <a:p>
            <a:pPr>
              <a:spcBef>
                <a:spcPts val="600"/>
              </a:spcBef>
              <a:defRPr sz="1100" b="1">
                <a:solidFill>
                  <a:srgbClr val="FFFFFF"/>
                </a:solidFill>
              </a:defRPr>
            </a:pPr>
            <a:r>
              <a:t>2. Store &amp; Wait</a:t>
            </a:r>
          </a:p>
          <a:p>
            <a:pPr>
              <a:defRPr sz="900">
                <a:solidFill>
                  <a:srgbClr val="B0B8CC"/>
                </a:solidFill>
              </a:defRPr>
            </a:pPr>
            <a:r>
              <a:t>Buffer until link available</a:t>
            </a:r>
          </a:p>
          <a:p>
            <a:pPr>
              <a:spcBef>
                <a:spcPts val="600"/>
              </a:spcBef>
              <a:defRPr sz="1100" b="1">
                <a:solidFill>
                  <a:srgbClr val="FFFFFF"/>
                </a:solidFill>
              </a:defRPr>
            </a:pPr>
            <a:r>
              <a:t>3. Physical TX</a:t>
            </a:r>
          </a:p>
          <a:p>
            <a:pPr>
              <a:defRPr sz="900">
                <a:solidFill>
                  <a:srgbClr val="B0B8CC"/>
                </a:solidFill>
              </a:defRPr>
            </a:pPr>
            <a:r>
              <a:t>UHF → Optical ISL → 1550 nm → Ka-band</a:t>
            </a:r>
          </a:p>
          <a:p>
            <a:pPr>
              <a:spcBef>
                <a:spcPts val="600"/>
              </a:spcBef>
              <a:defRPr sz="1100" b="1">
                <a:solidFill>
                  <a:srgbClr val="FFFFFF"/>
                </a:solidFill>
              </a:defRPr>
            </a:pPr>
            <a:r>
              <a:t>4. LTP Reassemble</a:t>
            </a:r>
          </a:p>
          <a:p>
            <a:pPr>
              <a:defRPr sz="900">
                <a:solidFill>
                  <a:srgbClr val="B0B8CC"/>
                </a:solidFill>
              </a:defRPr>
            </a:pPr>
            <a:r>
              <a:t>Reassemble → Decrypt → Deliver</a:t>
            </a:r>
          </a:p>
        </p:txBody>
      </p:sp>
      <p:sp>
        <p:nvSpPr>
          <p:cNvPr id="5" name="TextBox 4"/>
          <p:cNvSpPr txBox="1"/>
          <p:nvPr/>
        </p:nvSpPr>
        <p:spPr>
          <a:xfrm>
            <a:off x="457200" y="6400800"/>
            <a:ext cx="4572000" cy="365760"/>
          </a:xfrm>
          <a:prstGeom prst="rect">
            <a:avLst/>
          </a:prstGeom>
          <a:noFill/>
        </p:spPr>
        <p:txBody>
          <a:bodyPr wrap="square">
            <a:spAutoFit/>
          </a:bodyPr>
          <a:lstStyle/>
          <a:p>
            <a:pPr algn="l">
              <a:defRPr sz="1000" b="0">
                <a:solidFill>
                  <a:srgbClr val="6B7B96"/>
                </a:solidFill>
                <a:latin typeface="Calibri"/>
              </a:defRPr>
            </a:pPr>
            <a:r>
              <a:t>AETHERIX — Interplanetary Communication Network</a:t>
            </a:r>
          </a:p>
        </p:txBody>
      </p:sp>
      <p:sp>
        <p:nvSpPr>
          <p:cNvPr id="6" name="TextBox 5"/>
          <p:cNvSpPr txBox="1"/>
          <p:nvPr/>
        </p:nvSpPr>
        <p:spPr>
          <a:xfrm>
            <a:off x="10058400" y="6400800"/>
            <a:ext cx="1828800" cy="365760"/>
          </a:xfrm>
          <a:prstGeom prst="rect">
            <a:avLst/>
          </a:prstGeom>
          <a:noFill/>
        </p:spPr>
        <p:txBody>
          <a:bodyPr wrap="square">
            <a:spAutoFit/>
          </a:bodyPr>
          <a:lstStyle/>
          <a:p>
            <a:pPr algn="r">
              <a:defRPr sz="1000" b="0">
                <a:solidFill>
                  <a:srgbClr val="6B7B96"/>
                </a:solidFill>
                <a:latin typeface="Calibri"/>
              </a:defRPr>
            </a:pPr>
            <a:r>
              <a:t>36 / 46</a:t>
            </a:r>
          </a:p>
        </p:txBody>
      </p:sp>
    </p:spTree>
  </p:cSld>
  <p:transition spd="med" advClick="1">
    <p:wipe dir="d"/>
  </p:transition>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B0E1A"/>
        </a:solidFill>
        <a:effectLst/>
      </p:bgPr>
    </p:bg>
    <p:spTree>
      <p:nvGrpSpPr>
        <p:cNvPr id="1" name=""/>
        <p:cNvGrpSpPr/>
        <p:nvPr/>
      </p:nvGrpSpPr>
      <p:grpSpPr/>
      <p:sp>
        <p:nvSpPr>
          <p:cNvPr id="2" name="TextBox 1"/>
          <p:cNvSpPr txBox="1"/>
          <p:nvPr/>
        </p:nvSpPr>
        <p:spPr>
          <a:xfrm>
            <a:off x="548640" y="365760"/>
            <a:ext cx="8229600" cy="548640"/>
          </a:xfrm>
          <a:prstGeom prst="rect">
            <a:avLst/>
          </a:prstGeom>
          <a:noFill/>
        </p:spPr>
        <p:txBody>
          <a:bodyPr wrap="none">
            <a:spAutoFit/>
          </a:bodyPr>
          <a:lstStyle/>
          <a:p>
            <a:pPr algn="l">
              <a:defRPr sz="2800" b="1">
                <a:solidFill>
                  <a:srgbClr val="FFFFFF"/>
                </a:solidFill>
              </a:defRPr>
            </a:pPr>
            <a:r>
              <a:t>DATA FLOW DIAGRAM</a:t>
            </a:r>
          </a:p>
        </p:txBody>
      </p:sp>
      <p:pic>
        <p:nvPicPr>
          <p:cNvPr id="3" name="Picture 2" descr="data_flow.png"/>
          <p:cNvPicPr>
            <a:picLocks noChangeAspect="1"/>
          </p:cNvPicPr>
          <p:nvPr/>
        </p:nvPicPr>
        <p:blipFill>
          <a:blip r:embed="rId2"/>
          <a:stretch>
            <a:fillRect/>
          </a:stretch>
        </p:blipFill>
        <p:spPr>
          <a:xfrm>
            <a:off x="365760" y="1097280"/>
            <a:ext cx="8412480" cy="5029200"/>
          </a:xfrm>
          <a:prstGeom prst="rect">
            <a:avLst/>
          </a:prstGeom>
        </p:spPr>
      </p:pic>
      <p:sp>
        <p:nvSpPr>
          <p:cNvPr id="4" name="TextBox 3"/>
          <p:cNvSpPr txBox="1"/>
          <p:nvPr/>
        </p:nvSpPr>
        <p:spPr>
          <a:xfrm>
            <a:off x="457200" y="6400800"/>
            <a:ext cx="4572000" cy="365760"/>
          </a:xfrm>
          <a:prstGeom prst="rect">
            <a:avLst/>
          </a:prstGeom>
          <a:noFill/>
        </p:spPr>
        <p:txBody>
          <a:bodyPr wrap="square">
            <a:spAutoFit/>
          </a:bodyPr>
          <a:lstStyle/>
          <a:p>
            <a:pPr algn="l">
              <a:defRPr sz="1000" b="0">
                <a:solidFill>
                  <a:srgbClr val="6B7B96"/>
                </a:solidFill>
                <a:latin typeface="Calibri"/>
              </a:defRPr>
            </a:pPr>
            <a:r>
              <a:t>AETHERIX — Interplanetary Communication Network</a:t>
            </a:r>
          </a:p>
        </p:txBody>
      </p:sp>
      <p:sp>
        <p:nvSpPr>
          <p:cNvPr id="5" name="TextBox 4"/>
          <p:cNvSpPr txBox="1"/>
          <p:nvPr/>
        </p:nvSpPr>
        <p:spPr>
          <a:xfrm>
            <a:off x="10058400" y="6400800"/>
            <a:ext cx="1828800" cy="365760"/>
          </a:xfrm>
          <a:prstGeom prst="rect">
            <a:avLst/>
          </a:prstGeom>
          <a:noFill/>
        </p:spPr>
        <p:txBody>
          <a:bodyPr wrap="square">
            <a:spAutoFit/>
          </a:bodyPr>
          <a:lstStyle/>
          <a:p>
            <a:pPr algn="r">
              <a:defRPr sz="1000" b="0">
                <a:solidFill>
                  <a:srgbClr val="6B7B96"/>
                </a:solidFill>
                <a:latin typeface="Calibri"/>
              </a:defRPr>
            </a:pPr>
            <a:r>
              <a:t>37 / 46</a:t>
            </a:r>
          </a:p>
        </p:txBody>
      </p:sp>
    </p:spTree>
  </p:cSld>
  <p:transition spd="med" advClick="1">
    <p:cover dir="l"/>
  </p:transition>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B0E1A"/>
        </a:solidFill>
        <a:effectLst/>
      </p:bgPr>
    </p:bg>
    <p:spTree>
      <p:nvGrpSpPr>
        <p:cNvPr id="1" name=""/>
        <p:cNvGrpSpPr/>
        <p:nvPr/>
      </p:nvGrpSpPr>
      <p:grpSpPr/>
      <p:sp>
        <p:nvSpPr>
          <p:cNvPr id="2" name="TextBox 1"/>
          <p:cNvSpPr txBox="1"/>
          <p:nvPr/>
        </p:nvSpPr>
        <p:spPr>
          <a:xfrm>
            <a:off x="548640" y="274320"/>
            <a:ext cx="8229600" cy="548640"/>
          </a:xfrm>
          <a:prstGeom prst="rect">
            <a:avLst/>
          </a:prstGeom>
          <a:noFill/>
        </p:spPr>
        <p:txBody>
          <a:bodyPr wrap="none">
            <a:spAutoFit/>
          </a:bodyPr>
          <a:lstStyle/>
          <a:p>
            <a:pPr algn="l">
              <a:defRPr sz="2800" b="1">
                <a:solidFill>
                  <a:srgbClr val="FFFFFF"/>
                </a:solidFill>
              </a:defRPr>
            </a:pPr>
            <a:r>
              <a:t>PERFORMANCE COMPARISON</a:t>
            </a:r>
          </a:p>
        </p:txBody>
      </p:sp>
      <p:sp>
        <p:nvSpPr>
          <p:cNvPr id="3" name="TextBox 2"/>
          <p:cNvSpPr txBox="1"/>
          <p:nvPr/>
        </p:nvSpPr>
        <p:spPr>
          <a:xfrm>
            <a:off x="548640" y="731520"/>
            <a:ext cx="8229600" cy="320040"/>
          </a:xfrm>
          <a:prstGeom prst="rect">
            <a:avLst/>
          </a:prstGeom>
          <a:noFill/>
        </p:spPr>
        <p:txBody>
          <a:bodyPr wrap="none">
            <a:spAutoFit/>
          </a:bodyPr>
          <a:lstStyle/>
          <a:p>
            <a:pPr algn="l">
              <a:defRPr sz="1400">
                <a:solidFill>
                  <a:srgbClr val="00D4AA"/>
                </a:solidFill>
              </a:defRPr>
            </a:pPr>
            <a:r>
              <a:t>AETHERIX vs Current</a:t>
            </a:r>
          </a:p>
        </p:txBody>
      </p:sp>
      <p:graphicFrame>
        <p:nvGraphicFramePr>
          <p:cNvPr id="4" name="Table 3"/>
          <p:cNvGraphicFramePr>
            <a:graphicFrameLocks noGrp="1"/>
          </p:cNvGraphicFramePr>
          <p:nvPr/>
        </p:nvGraphicFramePr>
        <p:xfrm>
          <a:off x="365760" y="1143000"/>
          <a:ext cx="8412480" cy="3108960"/>
        </p:xfrm>
        <a:graphic>
          <a:graphicData uri="http://schemas.openxmlformats.org/drawingml/2006/table">
            <a:tbl>
              <a:tblPr firstRow="1" bandRow="1">
                <a:tableStyleId>{5C22544A-7EE6-4342-B048-85BDC9FD1C3A}</a:tableStyleId>
              </a:tblPr>
              <a:tblGrid>
                <a:gridCol w="2103120"/>
                <a:gridCol w="2103120"/>
                <a:gridCol w="2103120"/>
                <a:gridCol w="2103120"/>
              </a:tblGrid>
              <a:tr h="345440">
                <a:tc>
                  <a:txBody>
                    <a:bodyPr/>
                    <a:lstStyle/>
                    <a:p>
                      <a:pPr algn="ctr">
                        <a:defRPr b="1" sz="1200">
                          <a:solidFill>
                            <a:srgbClr val="FFFFFF"/>
                          </a:solidFill>
                          <a:latin typeface="Calibri"/>
                        </a:defRPr>
                      </a:pPr>
                      <a:r>
                        <a:t>Metric</a:t>
                      </a:r>
                    </a:p>
                  </a:txBody>
                  <a:tcPr anchor="ctr" marL="73152" marR="73152" marT="36576" marB="36576">
                    <a:solidFill>
                      <a:srgbClr val="2ECC71"/>
                    </a:solidFill>
                  </a:tcPr>
                </a:tc>
                <a:tc>
                  <a:txBody>
                    <a:bodyPr/>
                    <a:lstStyle/>
                    <a:p>
                      <a:pPr algn="ctr">
                        <a:defRPr b="1" sz="1200">
                          <a:solidFill>
                            <a:srgbClr val="FFFFFF"/>
                          </a:solidFill>
                          <a:latin typeface="Calibri"/>
                        </a:defRPr>
                      </a:pPr>
                      <a:r>
                        <a:t>Current (MRO)</a:t>
                      </a:r>
                    </a:p>
                  </a:txBody>
                  <a:tcPr anchor="ctr" marL="73152" marR="73152" marT="36576" marB="36576">
                    <a:solidFill>
                      <a:srgbClr val="2ECC71"/>
                    </a:solidFill>
                  </a:tcPr>
                </a:tc>
                <a:tc>
                  <a:txBody>
                    <a:bodyPr/>
                    <a:lstStyle/>
                    <a:p>
                      <a:pPr algn="ctr">
                        <a:defRPr b="1" sz="1200">
                          <a:solidFill>
                            <a:srgbClr val="FFFFFF"/>
                          </a:solidFill>
                          <a:latin typeface="Calibri"/>
                        </a:defRPr>
                      </a:pPr>
                      <a:r>
                        <a:t>AETHERIX</a:t>
                      </a:r>
                    </a:p>
                  </a:txBody>
                  <a:tcPr anchor="ctr" marL="73152" marR="73152" marT="36576" marB="36576">
                    <a:solidFill>
                      <a:srgbClr val="2ECC71"/>
                    </a:solidFill>
                  </a:tcPr>
                </a:tc>
                <a:tc>
                  <a:txBody>
                    <a:bodyPr/>
                    <a:lstStyle/>
                    <a:p>
                      <a:pPr algn="ctr">
                        <a:defRPr b="1" sz="1200">
                          <a:solidFill>
                            <a:srgbClr val="FFFFFF"/>
                          </a:solidFill>
                          <a:latin typeface="Calibri"/>
                        </a:defRPr>
                      </a:pPr>
                      <a:r>
                        <a:t>Improvement</a:t>
                      </a:r>
                    </a:p>
                  </a:txBody>
                  <a:tcPr anchor="ctr" marL="73152" marR="73152" marT="36576" marB="36576">
                    <a:solidFill>
                      <a:srgbClr val="2ECC71"/>
                    </a:solidFill>
                  </a:tcPr>
                </a:tc>
              </a:tr>
              <a:tr h="345440">
                <a:tc>
                  <a:txBody>
                    <a:bodyPr/>
                    <a:lstStyle/>
                    <a:p>
                      <a:pPr>
                        <a:defRPr sz="1100">
                          <a:solidFill>
                            <a:srgbClr val="B0B8CC"/>
                          </a:solidFill>
                          <a:latin typeface="Calibri"/>
                        </a:defRPr>
                      </a:pPr>
                      <a:r>
                        <a:t>Downlink Rate</a:t>
                      </a:r>
                    </a:p>
                  </a:txBody>
                  <a:tcPr anchor="ctr" marL="73152" marR="73152" marT="36576" marB="36576">
                    <a:solidFill>
                      <a:srgbClr val="141B2D"/>
                    </a:solidFill>
                  </a:tcPr>
                </a:tc>
                <a:tc>
                  <a:txBody>
                    <a:bodyPr/>
                    <a:lstStyle/>
                    <a:p>
                      <a:pPr>
                        <a:defRPr sz="1100">
                          <a:solidFill>
                            <a:srgbClr val="B0B8CC"/>
                          </a:solidFill>
                          <a:latin typeface="Calibri"/>
                        </a:defRPr>
                      </a:pPr>
                      <a:r>
                        <a:t>0.5-6 Mbps</a:t>
                      </a:r>
                    </a:p>
                  </a:txBody>
                  <a:tcPr anchor="ctr" marL="73152" marR="73152" marT="36576" marB="36576">
                    <a:solidFill>
                      <a:srgbClr val="141B2D"/>
                    </a:solidFill>
                  </a:tcPr>
                </a:tc>
                <a:tc>
                  <a:txBody>
                    <a:bodyPr/>
                    <a:lstStyle/>
                    <a:p>
                      <a:pPr>
                        <a:defRPr sz="1100">
                          <a:solidFill>
                            <a:srgbClr val="B0B8CC"/>
                          </a:solidFill>
                          <a:latin typeface="Calibri"/>
                        </a:defRPr>
                      </a:pPr>
                      <a:r>
                        <a:t>2-200 Mbps</a:t>
                      </a:r>
                    </a:p>
                  </a:txBody>
                  <a:tcPr anchor="ctr" marL="73152" marR="73152" marT="36576" marB="36576">
                    <a:solidFill>
                      <a:srgbClr val="141B2D"/>
                    </a:solidFill>
                  </a:tcPr>
                </a:tc>
                <a:tc>
                  <a:txBody>
                    <a:bodyPr/>
                    <a:lstStyle/>
                    <a:p>
                      <a:pPr>
                        <a:defRPr sz="1100">
                          <a:solidFill>
                            <a:srgbClr val="B0B8CC"/>
                          </a:solidFill>
                          <a:latin typeface="Calibri"/>
                        </a:defRPr>
                      </a:pPr>
                      <a:r>
                        <a:t>10-100×</a:t>
                      </a:r>
                    </a:p>
                  </a:txBody>
                  <a:tcPr anchor="ctr" marL="73152" marR="73152" marT="36576" marB="36576">
                    <a:solidFill>
                      <a:srgbClr val="141B2D"/>
                    </a:solidFill>
                  </a:tcPr>
                </a:tc>
              </a:tr>
              <a:tr h="345440">
                <a:tc>
                  <a:txBody>
                    <a:bodyPr/>
                    <a:lstStyle/>
                    <a:p>
                      <a:pPr>
                        <a:defRPr sz="1100">
                          <a:solidFill>
                            <a:srgbClr val="B0B8CC"/>
                          </a:solidFill>
                          <a:latin typeface="Calibri"/>
                        </a:defRPr>
                      </a:pPr>
                      <a:r>
                        <a:t>Daily Volume</a:t>
                      </a:r>
                    </a:p>
                  </a:txBody>
                  <a:tcPr anchor="ctr" marL="73152" marR="73152" marT="36576" marB="36576">
                    <a:solidFill>
                      <a:srgbClr val="182236"/>
                    </a:solidFill>
                  </a:tcPr>
                </a:tc>
                <a:tc>
                  <a:txBody>
                    <a:bodyPr/>
                    <a:lstStyle/>
                    <a:p>
                      <a:pPr>
                        <a:defRPr sz="1100">
                          <a:solidFill>
                            <a:srgbClr val="B0B8CC"/>
                          </a:solidFill>
                          <a:latin typeface="Calibri"/>
                        </a:defRPr>
                      </a:pPr>
                      <a:r>
                        <a:t>5-10 GB</a:t>
                      </a:r>
                    </a:p>
                  </a:txBody>
                  <a:tcPr anchor="ctr" marL="73152" marR="73152" marT="36576" marB="36576">
                    <a:solidFill>
                      <a:srgbClr val="182236"/>
                    </a:solidFill>
                  </a:tcPr>
                </a:tc>
                <a:tc>
                  <a:txBody>
                    <a:bodyPr/>
                    <a:lstStyle/>
                    <a:p>
                      <a:pPr>
                        <a:defRPr sz="1100">
                          <a:solidFill>
                            <a:srgbClr val="B0B8CC"/>
                          </a:solidFill>
                          <a:latin typeface="Calibri"/>
                        </a:defRPr>
                      </a:pPr>
                      <a:r>
                        <a:t>50-100 GB</a:t>
                      </a:r>
                    </a:p>
                  </a:txBody>
                  <a:tcPr anchor="ctr" marL="73152" marR="73152" marT="36576" marB="36576">
                    <a:solidFill>
                      <a:srgbClr val="182236"/>
                    </a:solidFill>
                  </a:tcPr>
                </a:tc>
                <a:tc>
                  <a:txBody>
                    <a:bodyPr/>
                    <a:lstStyle/>
                    <a:p>
                      <a:pPr>
                        <a:defRPr sz="1100">
                          <a:solidFill>
                            <a:srgbClr val="B0B8CC"/>
                          </a:solidFill>
                          <a:latin typeface="Calibri"/>
                        </a:defRPr>
                      </a:pPr>
                      <a:r>
                        <a:t>10-20×</a:t>
                      </a:r>
                    </a:p>
                  </a:txBody>
                  <a:tcPr anchor="ctr" marL="73152" marR="73152" marT="36576" marB="36576">
                    <a:solidFill>
                      <a:srgbClr val="182236"/>
                    </a:solidFill>
                  </a:tcPr>
                </a:tc>
              </a:tr>
              <a:tr h="345440">
                <a:tc>
                  <a:txBody>
                    <a:bodyPr/>
                    <a:lstStyle/>
                    <a:p>
                      <a:pPr>
                        <a:defRPr sz="1100">
                          <a:solidFill>
                            <a:srgbClr val="B0B8CC"/>
                          </a:solidFill>
                          <a:latin typeface="Calibri"/>
                        </a:defRPr>
                      </a:pPr>
                      <a:r>
                        <a:t>Availability</a:t>
                      </a:r>
                    </a:p>
                  </a:txBody>
                  <a:tcPr anchor="ctr" marL="73152" marR="73152" marT="36576" marB="36576">
                    <a:solidFill>
                      <a:srgbClr val="141B2D"/>
                    </a:solidFill>
                  </a:tcPr>
                </a:tc>
                <a:tc>
                  <a:txBody>
                    <a:bodyPr/>
                    <a:lstStyle/>
                    <a:p>
                      <a:pPr>
                        <a:defRPr sz="1100">
                          <a:solidFill>
                            <a:srgbClr val="B0B8CC"/>
                          </a:solidFill>
                          <a:latin typeface="Calibri"/>
                        </a:defRPr>
                      </a:pPr>
                      <a:r>
                        <a:t>60-75%</a:t>
                      </a:r>
                    </a:p>
                  </a:txBody>
                  <a:tcPr anchor="ctr" marL="73152" marR="73152" marT="36576" marB="36576">
                    <a:solidFill>
                      <a:srgbClr val="141B2D"/>
                    </a:solidFill>
                  </a:tcPr>
                </a:tc>
                <a:tc>
                  <a:txBody>
                    <a:bodyPr/>
                    <a:lstStyle/>
                    <a:p>
                      <a:pPr>
                        <a:defRPr sz="1100">
                          <a:solidFill>
                            <a:srgbClr val="B0B8CC"/>
                          </a:solidFill>
                          <a:latin typeface="Calibri"/>
                        </a:defRPr>
                      </a:pPr>
                      <a:r>
                        <a:t>&gt;95%</a:t>
                      </a:r>
                    </a:p>
                  </a:txBody>
                  <a:tcPr anchor="ctr" marL="73152" marR="73152" marT="36576" marB="36576">
                    <a:solidFill>
                      <a:srgbClr val="141B2D"/>
                    </a:solidFill>
                  </a:tcPr>
                </a:tc>
                <a:tc>
                  <a:txBody>
                    <a:bodyPr/>
                    <a:lstStyle/>
                    <a:p>
                      <a:pPr>
                        <a:defRPr sz="1100">
                          <a:solidFill>
                            <a:srgbClr val="B0B8CC"/>
                          </a:solidFill>
                          <a:latin typeface="Calibri"/>
                        </a:defRPr>
                      </a:pPr>
                      <a:r>
                        <a:t>+20-35%</a:t>
                      </a:r>
                    </a:p>
                  </a:txBody>
                  <a:tcPr anchor="ctr" marL="73152" marR="73152" marT="36576" marB="36576">
                    <a:solidFill>
                      <a:srgbClr val="141B2D"/>
                    </a:solidFill>
                  </a:tcPr>
                </a:tc>
              </a:tr>
              <a:tr h="345440">
                <a:tc>
                  <a:txBody>
                    <a:bodyPr/>
                    <a:lstStyle/>
                    <a:p>
                      <a:pPr>
                        <a:defRPr sz="1100">
                          <a:solidFill>
                            <a:srgbClr val="B0B8CC"/>
                          </a:solidFill>
                          <a:latin typeface="Calibri"/>
                        </a:defRPr>
                      </a:pPr>
                      <a:r>
                        <a:t>Routing</a:t>
                      </a:r>
                    </a:p>
                  </a:txBody>
                  <a:tcPr anchor="ctr" marL="73152" marR="73152" marT="36576" marB="36576">
                    <a:solidFill>
                      <a:srgbClr val="182236"/>
                    </a:solidFill>
                  </a:tcPr>
                </a:tc>
                <a:tc>
                  <a:txBody>
                    <a:bodyPr/>
                    <a:lstStyle/>
                    <a:p>
                      <a:pPr>
                        <a:defRPr sz="1100">
                          <a:solidFill>
                            <a:srgbClr val="B0B8CC"/>
                          </a:solidFill>
                          <a:latin typeface="Calibri"/>
                        </a:defRPr>
                      </a:pPr>
                      <a:r>
                        <a:t>Static (CGR)</a:t>
                      </a:r>
                    </a:p>
                  </a:txBody>
                  <a:tcPr anchor="ctr" marL="73152" marR="73152" marT="36576" marB="36576">
                    <a:solidFill>
                      <a:srgbClr val="182236"/>
                    </a:solidFill>
                  </a:tcPr>
                </a:tc>
                <a:tc>
                  <a:txBody>
                    <a:bodyPr/>
                    <a:lstStyle/>
                    <a:p>
                      <a:pPr>
                        <a:defRPr sz="1100">
                          <a:solidFill>
                            <a:srgbClr val="B0B8CC"/>
                          </a:solidFill>
                          <a:latin typeface="Calibri"/>
                        </a:defRPr>
                      </a:pPr>
                      <a:r>
                        <a:t>RL-adaptive</a:t>
                      </a:r>
                    </a:p>
                  </a:txBody>
                  <a:tcPr anchor="ctr" marL="73152" marR="73152" marT="36576" marB="36576">
                    <a:solidFill>
                      <a:srgbClr val="182236"/>
                    </a:solidFill>
                  </a:tcPr>
                </a:tc>
                <a:tc>
                  <a:txBody>
                    <a:bodyPr/>
                    <a:lstStyle/>
                    <a:p>
                      <a:pPr>
                        <a:defRPr sz="1100">
                          <a:solidFill>
                            <a:srgbClr val="B0B8CC"/>
                          </a:solidFill>
                          <a:latin typeface="Calibri"/>
                        </a:defRPr>
                      </a:pPr>
                      <a:r>
                        <a:t>Autonomous</a:t>
                      </a:r>
                    </a:p>
                  </a:txBody>
                  <a:tcPr anchor="ctr" marL="73152" marR="73152" marT="36576" marB="36576">
                    <a:solidFill>
                      <a:srgbClr val="182236"/>
                    </a:solidFill>
                  </a:tcPr>
                </a:tc>
              </a:tr>
              <a:tr h="345440">
                <a:tc>
                  <a:txBody>
                    <a:bodyPr/>
                    <a:lstStyle/>
                    <a:p>
                      <a:pPr>
                        <a:defRPr sz="1100">
                          <a:solidFill>
                            <a:srgbClr val="B0B8CC"/>
                          </a:solidFill>
                          <a:latin typeface="Calibri"/>
                        </a:defRPr>
                      </a:pPr>
                      <a:r>
                        <a:t>Security</a:t>
                      </a:r>
                    </a:p>
                  </a:txBody>
                  <a:tcPr anchor="ctr" marL="73152" marR="73152" marT="36576" marB="36576">
                    <a:solidFill>
                      <a:srgbClr val="141B2D"/>
                    </a:solidFill>
                  </a:tcPr>
                </a:tc>
                <a:tc>
                  <a:txBody>
                    <a:bodyPr/>
                    <a:lstStyle/>
                    <a:p>
                      <a:pPr>
                        <a:defRPr sz="1100">
                          <a:solidFill>
                            <a:srgbClr val="B0B8CC"/>
                          </a:solidFill>
                          <a:latin typeface="Calibri"/>
                        </a:defRPr>
                      </a:pPr>
                      <a:r>
                        <a:t>AES-256</a:t>
                      </a:r>
                    </a:p>
                  </a:txBody>
                  <a:tcPr anchor="ctr" marL="73152" marR="73152" marT="36576" marB="36576">
                    <a:solidFill>
                      <a:srgbClr val="141B2D"/>
                    </a:solidFill>
                  </a:tcPr>
                </a:tc>
                <a:tc>
                  <a:txBody>
                    <a:bodyPr/>
                    <a:lstStyle/>
                    <a:p>
                      <a:pPr>
                        <a:defRPr sz="1100">
                          <a:solidFill>
                            <a:srgbClr val="B0B8CC"/>
                          </a:solidFill>
                          <a:latin typeface="Calibri"/>
                        </a:defRPr>
                      </a:pPr>
                      <a:r>
                        <a:t>QKD + PQC</a:t>
                      </a:r>
                    </a:p>
                  </a:txBody>
                  <a:tcPr anchor="ctr" marL="73152" marR="73152" marT="36576" marB="36576">
                    <a:solidFill>
                      <a:srgbClr val="141B2D"/>
                    </a:solidFill>
                  </a:tcPr>
                </a:tc>
                <a:tc>
                  <a:txBody>
                    <a:bodyPr/>
                    <a:lstStyle/>
                    <a:p>
                      <a:pPr>
                        <a:defRPr sz="1100">
                          <a:solidFill>
                            <a:srgbClr val="B0B8CC"/>
                          </a:solidFill>
                          <a:latin typeface="Calibri"/>
                        </a:defRPr>
                      </a:pPr>
                      <a:r>
                        <a:t>Quantum-proof</a:t>
                      </a:r>
                    </a:p>
                  </a:txBody>
                  <a:tcPr anchor="ctr" marL="73152" marR="73152" marT="36576" marB="36576">
                    <a:solidFill>
                      <a:srgbClr val="141B2D"/>
                    </a:solidFill>
                  </a:tcPr>
                </a:tc>
              </a:tr>
              <a:tr h="345440">
                <a:tc>
                  <a:txBody>
                    <a:bodyPr/>
                    <a:lstStyle/>
                    <a:p>
                      <a:pPr>
                        <a:defRPr sz="1100">
                          <a:solidFill>
                            <a:srgbClr val="B0B8CC"/>
                          </a:solidFill>
                          <a:latin typeface="Calibri"/>
                        </a:defRPr>
                      </a:pPr>
                      <a:r>
                        <a:t>Scalability</a:t>
                      </a:r>
                    </a:p>
                  </a:txBody>
                  <a:tcPr anchor="ctr" marL="73152" marR="73152" marT="36576" marB="36576">
                    <a:solidFill>
                      <a:srgbClr val="182236"/>
                    </a:solidFill>
                  </a:tcPr>
                </a:tc>
                <a:tc>
                  <a:txBody>
                    <a:bodyPr/>
                    <a:lstStyle/>
                    <a:p>
                      <a:pPr>
                        <a:defRPr sz="1100">
                          <a:solidFill>
                            <a:srgbClr val="B0B8CC"/>
                          </a:solidFill>
                          <a:latin typeface="Calibri"/>
                        </a:defRPr>
                      </a:pPr>
                      <a:r>
                        <a:t>5-10 assets</a:t>
                      </a:r>
                    </a:p>
                  </a:txBody>
                  <a:tcPr anchor="ctr" marL="73152" marR="73152" marT="36576" marB="36576">
                    <a:solidFill>
                      <a:srgbClr val="182236"/>
                    </a:solidFill>
                  </a:tcPr>
                </a:tc>
                <a:tc>
                  <a:txBody>
                    <a:bodyPr/>
                    <a:lstStyle/>
                    <a:p>
                      <a:pPr>
                        <a:defRPr sz="1100">
                          <a:solidFill>
                            <a:srgbClr val="B0B8CC"/>
                          </a:solidFill>
                          <a:latin typeface="Calibri"/>
                        </a:defRPr>
                      </a:pPr>
                      <a:r>
                        <a:t>241 nodes</a:t>
                      </a:r>
                    </a:p>
                  </a:txBody>
                  <a:tcPr anchor="ctr" marL="73152" marR="73152" marT="36576" marB="36576">
                    <a:solidFill>
                      <a:srgbClr val="182236"/>
                    </a:solidFill>
                  </a:tcPr>
                </a:tc>
                <a:tc>
                  <a:txBody>
                    <a:bodyPr/>
                    <a:lstStyle/>
                    <a:p>
                      <a:pPr>
                        <a:defRPr sz="1100">
                          <a:solidFill>
                            <a:srgbClr val="B0B8CC"/>
                          </a:solidFill>
                          <a:latin typeface="Calibri"/>
                        </a:defRPr>
                      </a:pPr>
                      <a:r>
                        <a:t>24-48×</a:t>
                      </a:r>
                    </a:p>
                  </a:txBody>
                  <a:tcPr anchor="ctr" marL="73152" marR="73152" marT="36576" marB="36576">
                    <a:solidFill>
                      <a:srgbClr val="182236"/>
                    </a:solidFill>
                  </a:tcPr>
                </a:tc>
              </a:tr>
              <a:tr h="345440">
                <a:tc>
                  <a:txBody>
                    <a:bodyPr/>
                    <a:lstStyle/>
                    <a:p>
                      <a:pPr>
                        <a:defRPr sz="1100">
                          <a:solidFill>
                            <a:srgbClr val="B0B8CC"/>
                          </a:solidFill>
                          <a:latin typeface="Calibri"/>
                        </a:defRPr>
                      </a:pPr>
                      <a:r>
                        <a:t>Cost per MB</a:t>
                      </a:r>
                    </a:p>
                  </a:txBody>
                  <a:tcPr anchor="ctr" marL="73152" marR="73152" marT="36576" marB="36576">
                    <a:solidFill>
                      <a:srgbClr val="141B2D"/>
                    </a:solidFill>
                  </a:tcPr>
                </a:tc>
                <a:tc>
                  <a:txBody>
                    <a:bodyPr/>
                    <a:lstStyle/>
                    <a:p>
                      <a:pPr>
                        <a:defRPr sz="1100">
                          <a:solidFill>
                            <a:srgbClr val="B0B8CC"/>
                          </a:solidFill>
                          <a:latin typeface="Calibri"/>
                        </a:defRPr>
                      </a:pPr>
                      <a:r>
                        <a:t>$0.10</a:t>
                      </a:r>
                    </a:p>
                  </a:txBody>
                  <a:tcPr anchor="ctr" marL="73152" marR="73152" marT="36576" marB="36576">
                    <a:solidFill>
                      <a:srgbClr val="141B2D"/>
                    </a:solidFill>
                  </a:tcPr>
                </a:tc>
                <a:tc>
                  <a:txBody>
                    <a:bodyPr/>
                    <a:lstStyle/>
                    <a:p>
                      <a:pPr>
                        <a:defRPr sz="1100">
                          <a:solidFill>
                            <a:srgbClr val="B0B8CC"/>
                          </a:solidFill>
                          <a:latin typeface="Calibri"/>
                        </a:defRPr>
                      </a:pPr>
                      <a:r>
                        <a:t>$0.01</a:t>
                      </a:r>
                    </a:p>
                  </a:txBody>
                  <a:tcPr anchor="ctr" marL="73152" marR="73152" marT="36576" marB="36576">
                    <a:solidFill>
                      <a:srgbClr val="141B2D"/>
                    </a:solidFill>
                  </a:tcPr>
                </a:tc>
                <a:tc>
                  <a:txBody>
                    <a:bodyPr/>
                    <a:lstStyle/>
                    <a:p>
                      <a:pPr>
                        <a:defRPr sz="1100">
                          <a:solidFill>
                            <a:srgbClr val="B0B8CC"/>
                          </a:solidFill>
                          <a:latin typeface="Calibri"/>
                        </a:defRPr>
                      </a:pPr>
                      <a:r>
                        <a:t>10× cheaper</a:t>
                      </a:r>
                    </a:p>
                  </a:txBody>
                  <a:tcPr anchor="ctr" marL="73152" marR="73152" marT="36576" marB="36576">
                    <a:solidFill>
                      <a:srgbClr val="141B2D"/>
                    </a:solidFill>
                  </a:tcPr>
                </a:tc>
              </a:tr>
              <a:tr h="345440">
                <a:tc>
                  <a:txBody>
                    <a:bodyPr/>
                    <a:lstStyle/>
                    <a:p>
                      <a:pPr>
                        <a:defRPr sz="1100">
                          <a:solidFill>
                            <a:srgbClr val="B0B8CC"/>
                          </a:solidFill>
                          <a:latin typeface="Calibri"/>
                        </a:defRPr>
                      </a:pPr>
                      <a:r>
                        <a:t>Conjunction</a:t>
                      </a:r>
                    </a:p>
                  </a:txBody>
                  <a:tcPr anchor="ctr" marL="73152" marR="73152" marT="36576" marB="36576">
                    <a:solidFill>
                      <a:srgbClr val="182236"/>
                    </a:solidFill>
                  </a:tcPr>
                </a:tc>
                <a:tc>
                  <a:txBody>
                    <a:bodyPr/>
                    <a:lstStyle/>
                    <a:p>
                      <a:pPr>
                        <a:defRPr sz="1100">
                          <a:solidFill>
                            <a:srgbClr val="B0B8CC"/>
                          </a:solidFill>
                          <a:latin typeface="Calibri"/>
                        </a:defRPr>
                      </a:pPr>
                      <a:r>
                        <a:t>Blackout</a:t>
                      </a:r>
                    </a:p>
                  </a:txBody>
                  <a:tcPr anchor="ctr" marL="73152" marR="73152" marT="36576" marB="36576">
                    <a:solidFill>
                      <a:srgbClr val="182236"/>
                    </a:solidFill>
                  </a:tcPr>
                </a:tc>
                <a:tc>
                  <a:txBody>
                    <a:bodyPr/>
                    <a:lstStyle/>
                    <a:p>
                      <a:pPr>
                        <a:defRPr sz="1100">
                          <a:solidFill>
                            <a:srgbClr val="B0B8CC"/>
                          </a:solidFill>
                          <a:latin typeface="Calibri"/>
                        </a:defRPr>
                      </a:pPr>
                      <a:r>
                        <a:t>50-70% via L4/L5</a:t>
                      </a:r>
                    </a:p>
                  </a:txBody>
                  <a:tcPr anchor="ctr" marL="73152" marR="73152" marT="36576" marB="36576">
                    <a:solidFill>
                      <a:srgbClr val="182236"/>
                    </a:solidFill>
                  </a:tcPr>
                </a:tc>
                <a:tc>
                  <a:txBody>
                    <a:bodyPr/>
                    <a:lstStyle/>
                    <a:p>
                      <a:pPr>
                        <a:defRPr sz="1100">
                          <a:solidFill>
                            <a:srgbClr val="B0B8CC"/>
                          </a:solidFill>
                          <a:latin typeface="Calibri"/>
                        </a:defRPr>
                      </a:pPr>
                      <a:r>
                        <a:t>+50-70%</a:t>
                      </a:r>
                    </a:p>
                  </a:txBody>
                  <a:tcPr anchor="ctr" marL="73152" marR="73152" marT="36576" marB="36576">
                    <a:solidFill>
                      <a:srgbClr val="182236"/>
                    </a:solidFill>
                  </a:tcPr>
                </a:tc>
              </a:tr>
            </a:tbl>
          </a:graphicData>
        </a:graphic>
      </p:graphicFrame>
      <p:sp>
        <p:nvSpPr>
          <p:cNvPr id="5" name="TextBox 4"/>
          <p:cNvSpPr txBox="1"/>
          <p:nvPr/>
        </p:nvSpPr>
        <p:spPr>
          <a:xfrm>
            <a:off x="457200" y="6400800"/>
            <a:ext cx="4572000" cy="365760"/>
          </a:xfrm>
          <a:prstGeom prst="rect">
            <a:avLst/>
          </a:prstGeom>
          <a:noFill/>
        </p:spPr>
        <p:txBody>
          <a:bodyPr wrap="square">
            <a:spAutoFit/>
          </a:bodyPr>
          <a:lstStyle/>
          <a:p>
            <a:pPr algn="l">
              <a:defRPr sz="1000" b="0">
                <a:solidFill>
                  <a:srgbClr val="6B7B96"/>
                </a:solidFill>
                <a:latin typeface="Calibri"/>
              </a:defRPr>
            </a:pPr>
            <a:r>
              <a:t>AETHERIX — Interplanetary Communication Network</a:t>
            </a:r>
          </a:p>
        </p:txBody>
      </p:sp>
      <p:sp>
        <p:nvSpPr>
          <p:cNvPr id="6" name="TextBox 5"/>
          <p:cNvSpPr txBox="1"/>
          <p:nvPr/>
        </p:nvSpPr>
        <p:spPr>
          <a:xfrm>
            <a:off x="10058400" y="6400800"/>
            <a:ext cx="1828800" cy="365760"/>
          </a:xfrm>
          <a:prstGeom prst="rect">
            <a:avLst/>
          </a:prstGeom>
          <a:noFill/>
        </p:spPr>
        <p:txBody>
          <a:bodyPr wrap="square">
            <a:spAutoFit/>
          </a:bodyPr>
          <a:lstStyle/>
          <a:p>
            <a:pPr algn="r">
              <a:defRPr sz="1000" b="0">
                <a:solidFill>
                  <a:srgbClr val="6B7B96"/>
                </a:solidFill>
                <a:latin typeface="Calibri"/>
              </a:defRPr>
            </a:pPr>
            <a:r>
              <a:t>38 / 46</a:t>
            </a:r>
          </a:p>
        </p:txBody>
      </p:sp>
    </p:spTree>
  </p:cSld>
  <p:transition spd="med" advClick="1">
    <p:fade/>
  </p:transition>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B0E1A"/>
        </a:solidFill>
        <a:effectLst/>
      </p:bgPr>
    </p:bg>
    <p:spTree>
      <p:nvGrpSpPr>
        <p:cNvPr id="1" name=""/>
        <p:cNvGrpSpPr/>
        <p:nvPr/>
      </p:nvGrpSpPr>
      <p:grpSpPr/>
      <p:sp>
        <p:nvSpPr>
          <p:cNvPr id="2" name="TextBox 1"/>
          <p:cNvSpPr txBox="1"/>
          <p:nvPr/>
        </p:nvSpPr>
        <p:spPr>
          <a:xfrm>
            <a:off x="640080" y="274320"/>
            <a:ext cx="10058400" cy="640080"/>
          </a:xfrm>
          <a:prstGeom prst="rect">
            <a:avLst/>
          </a:prstGeom>
          <a:noFill/>
        </p:spPr>
        <p:txBody>
          <a:bodyPr wrap="square">
            <a:spAutoFit/>
          </a:bodyPr>
          <a:lstStyle/>
          <a:p>
            <a:pPr algn="l">
              <a:defRPr sz="3200" b="1">
                <a:solidFill>
                  <a:srgbClr val="FFFFFF"/>
                </a:solidFill>
                <a:latin typeface="Calibri"/>
              </a:defRPr>
            </a:pPr>
            <a:r>
              <a:t>PERFORMANCE COMPARISON</a:t>
            </a:r>
          </a:p>
        </p:txBody>
      </p:sp>
      <p:sp>
        <p:nvSpPr>
          <p:cNvPr id="3" name="TextBox 2"/>
          <p:cNvSpPr txBox="1"/>
          <p:nvPr/>
        </p:nvSpPr>
        <p:spPr>
          <a:xfrm>
            <a:off x="640080" y="822960"/>
            <a:ext cx="10058400" cy="365760"/>
          </a:xfrm>
          <a:prstGeom prst="rect">
            <a:avLst/>
          </a:prstGeom>
          <a:noFill/>
        </p:spPr>
        <p:txBody>
          <a:bodyPr wrap="square">
            <a:spAutoFit/>
          </a:bodyPr>
          <a:lstStyle/>
          <a:p>
            <a:pPr algn="l">
              <a:defRPr sz="1600" b="0">
                <a:solidFill>
                  <a:srgbClr val="2ECC71"/>
                </a:solidFill>
                <a:latin typeface="Calibri"/>
              </a:defRPr>
            </a:pPr>
            <a:r>
              <a:t>AETHERIX vs Current Systems</a:t>
            </a:r>
          </a:p>
        </p:txBody>
      </p:sp>
      <p:sp>
        <p:nvSpPr>
          <p:cNvPr id="4" name="Rectangle 3"/>
          <p:cNvSpPr/>
          <p:nvPr/>
        </p:nvSpPr>
        <p:spPr>
          <a:xfrm>
            <a:off x="640080" y="1234440"/>
            <a:ext cx="2286000" cy="38100"/>
          </a:xfrm>
          <a:prstGeom prst="rect">
            <a:avLst/>
          </a:prstGeom>
          <a:solidFill>
            <a:srgbClr val="2EC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erformance_comparison.png"/>
          <p:cNvPicPr>
            <a:picLocks noChangeAspect="1"/>
          </p:cNvPicPr>
          <p:nvPr/>
        </p:nvPicPr>
        <p:blipFill>
          <a:blip r:embed="rId2"/>
          <a:stretch>
            <a:fillRect/>
          </a:stretch>
        </p:blipFill>
        <p:spPr>
          <a:xfrm>
            <a:off x="640080" y="1371600"/>
            <a:ext cx="6400800" cy="4114800"/>
          </a:xfrm>
          <a:prstGeom prst="rect">
            <a:avLst/>
          </a:prstGeom>
        </p:spPr>
      </p:pic>
      <p:sp>
        <p:nvSpPr>
          <p:cNvPr id="6" name="TextBox 5"/>
          <p:cNvSpPr txBox="1"/>
          <p:nvPr/>
        </p:nvSpPr>
        <p:spPr>
          <a:xfrm>
            <a:off x="640080" y="5669280"/>
            <a:ext cx="10058400" cy="274320"/>
          </a:xfrm>
          <a:prstGeom prst="rect">
            <a:avLst/>
          </a:prstGeom>
          <a:noFill/>
        </p:spPr>
        <p:txBody>
          <a:bodyPr wrap="square">
            <a:spAutoFit/>
          </a:bodyPr>
          <a:lstStyle/>
          <a:p>
            <a:pPr algn="ctr">
              <a:defRPr sz="1000" b="0">
                <a:solidFill>
                  <a:srgbClr val="6B7B96"/>
                </a:solidFill>
                <a:latin typeface="Calibri"/>
              </a:defRPr>
            </a:pPr>
            <a:r>
              <a:t>AETHERIX achieves 10-100x improvement across all key metrics</a:t>
            </a:r>
          </a:p>
        </p:txBody>
      </p:sp>
      <p:sp>
        <p:nvSpPr>
          <p:cNvPr id="7" name="TextBox 6"/>
          <p:cNvSpPr txBox="1"/>
          <p:nvPr/>
        </p:nvSpPr>
        <p:spPr>
          <a:xfrm>
            <a:off x="457200" y="6400800"/>
            <a:ext cx="4572000" cy="365760"/>
          </a:xfrm>
          <a:prstGeom prst="rect">
            <a:avLst/>
          </a:prstGeom>
          <a:noFill/>
        </p:spPr>
        <p:txBody>
          <a:bodyPr wrap="square">
            <a:spAutoFit/>
          </a:bodyPr>
          <a:lstStyle/>
          <a:p>
            <a:pPr algn="l">
              <a:defRPr sz="1000" b="0">
                <a:solidFill>
                  <a:srgbClr val="6B7B96"/>
                </a:solidFill>
                <a:latin typeface="Calibri"/>
              </a:defRPr>
            </a:pPr>
            <a:r>
              <a:t>AETHERIX — Interplanetary Communication Network</a:t>
            </a:r>
          </a:p>
        </p:txBody>
      </p:sp>
      <p:sp>
        <p:nvSpPr>
          <p:cNvPr id="8" name="TextBox 7"/>
          <p:cNvSpPr txBox="1"/>
          <p:nvPr/>
        </p:nvSpPr>
        <p:spPr>
          <a:xfrm>
            <a:off x="10058400" y="6400800"/>
            <a:ext cx="1828800" cy="365760"/>
          </a:xfrm>
          <a:prstGeom prst="rect">
            <a:avLst/>
          </a:prstGeom>
          <a:noFill/>
        </p:spPr>
        <p:txBody>
          <a:bodyPr wrap="square">
            <a:spAutoFit/>
          </a:bodyPr>
          <a:lstStyle/>
          <a:p>
            <a:pPr algn="r">
              <a:defRPr sz="1000" b="0">
                <a:solidFill>
                  <a:srgbClr val="6B7B96"/>
                </a:solidFill>
                <a:latin typeface="Calibri"/>
              </a:defRPr>
            </a:pPr>
            <a:r>
              <a:t>39 / 46</a:t>
            </a:r>
          </a:p>
        </p:txBody>
      </p:sp>
    </p:spTree>
  </p:cSld>
  <p:transition spd="med" advClick="1">
    <p:fade/>
  </p:transition>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B0E1A"/>
        </a:solidFill>
        <a:effectLst/>
      </p:bgPr>
    </p:bg>
    <p:spTree>
      <p:nvGrpSpPr>
        <p:cNvPr id="1" name=""/>
        <p:cNvGrpSpPr/>
        <p:nvPr/>
      </p:nvGrpSpPr>
      <p:grpSpPr/>
      <p:sp>
        <p:nvSpPr>
          <p:cNvPr id="2" name="TextBox 1"/>
          <p:cNvSpPr txBox="1"/>
          <p:nvPr/>
        </p:nvSpPr>
        <p:spPr>
          <a:xfrm>
            <a:off x="640080" y="274320"/>
            <a:ext cx="10058400" cy="640080"/>
          </a:xfrm>
          <a:prstGeom prst="rect">
            <a:avLst/>
          </a:prstGeom>
          <a:noFill/>
        </p:spPr>
        <p:txBody>
          <a:bodyPr wrap="square">
            <a:spAutoFit/>
          </a:bodyPr>
          <a:lstStyle/>
          <a:p>
            <a:pPr algn="l">
              <a:defRPr sz="3200" b="1">
                <a:solidFill>
                  <a:srgbClr val="FFFFFF"/>
                </a:solidFill>
                <a:latin typeface="Calibri"/>
              </a:defRPr>
            </a:pPr>
            <a:r>
              <a:t>OPTICAL vs RF</a:t>
            </a:r>
          </a:p>
        </p:txBody>
      </p:sp>
      <p:sp>
        <p:nvSpPr>
          <p:cNvPr id="3" name="TextBox 2"/>
          <p:cNvSpPr txBox="1"/>
          <p:nvPr/>
        </p:nvSpPr>
        <p:spPr>
          <a:xfrm>
            <a:off x="640080" y="822960"/>
            <a:ext cx="10058400" cy="365760"/>
          </a:xfrm>
          <a:prstGeom prst="rect">
            <a:avLst/>
          </a:prstGeom>
          <a:noFill/>
        </p:spPr>
        <p:txBody>
          <a:bodyPr wrap="square">
            <a:spAutoFit/>
          </a:bodyPr>
          <a:lstStyle/>
          <a:p>
            <a:pPr algn="l">
              <a:defRPr sz="1600" b="0">
                <a:solidFill>
                  <a:srgbClr val="009EFF"/>
                </a:solidFill>
                <a:latin typeface="Calibri"/>
              </a:defRPr>
            </a:pPr>
            <a:r>
              <a:t>Link Technology Comparison</a:t>
            </a:r>
          </a:p>
        </p:txBody>
      </p:sp>
      <p:sp>
        <p:nvSpPr>
          <p:cNvPr id="4" name="Rectangle 3"/>
          <p:cNvSpPr/>
          <p:nvPr/>
        </p:nvSpPr>
        <p:spPr>
          <a:xfrm>
            <a:off x="640080" y="1234440"/>
            <a:ext cx="2286000" cy="38100"/>
          </a:xfrm>
          <a:prstGeom prst="rect">
            <a:avLst/>
          </a:prstGeom>
          <a:solidFill>
            <a:srgbClr val="00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optical_vs_rf_radar.png"/>
          <p:cNvPicPr>
            <a:picLocks noChangeAspect="1"/>
          </p:cNvPicPr>
          <p:nvPr/>
        </p:nvPicPr>
        <p:blipFill>
          <a:blip r:embed="rId2"/>
          <a:stretch>
            <a:fillRect/>
          </a:stretch>
        </p:blipFill>
        <p:spPr>
          <a:xfrm>
            <a:off x="640080" y="1371600"/>
            <a:ext cx="6400800" cy="4114800"/>
          </a:xfrm>
          <a:prstGeom prst="rect">
            <a:avLst/>
          </a:prstGeom>
        </p:spPr>
      </p:pic>
      <p:sp>
        <p:nvSpPr>
          <p:cNvPr id="6" name="TextBox 5"/>
          <p:cNvSpPr txBox="1"/>
          <p:nvPr/>
        </p:nvSpPr>
        <p:spPr>
          <a:xfrm>
            <a:off x="640080" y="5669280"/>
            <a:ext cx="10058400" cy="274320"/>
          </a:xfrm>
          <a:prstGeom prst="rect">
            <a:avLst/>
          </a:prstGeom>
          <a:noFill/>
        </p:spPr>
        <p:txBody>
          <a:bodyPr wrap="square">
            <a:spAutoFit/>
          </a:bodyPr>
          <a:lstStyle/>
          <a:p>
            <a:pPr algn="ctr">
              <a:defRPr sz="1000" b="0">
                <a:solidFill>
                  <a:srgbClr val="6B7B96"/>
                </a:solidFill>
                <a:latin typeface="Calibri"/>
              </a:defRPr>
            </a:pPr>
            <a:r>
              <a:t>Optical links provide dramatically higher data rates, especially at shorter ranges</a:t>
            </a:r>
          </a:p>
        </p:txBody>
      </p:sp>
      <p:sp>
        <p:nvSpPr>
          <p:cNvPr id="7" name="TextBox 6"/>
          <p:cNvSpPr txBox="1"/>
          <p:nvPr/>
        </p:nvSpPr>
        <p:spPr>
          <a:xfrm>
            <a:off x="457200" y="6400800"/>
            <a:ext cx="4572000" cy="365760"/>
          </a:xfrm>
          <a:prstGeom prst="rect">
            <a:avLst/>
          </a:prstGeom>
          <a:noFill/>
        </p:spPr>
        <p:txBody>
          <a:bodyPr wrap="square">
            <a:spAutoFit/>
          </a:bodyPr>
          <a:lstStyle/>
          <a:p>
            <a:pPr algn="l">
              <a:defRPr sz="1000" b="0">
                <a:solidFill>
                  <a:srgbClr val="6B7B96"/>
                </a:solidFill>
                <a:latin typeface="Calibri"/>
              </a:defRPr>
            </a:pPr>
            <a:r>
              <a:t>AETHERIX — Interplanetary Communication Network</a:t>
            </a:r>
          </a:p>
        </p:txBody>
      </p:sp>
      <p:sp>
        <p:nvSpPr>
          <p:cNvPr id="8" name="TextBox 7"/>
          <p:cNvSpPr txBox="1"/>
          <p:nvPr/>
        </p:nvSpPr>
        <p:spPr>
          <a:xfrm>
            <a:off x="10058400" y="6400800"/>
            <a:ext cx="1828800" cy="365760"/>
          </a:xfrm>
          <a:prstGeom prst="rect">
            <a:avLst/>
          </a:prstGeom>
          <a:noFill/>
        </p:spPr>
        <p:txBody>
          <a:bodyPr wrap="square">
            <a:spAutoFit/>
          </a:bodyPr>
          <a:lstStyle/>
          <a:p>
            <a:pPr algn="r">
              <a:defRPr sz="1000" b="0">
                <a:solidFill>
                  <a:srgbClr val="6B7B96"/>
                </a:solidFill>
                <a:latin typeface="Calibri"/>
              </a:defRPr>
            </a:pPr>
            <a:r>
              <a:t>40 / 46</a:t>
            </a:r>
          </a:p>
        </p:txBody>
      </p:sp>
    </p:spTree>
  </p:cSld>
  <p:transition spd="med" advClick="1">
    <p:fade/>
  </p:transition>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B0E1A"/>
        </a:solidFill>
        <a:effectLst/>
      </p:bgPr>
    </p:bg>
    <p:spTree>
      <p:nvGrpSpPr>
        <p:cNvPr id="1" name=""/>
        <p:cNvGrpSpPr/>
        <p:nvPr/>
      </p:nvGrpSpPr>
      <p:grpSpPr/>
      <p:sp>
        <p:nvSpPr>
          <p:cNvPr id="2" name="TextBox 1"/>
          <p:cNvSpPr txBox="1"/>
          <p:nvPr/>
        </p:nvSpPr>
        <p:spPr>
          <a:xfrm>
            <a:off x="548640" y="365760"/>
            <a:ext cx="8229600" cy="548640"/>
          </a:xfrm>
          <a:prstGeom prst="rect">
            <a:avLst/>
          </a:prstGeom>
          <a:noFill/>
        </p:spPr>
        <p:txBody>
          <a:bodyPr wrap="none">
            <a:spAutoFit/>
          </a:bodyPr>
          <a:lstStyle/>
          <a:p>
            <a:pPr algn="l">
              <a:defRPr sz="2800" b="1">
                <a:solidFill>
                  <a:srgbClr val="FFFFFF"/>
                </a:solidFill>
              </a:defRPr>
            </a:pPr>
            <a:r>
              <a:t>IMPLEMENTATION</a:t>
            </a:r>
          </a:p>
        </p:txBody>
      </p:sp>
      <p:sp>
        <p:nvSpPr>
          <p:cNvPr id="3" name="TextBox 2"/>
          <p:cNvSpPr txBox="1"/>
          <p:nvPr/>
        </p:nvSpPr>
        <p:spPr>
          <a:xfrm>
            <a:off x="548640" y="868680"/>
            <a:ext cx="8229600" cy="365760"/>
          </a:xfrm>
          <a:prstGeom prst="rect">
            <a:avLst/>
          </a:prstGeom>
          <a:noFill/>
        </p:spPr>
        <p:txBody>
          <a:bodyPr wrap="none">
            <a:spAutoFit/>
          </a:bodyPr>
          <a:lstStyle/>
          <a:p>
            <a:pPr algn="l">
              <a:defRPr sz="1400">
                <a:solidFill>
                  <a:srgbClr val="00D4AA"/>
                </a:solidFill>
              </a:defRPr>
            </a:pPr>
            <a:r>
              <a:t>What We Built</a:t>
            </a:r>
          </a:p>
        </p:txBody>
      </p:sp>
      <p:sp>
        <p:nvSpPr>
          <p:cNvPr id="4" name="Rounded Rectangle 3"/>
          <p:cNvSpPr/>
          <p:nvPr/>
        </p:nvSpPr>
        <p:spPr>
          <a:xfrm>
            <a:off x="1912467" y="1417320"/>
            <a:ext cx="1920240" cy="868680"/>
          </a:xfrm>
          <a:prstGeom prst="roundRect">
            <a:avLst/>
          </a:prstGeom>
          <a:solidFill>
            <a:srgbClr val="141B2D"/>
          </a:solidFill>
          <a:ln w="12700">
            <a:solidFill>
              <a:srgbClr val="2ECC7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400" b="1">
                <a:solidFill>
                  <a:srgbClr val="2ECC71"/>
                </a:solidFill>
                <a:latin typeface="Calibri"/>
              </a:defRPr>
            </a:pPr>
            <a:r>
              <a:t>27</a:t>
            </a:r>
          </a:p>
          <a:p>
            <a:pPr algn="ctr">
              <a:spcBef>
                <a:spcPts val="200"/>
              </a:spcBef>
              <a:spcAft>
                <a:spcPts val="400"/>
              </a:spcAft>
              <a:defRPr sz="1000" b="0">
                <a:solidFill>
                  <a:srgbClr val="B0B8CC"/>
                </a:solidFill>
                <a:latin typeface="Calibri"/>
              </a:defRPr>
            </a:pPr>
            <a:r>
              <a:t>Modules</a:t>
            </a:r>
          </a:p>
        </p:txBody>
      </p:sp>
      <p:sp>
        <p:nvSpPr>
          <p:cNvPr id="5" name="Rounded Rectangle 4"/>
          <p:cNvSpPr/>
          <p:nvPr/>
        </p:nvSpPr>
        <p:spPr>
          <a:xfrm>
            <a:off x="4061307" y="1417320"/>
            <a:ext cx="1920240" cy="868680"/>
          </a:xfrm>
          <a:prstGeom prst="roundRect">
            <a:avLst/>
          </a:prstGeom>
          <a:solidFill>
            <a:srgbClr val="141B2D"/>
          </a:solidFill>
          <a:ln w="12700">
            <a:solidFill>
              <a:srgbClr val="009E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400" b="1">
                <a:solidFill>
                  <a:srgbClr val="009EFF"/>
                </a:solidFill>
                <a:latin typeface="Calibri"/>
              </a:defRPr>
            </a:pPr>
            <a:r>
              <a:t>189</a:t>
            </a:r>
          </a:p>
          <a:p>
            <a:pPr algn="ctr">
              <a:spcBef>
                <a:spcPts val="200"/>
              </a:spcBef>
              <a:spcAft>
                <a:spcPts val="400"/>
              </a:spcAft>
              <a:defRPr sz="1000" b="0">
                <a:solidFill>
                  <a:srgbClr val="B0B8CC"/>
                </a:solidFill>
                <a:latin typeface="Calibri"/>
              </a:defRPr>
            </a:pPr>
            <a:r>
              <a:t>Tests</a:t>
            </a:r>
          </a:p>
        </p:txBody>
      </p:sp>
      <p:sp>
        <p:nvSpPr>
          <p:cNvPr id="6" name="Rounded Rectangle 5"/>
          <p:cNvSpPr/>
          <p:nvPr/>
        </p:nvSpPr>
        <p:spPr>
          <a:xfrm>
            <a:off x="6210147" y="1417320"/>
            <a:ext cx="1920240" cy="868680"/>
          </a:xfrm>
          <a:prstGeom prst="roundRect">
            <a:avLst/>
          </a:prstGeom>
          <a:solidFill>
            <a:srgbClr val="141B2D"/>
          </a:solidFill>
          <a:ln w="127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400" b="1">
                <a:solidFill>
                  <a:srgbClr val="8B5CF6"/>
                </a:solidFill>
                <a:latin typeface="Calibri"/>
              </a:defRPr>
            </a:pPr>
            <a:r>
              <a:t>12</a:t>
            </a:r>
          </a:p>
          <a:p>
            <a:pPr algn="ctr">
              <a:spcBef>
                <a:spcPts val="200"/>
              </a:spcBef>
              <a:spcAft>
                <a:spcPts val="400"/>
              </a:spcAft>
              <a:defRPr sz="1000" b="0">
                <a:solidFill>
                  <a:srgbClr val="B0B8CC"/>
                </a:solidFill>
                <a:latin typeface="Calibri"/>
              </a:defRPr>
            </a:pPr>
            <a:r>
              <a:t>Demos</a:t>
            </a:r>
          </a:p>
        </p:txBody>
      </p:sp>
      <p:sp>
        <p:nvSpPr>
          <p:cNvPr id="7" name="Rounded Rectangle 6"/>
          <p:cNvSpPr/>
          <p:nvPr/>
        </p:nvSpPr>
        <p:spPr>
          <a:xfrm>
            <a:off x="8358987" y="1417320"/>
            <a:ext cx="1920240" cy="868680"/>
          </a:xfrm>
          <a:prstGeom prst="roundRect">
            <a:avLst/>
          </a:prstGeom>
          <a:solidFill>
            <a:srgbClr val="141B2D"/>
          </a:solidFill>
          <a:ln w="12700">
            <a:solidFill>
              <a:srgbClr val="FF8C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400" b="1">
                <a:solidFill>
                  <a:srgbClr val="FF8C00"/>
                </a:solidFill>
                <a:latin typeface="Calibri"/>
              </a:defRPr>
            </a:pPr>
            <a:r>
              <a:t>5</a:t>
            </a:r>
          </a:p>
          <a:p>
            <a:pPr algn="ctr">
              <a:spcBef>
                <a:spcPts val="200"/>
              </a:spcBef>
              <a:spcAft>
                <a:spcPts val="400"/>
              </a:spcAft>
              <a:defRPr sz="1000" b="0">
                <a:solidFill>
                  <a:srgbClr val="B0B8CC"/>
                </a:solidFill>
                <a:latin typeface="Calibri"/>
              </a:defRPr>
            </a:pPr>
            <a:r>
              <a:t>Policies</a:t>
            </a:r>
          </a:p>
        </p:txBody>
      </p:sp>
      <p:sp>
        <p:nvSpPr>
          <p:cNvPr id="8" name="Rounded Rectangle 7"/>
          <p:cNvSpPr/>
          <p:nvPr/>
        </p:nvSpPr>
        <p:spPr>
          <a:xfrm>
            <a:off x="457200" y="2560320"/>
            <a:ext cx="3931920" cy="1554480"/>
          </a:xfrm>
          <a:prstGeom prst="roundRect">
            <a:avLst/>
          </a:prstGeom>
          <a:solidFill>
            <a:srgbClr val="141B2D"/>
          </a:solidFill>
          <a:ln w="12700">
            <a:solidFill>
              <a:srgbClr val="1E2A42"/>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spcAft>
                <a:spcPts val="600"/>
              </a:spcAft>
              <a:defRPr sz="1300" b="1">
                <a:solidFill>
                  <a:srgbClr val="00D4AA"/>
                </a:solidFill>
                <a:latin typeface="Calibri"/>
              </a:defRPr>
            </a:pPr>
            <a:r>
              <a:t>Core Modules</a:t>
            </a:r>
          </a:p>
          <a:p>
            <a:pPr>
              <a:defRPr sz="1100">
                <a:solidFill>
                  <a:srgbClr val="FFFFFF"/>
                </a:solidFill>
              </a:defRPr>
            </a:pPr>
            <a:r>
              <a:t>•  Link Budget</a:t>
            </a:r>
          </a:p>
          <a:p>
            <a:pPr>
              <a:defRPr sz="1100">
                <a:solidFill>
                  <a:srgbClr val="FFFFFF"/>
                </a:solidFill>
              </a:defRPr>
            </a:pPr>
            <a:r>
              <a:t>•  RL Agent</a:t>
            </a:r>
          </a:p>
          <a:p>
            <a:pPr>
              <a:defRPr sz="1100">
                <a:solidFill>
                  <a:srgbClr val="FFFFFF"/>
                </a:solidFill>
              </a:defRPr>
            </a:pPr>
            <a:r>
              <a:t>•  QKD</a:t>
            </a:r>
          </a:p>
          <a:p>
            <a:pPr>
              <a:defRPr sz="1100">
                <a:solidFill>
                  <a:srgbClr val="FFFFFF"/>
                </a:solidFill>
              </a:defRPr>
            </a:pPr>
            <a:r>
              <a:t>•  Bundle Protocol</a:t>
            </a:r>
          </a:p>
          <a:p>
            <a:pPr>
              <a:defRPr sz="1100">
                <a:solidFill>
                  <a:srgbClr val="FFFFFF"/>
                </a:solidFill>
              </a:defRPr>
            </a:pPr>
            <a:r>
              <a:t>•  Topology</a:t>
            </a:r>
          </a:p>
          <a:p>
            <a:pPr>
              <a:defRPr sz="1100">
                <a:solidFill>
                  <a:srgbClr val="FFFFFF"/>
                </a:solidFill>
              </a:defRPr>
            </a:pPr>
            <a:r>
              <a:t>•  Simulation</a:t>
            </a:r>
          </a:p>
        </p:txBody>
      </p:sp>
      <p:sp>
        <p:nvSpPr>
          <p:cNvPr id="9" name="Rounded Rectangle 8"/>
          <p:cNvSpPr/>
          <p:nvPr/>
        </p:nvSpPr>
        <p:spPr>
          <a:xfrm>
            <a:off x="4663440" y="2560320"/>
            <a:ext cx="4206240" cy="1554480"/>
          </a:xfrm>
          <a:prstGeom prst="roundRect">
            <a:avLst/>
          </a:prstGeom>
          <a:solidFill>
            <a:srgbClr val="141B2D"/>
          </a:solidFill>
          <a:ln w="12700">
            <a:solidFill>
              <a:srgbClr val="1E2A42"/>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spcAft>
                <a:spcPts val="600"/>
              </a:spcAft>
              <a:defRPr sz="1300" b="1">
                <a:solidFill>
                  <a:srgbClr val="00D4AA"/>
                </a:solidFill>
                <a:latin typeface="Calibri"/>
              </a:defRPr>
            </a:pPr>
            <a:r>
              <a:t>Standards Compliance</a:t>
            </a:r>
          </a:p>
        </p:txBody>
      </p:sp>
      <p:graphicFrame>
        <p:nvGraphicFramePr>
          <p:cNvPr id="10" name="Table 9"/>
          <p:cNvGraphicFramePr>
            <a:graphicFrameLocks noGrp="1"/>
          </p:cNvGraphicFramePr>
          <p:nvPr/>
        </p:nvGraphicFramePr>
        <p:xfrm>
          <a:off x="4754880" y="3063240"/>
          <a:ext cx="4023360" cy="1005840"/>
        </p:xfrm>
        <a:graphic>
          <a:graphicData uri="http://schemas.openxmlformats.org/drawingml/2006/table">
            <a:tbl>
              <a:tblPr firstRow="1" bandRow="1">
                <a:tableStyleId>{5C22544A-7EE6-4342-B048-85BDC9FD1C3A}</a:tableStyleId>
              </a:tblPr>
              <a:tblGrid>
                <a:gridCol w="2011680"/>
                <a:gridCol w="2011680"/>
              </a:tblGrid>
              <a:tr h="125730">
                <a:tc>
                  <a:txBody>
                    <a:bodyPr/>
                    <a:lstStyle/>
                    <a:p>
                      <a:pPr algn="ctr">
                        <a:defRPr b="1" sz="1200">
                          <a:solidFill>
                            <a:srgbClr val="FFFFFF"/>
                          </a:solidFill>
                          <a:latin typeface="Calibri"/>
                        </a:defRPr>
                      </a:pPr>
                      <a:r>
                        <a:t>Standard</a:t>
                      </a:r>
                    </a:p>
                  </a:txBody>
                  <a:tcPr anchor="ctr" marL="73152" marR="73152" marT="36576" marB="36576">
                    <a:solidFill>
                      <a:srgbClr val="009EFF"/>
                    </a:solidFill>
                  </a:tcPr>
                </a:tc>
                <a:tc>
                  <a:txBody>
                    <a:bodyPr/>
                    <a:lstStyle/>
                    <a:p>
                      <a:pPr algn="ctr">
                        <a:defRPr b="1" sz="1200">
                          <a:solidFill>
                            <a:srgbClr val="FFFFFF"/>
                          </a:solidFill>
                          <a:latin typeface="Calibri"/>
                        </a:defRPr>
                      </a:pPr>
                      <a:r>
                        <a:t>Title</a:t>
                      </a:r>
                    </a:p>
                  </a:txBody>
                  <a:tcPr anchor="ctr" marL="73152" marR="73152" marT="36576" marB="36576">
                    <a:solidFill>
                      <a:srgbClr val="009EFF"/>
                    </a:solidFill>
                  </a:tcPr>
                </a:tc>
              </a:tr>
              <a:tr h="125730">
                <a:tc>
                  <a:txBody>
                    <a:bodyPr/>
                    <a:lstStyle/>
                    <a:p>
                      <a:pPr>
                        <a:defRPr sz="1100">
                          <a:solidFill>
                            <a:srgbClr val="B0B8CC"/>
                          </a:solidFill>
                          <a:latin typeface="Calibri"/>
                        </a:defRPr>
                      </a:pPr>
                      <a:r>
                        <a:t>RFC 9171</a:t>
                      </a:r>
                    </a:p>
                  </a:txBody>
                  <a:tcPr anchor="ctr" marL="73152" marR="73152" marT="36576" marB="36576">
                    <a:solidFill>
                      <a:srgbClr val="141B2D"/>
                    </a:solidFill>
                  </a:tcPr>
                </a:tc>
                <a:tc>
                  <a:txBody>
                    <a:bodyPr/>
                    <a:lstStyle/>
                    <a:p>
                      <a:pPr>
                        <a:defRPr sz="1100">
                          <a:solidFill>
                            <a:srgbClr val="B0B8CC"/>
                          </a:solidFill>
                          <a:latin typeface="Calibri"/>
                        </a:defRPr>
                      </a:pPr>
                      <a:r>
                        <a:t>Bundle Protocol v7</a:t>
                      </a:r>
                    </a:p>
                  </a:txBody>
                  <a:tcPr anchor="ctr" marL="73152" marR="73152" marT="36576" marB="36576">
                    <a:solidFill>
                      <a:srgbClr val="141B2D"/>
                    </a:solidFill>
                  </a:tcPr>
                </a:tc>
              </a:tr>
              <a:tr h="125730">
                <a:tc>
                  <a:txBody>
                    <a:bodyPr/>
                    <a:lstStyle/>
                    <a:p>
                      <a:pPr>
                        <a:defRPr sz="1100">
                          <a:solidFill>
                            <a:srgbClr val="B0B8CC"/>
                          </a:solidFill>
                          <a:latin typeface="Calibri"/>
                        </a:defRPr>
                      </a:pPr>
                      <a:r>
                        <a:t>RFC 4838</a:t>
                      </a:r>
                    </a:p>
                  </a:txBody>
                  <a:tcPr anchor="ctr" marL="73152" marR="73152" marT="36576" marB="36576">
                    <a:solidFill>
                      <a:srgbClr val="182236"/>
                    </a:solidFill>
                  </a:tcPr>
                </a:tc>
                <a:tc>
                  <a:txBody>
                    <a:bodyPr/>
                    <a:lstStyle/>
                    <a:p>
                      <a:pPr>
                        <a:defRPr sz="1100">
                          <a:solidFill>
                            <a:srgbClr val="B0B8CC"/>
                          </a:solidFill>
                          <a:latin typeface="Calibri"/>
                        </a:defRPr>
                      </a:pPr>
                      <a:r>
                        <a:t>DTN Architecture</a:t>
                      </a:r>
                    </a:p>
                  </a:txBody>
                  <a:tcPr anchor="ctr" marL="73152" marR="73152" marT="36576" marB="36576">
                    <a:solidFill>
                      <a:srgbClr val="182236"/>
                    </a:solidFill>
                  </a:tcPr>
                </a:tc>
              </a:tr>
              <a:tr h="125730">
                <a:tc>
                  <a:txBody>
                    <a:bodyPr/>
                    <a:lstStyle/>
                    <a:p>
                      <a:pPr>
                        <a:defRPr sz="1100">
                          <a:solidFill>
                            <a:srgbClr val="B0B8CC"/>
                          </a:solidFill>
                          <a:latin typeface="Calibri"/>
                        </a:defRPr>
                      </a:pPr>
                      <a:r>
                        <a:t>RFC 5326</a:t>
                      </a:r>
                    </a:p>
                  </a:txBody>
                  <a:tcPr anchor="ctr" marL="73152" marR="73152" marT="36576" marB="36576">
                    <a:solidFill>
                      <a:srgbClr val="141B2D"/>
                    </a:solidFill>
                  </a:tcPr>
                </a:tc>
                <a:tc>
                  <a:txBody>
                    <a:bodyPr/>
                    <a:lstStyle/>
                    <a:p>
                      <a:pPr>
                        <a:defRPr sz="1100">
                          <a:solidFill>
                            <a:srgbClr val="B0B8CC"/>
                          </a:solidFill>
                          <a:latin typeface="Calibri"/>
                        </a:defRPr>
                      </a:pPr>
                      <a:r>
                        <a:t>LTP (deep space)</a:t>
                      </a:r>
                    </a:p>
                  </a:txBody>
                  <a:tcPr anchor="ctr" marL="73152" marR="73152" marT="36576" marB="36576">
                    <a:solidFill>
                      <a:srgbClr val="141B2D"/>
                    </a:solidFill>
                  </a:tcPr>
                </a:tc>
              </a:tr>
              <a:tr h="125730">
                <a:tc>
                  <a:txBody>
                    <a:bodyPr/>
                    <a:lstStyle/>
                    <a:p>
                      <a:pPr>
                        <a:defRPr sz="1100">
                          <a:solidFill>
                            <a:srgbClr val="B0B8CC"/>
                          </a:solidFill>
                          <a:latin typeface="Calibri"/>
                        </a:defRPr>
                      </a:pPr>
                      <a:r>
                        <a:t>RFC 9172</a:t>
                      </a:r>
                    </a:p>
                  </a:txBody>
                  <a:tcPr anchor="ctr" marL="73152" marR="73152" marT="36576" marB="36576">
                    <a:solidFill>
                      <a:srgbClr val="182236"/>
                    </a:solidFill>
                  </a:tcPr>
                </a:tc>
                <a:tc>
                  <a:txBody>
                    <a:bodyPr/>
                    <a:lstStyle/>
                    <a:p>
                      <a:pPr>
                        <a:defRPr sz="1100">
                          <a:solidFill>
                            <a:srgbClr val="B0B8CC"/>
                          </a:solidFill>
                          <a:latin typeface="Calibri"/>
                        </a:defRPr>
                      </a:pPr>
                      <a:r>
                        <a:t>BPSec (security)</a:t>
                      </a:r>
                    </a:p>
                  </a:txBody>
                  <a:tcPr anchor="ctr" marL="73152" marR="73152" marT="36576" marB="36576">
                    <a:solidFill>
                      <a:srgbClr val="182236"/>
                    </a:solidFill>
                  </a:tcPr>
                </a:tc>
              </a:tr>
              <a:tr h="125730">
                <a:tc>
                  <a:txBody>
                    <a:bodyPr/>
                    <a:lstStyle/>
                    <a:p>
                      <a:pPr>
                        <a:defRPr sz="1100">
                          <a:solidFill>
                            <a:srgbClr val="B0B8CC"/>
                          </a:solidFill>
                          <a:latin typeface="Calibri"/>
                        </a:defRPr>
                      </a:pPr>
                      <a:r>
                        <a:t>CCSDS 734.2-B-1</a:t>
                      </a:r>
                    </a:p>
                  </a:txBody>
                  <a:tcPr anchor="ctr" marL="73152" marR="73152" marT="36576" marB="36576">
                    <a:solidFill>
                      <a:srgbClr val="141B2D"/>
                    </a:solidFill>
                  </a:tcPr>
                </a:tc>
                <a:tc>
                  <a:txBody>
                    <a:bodyPr/>
                    <a:lstStyle/>
                    <a:p>
                      <a:pPr>
                        <a:defRPr sz="1100">
                          <a:solidFill>
                            <a:srgbClr val="B0B8CC"/>
                          </a:solidFill>
                          <a:latin typeface="Calibri"/>
                        </a:defRPr>
                      </a:pPr>
                      <a:r>
                        <a:t>CCSDS Bundle Protocol</a:t>
                      </a:r>
                    </a:p>
                  </a:txBody>
                  <a:tcPr anchor="ctr" marL="73152" marR="73152" marT="36576" marB="36576">
                    <a:solidFill>
                      <a:srgbClr val="141B2D"/>
                    </a:solidFill>
                  </a:tcPr>
                </a:tc>
              </a:tr>
              <a:tr h="125730">
                <a:tc>
                  <a:txBody>
                    <a:bodyPr/>
                    <a:lstStyle/>
                    <a:p>
                      <a:pPr>
                        <a:defRPr sz="1100">
                          <a:solidFill>
                            <a:srgbClr val="B0B8CC"/>
                          </a:solidFill>
                          <a:latin typeface="Calibri"/>
                        </a:defRPr>
                      </a:pPr>
                      <a:r>
                        <a:t>CCSDS 734.3-B-1</a:t>
                      </a:r>
                    </a:p>
                  </a:txBody>
                  <a:tcPr anchor="ctr" marL="73152" marR="73152" marT="36576" marB="36576">
                    <a:solidFill>
                      <a:srgbClr val="182236"/>
                    </a:solidFill>
                  </a:tcPr>
                </a:tc>
                <a:tc>
                  <a:txBody>
                    <a:bodyPr/>
                    <a:lstStyle/>
                    <a:p>
                      <a:pPr>
                        <a:defRPr sz="1100">
                          <a:solidFill>
                            <a:srgbClr val="B0B8CC"/>
                          </a:solidFill>
                          <a:latin typeface="Calibri"/>
                        </a:defRPr>
                      </a:pPr>
                      <a:r>
                        <a:t>SABR (contact routing)</a:t>
                      </a:r>
                    </a:p>
                  </a:txBody>
                  <a:tcPr anchor="ctr" marL="73152" marR="73152" marT="36576" marB="36576">
                    <a:solidFill>
                      <a:srgbClr val="182236"/>
                    </a:solidFill>
                  </a:tcPr>
                </a:tc>
              </a:tr>
              <a:tr h="125730">
                <a:tc>
                  <a:txBody>
                    <a:bodyPr/>
                    <a:lstStyle/>
                    <a:p>
                      <a:pPr>
                        <a:defRPr sz="1100">
                          <a:solidFill>
                            <a:srgbClr val="B0B8CC"/>
                          </a:solidFill>
                          <a:latin typeface="Calibri"/>
                        </a:defRPr>
                      </a:pPr>
                      <a:r>
                        <a:t>CCSDS 141.0-B-1</a:t>
                      </a:r>
                    </a:p>
                  </a:txBody>
                  <a:tcPr anchor="ctr" marL="73152" marR="73152" marT="36576" marB="36576">
                    <a:solidFill>
                      <a:srgbClr val="141B2D"/>
                    </a:solidFill>
                  </a:tcPr>
                </a:tc>
                <a:tc>
                  <a:txBody>
                    <a:bodyPr/>
                    <a:lstStyle/>
                    <a:p>
                      <a:pPr>
                        <a:defRPr sz="1100">
                          <a:solidFill>
                            <a:srgbClr val="B0B8CC"/>
                          </a:solidFill>
                          <a:latin typeface="Calibri"/>
                        </a:defRPr>
                      </a:pPr>
                      <a:r>
                        <a:t>Optical comms phys.</a:t>
                      </a:r>
                    </a:p>
                  </a:txBody>
                  <a:tcPr anchor="ctr" marL="73152" marR="73152" marT="36576" marB="36576">
                    <a:solidFill>
                      <a:srgbClr val="141B2D"/>
                    </a:solidFill>
                  </a:tcPr>
                </a:tc>
              </a:tr>
            </a:tbl>
          </a:graphicData>
        </a:graphic>
      </p:graphicFrame>
      <p:sp>
        <p:nvSpPr>
          <p:cNvPr id="11" name="TextBox 10"/>
          <p:cNvSpPr txBox="1"/>
          <p:nvPr/>
        </p:nvSpPr>
        <p:spPr>
          <a:xfrm>
            <a:off x="457200" y="6400800"/>
            <a:ext cx="4572000" cy="365760"/>
          </a:xfrm>
          <a:prstGeom prst="rect">
            <a:avLst/>
          </a:prstGeom>
          <a:noFill/>
        </p:spPr>
        <p:txBody>
          <a:bodyPr wrap="square">
            <a:spAutoFit/>
          </a:bodyPr>
          <a:lstStyle/>
          <a:p>
            <a:pPr algn="l">
              <a:defRPr sz="1000" b="0">
                <a:solidFill>
                  <a:srgbClr val="6B7B96"/>
                </a:solidFill>
                <a:latin typeface="Calibri"/>
              </a:defRPr>
            </a:pPr>
            <a:r>
              <a:t>AETHERIX — Interplanetary Communication Network</a:t>
            </a:r>
          </a:p>
        </p:txBody>
      </p:sp>
      <p:sp>
        <p:nvSpPr>
          <p:cNvPr id="12" name="TextBox 11"/>
          <p:cNvSpPr txBox="1"/>
          <p:nvPr/>
        </p:nvSpPr>
        <p:spPr>
          <a:xfrm>
            <a:off x="10058400" y="6400800"/>
            <a:ext cx="1828800" cy="365760"/>
          </a:xfrm>
          <a:prstGeom prst="rect">
            <a:avLst/>
          </a:prstGeom>
          <a:noFill/>
        </p:spPr>
        <p:txBody>
          <a:bodyPr wrap="square">
            <a:spAutoFit/>
          </a:bodyPr>
          <a:lstStyle/>
          <a:p>
            <a:pPr algn="r">
              <a:defRPr sz="1000" b="0">
                <a:solidFill>
                  <a:srgbClr val="6B7B96"/>
                </a:solidFill>
                <a:latin typeface="Calibri"/>
              </a:defRPr>
            </a:pPr>
            <a:r>
              <a:t>41 / 46</a:t>
            </a:r>
          </a:p>
        </p:txBody>
      </p:sp>
    </p:spTree>
  </p:cSld>
  <p:transition spd="med" advClick="1">
    <p:push dir="l"/>
  </p:transition>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B0E1A"/>
        </a:solidFill>
        <a:effectLst/>
      </p:bgPr>
    </p:bg>
    <p:spTree>
      <p:nvGrpSpPr>
        <p:cNvPr id="1" name=""/>
        <p:cNvGrpSpPr/>
        <p:nvPr/>
      </p:nvGrpSpPr>
      <p:grpSpPr/>
      <p:sp>
        <p:nvSpPr>
          <p:cNvPr id="2" name="TextBox 1"/>
          <p:cNvSpPr txBox="1"/>
          <p:nvPr/>
        </p:nvSpPr>
        <p:spPr>
          <a:xfrm>
            <a:off x="640080" y="274320"/>
            <a:ext cx="10058400" cy="640080"/>
          </a:xfrm>
          <a:prstGeom prst="rect">
            <a:avLst/>
          </a:prstGeom>
          <a:noFill/>
        </p:spPr>
        <p:txBody>
          <a:bodyPr wrap="square">
            <a:spAutoFit/>
          </a:bodyPr>
          <a:lstStyle/>
          <a:p>
            <a:pPr algn="l">
              <a:defRPr sz="3200" b="1">
                <a:solidFill>
                  <a:srgbClr val="FFFFFF"/>
                </a:solidFill>
                <a:latin typeface="Calibri"/>
              </a:defRPr>
            </a:pPr>
            <a:r>
              <a:t>BANDWIDTH EVOLUTION</a:t>
            </a:r>
          </a:p>
        </p:txBody>
      </p:sp>
      <p:sp>
        <p:nvSpPr>
          <p:cNvPr id="3" name="TextBox 2"/>
          <p:cNvSpPr txBox="1"/>
          <p:nvPr/>
        </p:nvSpPr>
        <p:spPr>
          <a:xfrm>
            <a:off x="640080" y="822960"/>
            <a:ext cx="10058400" cy="365760"/>
          </a:xfrm>
          <a:prstGeom prst="rect">
            <a:avLst/>
          </a:prstGeom>
          <a:noFill/>
        </p:spPr>
        <p:txBody>
          <a:bodyPr wrap="square">
            <a:spAutoFit/>
          </a:bodyPr>
          <a:lstStyle/>
          <a:p>
            <a:pPr algn="l">
              <a:defRPr sz="1600" b="0">
                <a:solidFill>
                  <a:srgbClr val="00D4AA"/>
                </a:solidFill>
                <a:latin typeface="Calibri"/>
              </a:defRPr>
            </a:pPr>
            <a:r>
              <a:t>Deep-Space Communications Timeline</a:t>
            </a:r>
          </a:p>
        </p:txBody>
      </p:sp>
      <p:sp>
        <p:nvSpPr>
          <p:cNvPr id="4" name="Rectangle 3"/>
          <p:cNvSpPr/>
          <p:nvPr/>
        </p:nvSpPr>
        <p:spPr>
          <a:xfrm>
            <a:off x="640080" y="1234440"/>
            <a:ext cx="2286000" cy="381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bandwidth_evolution.png"/>
          <p:cNvPicPr>
            <a:picLocks noChangeAspect="1"/>
          </p:cNvPicPr>
          <p:nvPr/>
        </p:nvPicPr>
        <p:blipFill>
          <a:blip r:embed="rId2"/>
          <a:stretch>
            <a:fillRect/>
          </a:stretch>
        </p:blipFill>
        <p:spPr>
          <a:xfrm>
            <a:off x="640080" y="1371600"/>
            <a:ext cx="6400800" cy="4114800"/>
          </a:xfrm>
          <a:prstGeom prst="rect">
            <a:avLst/>
          </a:prstGeom>
        </p:spPr>
      </p:pic>
      <p:sp>
        <p:nvSpPr>
          <p:cNvPr id="6" name="TextBox 5"/>
          <p:cNvSpPr txBox="1"/>
          <p:nvPr/>
        </p:nvSpPr>
        <p:spPr>
          <a:xfrm>
            <a:off x="640080" y="5669280"/>
            <a:ext cx="10058400" cy="274320"/>
          </a:xfrm>
          <a:prstGeom prst="rect">
            <a:avLst/>
          </a:prstGeom>
          <a:noFill/>
        </p:spPr>
        <p:txBody>
          <a:bodyPr wrap="square">
            <a:spAutoFit/>
          </a:bodyPr>
          <a:lstStyle/>
          <a:p>
            <a:pPr algn="ctr">
              <a:defRPr sz="1000" b="0">
                <a:solidFill>
                  <a:srgbClr val="6B7B96"/>
                </a:solidFill>
                <a:latin typeface="Calibri"/>
              </a:defRPr>
            </a:pPr>
            <a:r>
              <a:t>Optical communications represent the next leap in deep-space data rates</a:t>
            </a:r>
          </a:p>
        </p:txBody>
      </p:sp>
      <p:sp>
        <p:nvSpPr>
          <p:cNvPr id="7" name="TextBox 6"/>
          <p:cNvSpPr txBox="1"/>
          <p:nvPr/>
        </p:nvSpPr>
        <p:spPr>
          <a:xfrm>
            <a:off x="457200" y="6400800"/>
            <a:ext cx="4572000" cy="365760"/>
          </a:xfrm>
          <a:prstGeom prst="rect">
            <a:avLst/>
          </a:prstGeom>
          <a:noFill/>
        </p:spPr>
        <p:txBody>
          <a:bodyPr wrap="square">
            <a:spAutoFit/>
          </a:bodyPr>
          <a:lstStyle/>
          <a:p>
            <a:pPr algn="l">
              <a:defRPr sz="1000" b="0">
                <a:solidFill>
                  <a:srgbClr val="6B7B96"/>
                </a:solidFill>
                <a:latin typeface="Calibri"/>
              </a:defRPr>
            </a:pPr>
            <a:r>
              <a:t>AETHERIX — Interplanetary Communication Network</a:t>
            </a:r>
          </a:p>
        </p:txBody>
      </p:sp>
      <p:sp>
        <p:nvSpPr>
          <p:cNvPr id="8" name="TextBox 7"/>
          <p:cNvSpPr txBox="1"/>
          <p:nvPr/>
        </p:nvSpPr>
        <p:spPr>
          <a:xfrm>
            <a:off x="10058400" y="6400800"/>
            <a:ext cx="1828800" cy="365760"/>
          </a:xfrm>
          <a:prstGeom prst="rect">
            <a:avLst/>
          </a:prstGeom>
          <a:noFill/>
        </p:spPr>
        <p:txBody>
          <a:bodyPr wrap="square">
            <a:spAutoFit/>
          </a:bodyPr>
          <a:lstStyle/>
          <a:p>
            <a:pPr algn="r">
              <a:defRPr sz="1000" b="0">
                <a:solidFill>
                  <a:srgbClr val="6B7B96"/>
                </a:solidFill>
                <a:latin typeface="Calibri"/>
              </a:defRPr>
            </a:pPr>
            <a:r>
              <a:t>42 / 46</a:t>
            </a:r>
          </a:p>
        </p:txBody>
      </p:sp>
    </p:spTree>
  </p:cSld>
  <p:transition spd="med" advClick="1">
    <p:fade/>
  </p:transition>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B0E1A"/>
        </a:solidFill>
        <a:effectLst/>
      </p:bgPr>
    </p:bg>
    <p:spTree>
      <p:nvGrpSpPr>
        <p:cNvPr id="1" name=""/>
        <p:cNvGrpSpPr/>
        <p:nvPr/>
      </p:nvGrpSpPr>
      <p:grpSpPr/>
      <p:sp>
        <p:nvSpPr>
          <p:cNvPr id="2" name="TextBox 1"/>
          <p:cNvSpPr txBox="1"/>
          <p:nvPr/>
        </p:nvSpPr>
        <p:spPr>
          <a:xfrm>
            <a:off x="640080" y="274320"/>
            <a:ext cx="10058400" cy="640080"/>
          </a:xfrm>
          <a:prstGeom prst="rect">
            <a:avLst/>
          </a:prstGeom>
          <a:noFill/>
        </p:spPr>
        <p:txBody>
          <a:bodyPr wrap="square">
            <a:spAutoFit/>
          </a:bodyPr>
          <a:lstStyle/>
          <a:p>
            <a:pPr algn="l">
              <a:defRPr sz="3200" b="1">
                <a:solidFill>
                  <a:srgbClr val="FFFFFF"/>
                </a:solidFill>
                <a:latin typeface="Calibri"/>
              </a:defRPr>
            </a:pPr>
            <a:r>
              <a:t>MISSION TIMELINE</a:t>
            </a:r>
          </a:p>
        </p:txBody>
      </p:sp>
      <p:sp>
        <p:nvSpPr>
          <p:cNvPr id="3" name="TextBox 2"/>
          <p:cNvSpPr txBox="1"/>
          <p:nvPr/>
        </p:nvSpPr>
        <p:spPr>
          <a:xfrm>
            <a:off x="640080" y="822960"/>
            <a:ext cx="10058400" cy="365760"/>
          </a:xfrm>
          <a:prstGeom prst="rect">
            <a:avLst/>
          </a:prstGeom>
          <a:noFill/>
        </p:spPr>
        <p:txBody>
          <a:bodyPr wrap="square">
            <a:spAutoFit/>
          </a:bodyPr>
          <a:lstStyle/>
          <a:p>
            <a:pPr algn="l">
              <a:defRPr sz="1600" b="0">
                <a:solidFill>
                  <a:srgbClr val="2ECC71"/>
                </a:solidFill>
                <a:latin typeface="Calibri"/>
              </a:defRPr>
            </a:pPr>
            <a:r>
              <a:t>Deployment Roadmap</a:t>
            </a:r>
          </a:p>
        </p:txBody>
      </p:sp>
      <p:sp>
        <p:nvSpPr>
          <p:cNvPr id="4" name="Rectangle 3"/>
          <p:cNvSpPr/>
          <p:nvPr/>
        </p:nvSpPr>
        <p:spPr>
          <a:xfrm>
            <a:off x="640080" y="1234440"/>
            <a:ext cx="2286000" cy="38100"/>
          </a:xfrm>
          <a:prstGeom prst="rect">
            <a:avLst/>
          </a:prstGeom>
          <a:solidFill>
            <a:srgbClr val="2EC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mission_timeline.png"/>
          <p:cNvPicPr>
            <a:picLocks noChangeAspect="1"/>
          </p:cNvPicPr>
          <p:nvPr/>
        </p:nvPicPr>
        <p:blipFill>
          <a:blip r:embed="rId2"/>
          <a:stretch>
            <a:fillRect/>
          </a:stretch>
        </p:blipFill>
        <p:spPr>
          <a:xfrm>
            <a:off x="640080" y="1371600"/>
            <a:ext cx="6400800" cy="4114800"/>
          </a:xfrm>
          <a:prstGeom prst="rect">
            <a:avLst/>
          </a:prstGeom>
        </p:spPr>
      </p:pic>
      <p:sp>
        <p:nvSpPr>
          <p:cNvPr id="6" name="TextBox 5"/>
          <p:cNvSpPr txBox="1"/>
          <p:nvPr/>
        </p:nvSpPr>
        <p:spPr>
          <a:xfrm>
            <a:off x="640080" y="5669280"/>
            <a:ext cx="10058400" cy="274320"/>
          </a:xfrm>
          <a:prstGeom prst="rect">
            <a:avLst/>
          </a:prstGeom>
          <a:noFill/>
        </p:spPr>
        <p:txBody>
          <a:bodyPr wrap="square">
            <a:spAutoFit/>
          </a:bodyPr>
          <a:lstStyle/>
          <a:p>
            <a:pPr algn="ctr">
              <a:defRPr sz="1000" b="0">
                <a:solidFill>
                  <a:srgbClr val="6B7B96"/>
                </a:solidFill>
                <a:latin typeface="Calibri"/>
              </a:defRPr>
            </a:pPr>
            <a:r>
              <a:t>Phases 1-4 are complete — Phase 5 targets ns-3 integration</a:t>
            </a:r>
          </a:p>
        </p:txBody>
      </p:sp>
      <p:sp>
        <p:nvSpPr>
          <p:cNvPr id="7" name="TextBox 6"/>
          <p:cNvSpPr txBox="1"/>
          <p:nvPr/>
        </p:nvSpPr>
        <p:spPr>
          <a:xfrm>
            <a:off x="457200" y="6400800"/>
            <a:ext cx="4572000" cy="365760"/>
          </a:xfrm>
          <a:prstGeom prst="rect">
            <a:avLst/>
          </a:prstGeom>
          <a:noFill/>
        </p:spPr>
        <p:txBody>
          <a:bodyPr wrap="square">
            <a:spAutoFit/>
          </a:bodyPr>
          <a:lstStyle/>
          <a:p>
            <a:pPr algn="l">
              <a:defRPr sz="1000" b="0">
                <a:solidFill>
                  <a:srgbClr val="6B7B96"/>
                </a:solidFill>
                <a:latin typeface="Calibri"/>
              </a:defRPr>
            </a:pPr>
            <a:r>
              <a:t>AETHERIX — Interplanetary Communication Network</a:t>
            </a:r>
          </a:p>
        </p:txBody>
      </p:sp>
      <p:sp>
        <p:nvSpPr>
          <p:cNvPr id="8" name="TextBox 7"/>
          <p:cNvSpPr txBox="1"/>
          <p:nvPr/>
        </p:nvSpPr>
        <p:spPr>
          <a:xfrm>
            <a:off x="10058400" y="6400800"/>
            <a:ext cx="1828800" cy="365760"/>
          </a:xfrm>
          <a:prstGeom prst="rect">
            <a:avLst/>
          </a:prstGeom>
          <a:noFill/>
        </p:spPr>
        <p:txBody>
          <a:bodyPr wrap="square">
            <a:spAutoFit/>
          </a:bodyPr>
          <a:lstStyle/>
          <a:p>
            <a:pPr algn="r">
              <a:defRPr sz="1000" b="0">
                <a:solidFill>
                  <a:srgbClr val="6B7B96"/>
                </a:solidFill>
                <a:latin typeface="Calibri"/>
              </a:defRPr>
            </a:pPr>
            <a:r>
              <a:t>43 / 46</a:t>
            </a:r>
          </a:p>
        </p:txBody>
      </p:sp>
    </p:spTree>
  </p:cSld>
  <p:transition spd="med" advClick="1">
    <p:fade/>
  </p:transition>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B0E1A"/>
        </a:solidFill>
        <a:effectLst/>
      </p:bgPr>
    </p:bg>
    <p:spTree>
      <p:nvGrpSpPr>
        <p:cNvPr id="1" name=""/>
        <p:cNvGrpSpPr/>
        <p:nvPr/>
      </p:nvGrpSpPr>
      <p:grpSpPr/>
      <p:sp>
        <p:nvSpPr>
          <p:cNvPr id="2" name="TextBox 1"/>
          <p:cNvSpPr txBox="1"/>
          <p:nvPr/>
        </p:nvSpPr>
        <p:spPr>
          <a:xfrm>
            <a:off x="548640" y="365760"/>
            <a:ext cx="8229600" cy="548640"/>
          </a:xfrm>
          <a:prstGeom prst="rect">
            <a:avLst/>
          </a:prstGeom>
          <a:noFill/>
        </p:spPr>
        <p:txBody>
          <a:bodyPr wrap="none">
            <a:spAutoFit/>
          </a:bodyPr>
          <a:lstStyle/>
          <a:p>
            <a:pPr algn="l">
              <a:defRPr sz="2800" b="1">
                <a:solidFill>
                  <a:srgbClr val="FFFFFF"/>
                </a:solidFill>
              </a:defRPr>
            </a:pPr>
            <a:r>
              <a:t>ROADMAP</a:t>
            </a:r>
          </a:p>
        </p:txBody>
      </p:sp>
      <p:sp>
        <p:nvSpPr>
          <p:cNvPr id="3" name="TextBox 2"/>
          <p:cNvSpPr txBox="1"/>
          <p:nvPr/>
        </p:nvSpPr>
        <p:spPr>
          <a:xfrm>
            <a:off x="548640" y="868680"/>
            <a:ext cx="8229600" cy="365760"/>
          </a:xfrm>
          <a:prstGeom prst="rect">
            <a:avLst/>
          </a:prstGeom>
          <a:noFill/>
        </p:spPr>
        <p:txBody>
          <a:bodyPr wrap="none">
            <a:spAutoFit/>
          </a:bodyPr>
          <a:lstStyle/>
          <a:p>
            <a:pPr algn="l">
              <a:defRPr sz="1400">
                <a:solidFill>
                  <a:srgbClr val="00D4AA"/>
                </a:solidFill>
              </a:defRPr>
            </a:pPr>
            <a:r>
              <a:t>From Demo to Deployment</a:t>
            </a:r>
          </a:p>
        </p:txBody>
      </p:sp>
      <p:sp>
        <p:nvSpPr>
          <p:cNvPr id="4" name="Rounded Rectangle 3"/>
          <p:cNvSpPr/>
          <p:nvPr/>
        </p:nvSpPr>
        <p:spPr>
          <a:xfrm>
            <a:off x="457200" y="1417320"/>
            <a:ext cx="4206240" cy="640080"/>
          </a:xfrm>
          <a:prstGeom prst="roundRect">
            <a:avLst/>
          </a:prstGeom>
          <a:solidFill>
            <a:srgbClr val="141B2D"/>
          </a:solidFill>
          <a:ln w="25400">
            <a:solidFill>
              <a:srgbClr val="2ECC71"/>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defRPr sz="1200" b="1">
                <a:solidFill>
                  <a:srgbClr val="2ECC71"/>
                </a:solidFill>
                <a:latin typeface="Calibri"/>
              </a:defRPr>
            </a:pPr>
            <a:r>
              <a:t>Phase 1-4  ✓ Complete</a:t>
            </a:r>
          </a:p>
          <a:p>
            <a:pPr>
              <a:defRPr sz="900">
                <a:solidFill>
                  <a:srgbClr val="B0B8CC"/>
                </a:solidFill>
              </a:defRPr>
            </a:pPr>
            <a:r>
              <a:t>Topology • RL • QKD • Web UI • 189 tests</a:t>
            </a:r>
          </a:p>
        </p:txBody>
      </p:sp>
      <p:sp>
        <p:nvSpPr>
          <p:cNvPr id="5" name="Rectangle 4"/>
          <p:cNvSpPr/>
          <p:nvPr/>
        </p:nvSpPr>
        <p:spPr>
          <a:xfrm>
            <a:off x="365760" y="365760"/>
            <a:ext cx="73152" cy="182880"/>
          </a:xfrm>
          <a:prstGeom prst="rect">
            <a:avLst/>
          </a:prstGeom>
          <a:solidFill>
            <a:srgbClr val="2EC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57200" y="2194560"/>
            <a:ext cx="4206240" cy="640080"/>
          </a:xfrm>
          <a:prstGeom prst="roundRect">
            <a:avLst/>
          </a:prstGeom>
          <a:solidFill>
            <a:srgbClr val="141B2D"/>
          </a:solidFill>
          <a:ln w="25400">
            <a:solidFill>
              <a:srgbClr val="009EFF"/>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defRPr sz="1200" b="1">
                <a:solidFill>
                  <a:srgbClr val="009EFF"/>
                </a:solidFill>
                <a:latin typeface="Calibri"/>
              </a:defRPr>
            </a:pPr>
            <a:r>
              <a:t>Phase 5  Network Sim</a:t>
            </a:r>
          </a:p>
          <a:p>
            <a:pPr>
              <a:defRPr sz="900">
                <a:solidFill>
                  <a:srgbClr val="B0B8CC"/>
                </a:solidFill>
              </a:defRPr>
            </a:pPr>
            <a:r>
              <a:t>ns-3 integration, realistic channel models</a:t>
            </a:r>
          </a:p>
        </p:txBody>
      </p:sp>
      <p:sp>
        <p:nvSpPr>
          <p:cNvPr id="7" name="Rectangle 6"/>
          <p:cNvSpPr/>
          <p:nvPr/>
        </p:nvSpPr>
        <p:spPr>
          <a:xfrm>
            <a:off x="365760" y="365760"/>
            <a:ext cx="73152" cy="182880"/>
          </a:xfrm>
          <a:prstGeom prst="rect">
            <a:avLst/>
          </a:prstGeom>
          <a:solidFill>
            <a:srgbClr val="00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57200" y="2971800"/>
            <a:ext cx="4206240" cy="640080"/>
          </a:xfrm>
          <a:prstGeom prst="roundRect">
            <a:avLst/>
          </a:prstGeom>
          <a:solidFill>
            <a:srgbClr val="141B2D"/>
          </a:solidFill>
          <a:ln w="254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defRPr sz="1200" b="1">
                <a:solidFill>
                  <a:srgbClr val="8B5CF6"/>
                </a:solidFill>
                <a:latin typeface="Calibri"/>
              </a:defRPr>
            </a:pPr>
            <a:r>
              <a:t>Phase 6  Production</a:t>
            </a:r>
          </a:p>
          <a:p>
            <a:pPr>
              <a:defRPr sz="900">
                <a:solidFill>
                  <a:srgbClr val="B0B8CC"/>
                </a:solidFill>
              </a:defRPr>
            </a:pPr>
            <a:r>
              <a:t>DQN agent, ION-DTN stack, hardware-in-loop</a:t>
            </a:r>
          </a:p>
        </p:txBody>
      </p:sp>
      <p:sp>
        <p:nvSpPr>
          <p:cNvPr id="9" name="Rectangle 8"/>
          <p:cNvSpPr/>
          <p:nvPr/>
        </p:nvSpPr>
        <p:spPr>
          <a:xfrm>
            <a:off x="365760" y="365760"/>
            <a:ext cx="73152" cy="18288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57200" y="3749040"/>
            <a:ext cx="4206240" cy="640080"/>
          </a:xfrm>
          <a:prstGeom prst="roundRect">
            <a:avLst/>
          </a:prstGeom>
          <a:solidFill>
            <a:srgbClr val="141B2D"/>
          </a:solidFill>
          <a:ln w="25400">
            <a:solidFill>
              <a:srgbClr val="FF8C00"/>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defRPr sz="1200" b="1">
                <a:solidFill>
                  <a:srgbClr val="FF8C00"/>
                </a:solidFill>
                <a:latin typeface="Calibri"/>
              </a:defRPr>
            </a:pPr>
            <a:r>
              <a:t>Phase 7  Hardware</a:t>
            </a:r>
          </a:p>
          <a:p>
            <a:pPr>
              <a:defRPr sz="900">
                <a:solidFill>
                  <a:srgbClr val="B0B8CC"/>
                </a:solidFill>
              </a:defRPr>
            </a:pPr>
            <a:r>
              <a:t>SDR prototyping, optical ground station demo</a:t>
            </a:r>
          </a:p>
        </p:txBody>
      </p:sp>
      <p:sp>
        <p:nvSpPr>
          <p:cNvPr id="11" name="Rectangle 10"/>
          <p:cNvSpPr/>
          <p:nvPr/>
        </p:nvSpPr>
        <p:spPr>
          <a:xfrm>
            <a:off x="365760" y="365760"/>
            <a:ext cx="73152" cy="182880"/>
          </a:xfrm>
          <a:prstGeom prst="rect">
            <a:avLst/>
          </a:prstGeom>
          <a:solidFill>
            <a:srgbClr val="FF8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400800"/>
            <a:ext cx="4572000" cy="365760"/>
          </a:xfrm>
          <a:prstGeom prst="rect">
            <a:avLst/>
          </a:prstGeom>
          <a:noFill/>
        </p:spPr>
        <p:txBody>
          <a:bodyPr wrap="square">
            <a:spAutoFit/>
          </a:bodyPr>
          <a:lstStyle/>
          <a:p>
            <a:pPr algn="l">
              <a:defRPr sz="1000" b="0">
                <a:solidFill>
                  <a:srgbClr val="6B7B96"/>
                </a:solidFill>
                <a:latin typeface="Calibri"/>
              </a:defRPr>
            </a:pPr>
            <a:r>
              <a:t>AETHERIX — Interplanetary Communication Network</a:t>
            </a:r>
          </a:p>
        </p:txBody>
      </p:sp>
      <p:sp>
        <p:nvSpPr>
          <p:cNvPr id="13" name="TextBox 12"/>
          <p:cNvSpPr txBox="1"/>
          <p:nvPr/>
        </p:nvSpPr>
        <p:spPr>
          <a:xfrm>
            <a:off x="10058400" y="6400800"/>
            <a:ext cx="1828800" cy="365760"/>
          </a:xfrm>
          <a:prstGeom prst="rect">
            <a:avLst/>
          </a:prstGeom>
          <a:noFill/>
        </p:spPr>
        <p:txBody>
          <a:bodyPr wrap="square">
            <a:spAutoFit/>
          </a:bodyPr>
          <a:lstStyle/>
          <a:p>
            <a:pPr algn="r">
              <a:defRPr sz="1000" b="0">
                <a:solidFill>
                  <a:srgbClr val="6B7B96"/>
                </a:solidFill>
                <a:latin typeface="Calibri"/>
              </a:defRPr>
            </a:pPr>
            <a:r>
              <a:t>44 / 46</a:t>
            </a:r>
          </a:p>
        </p:txBody>
      </p:sp>
    </p:spTree>
  </p:cSld>
  <p:transition spd="med" advClick="1">
    <p:wipe dir="d"/>
  </p:transition>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B0E1A"/>
        </a:solidFill>
        <a:effectLst/>
      </p:bgPr>
    </p:bg>
    <p:spTree>
      <p:nvGrpSpPr>
        <p:cNvPr id="1" name=""/>
        <p:cNvGrpSpPr/>
        <p:nvPr/>
      </p:nvGrpSpPr>
      <p:grpSpPr/>
      <p:sp>
        <p:nvSpPr>
          <p:cNvPr id="2" name="TextBox 1"/>
          <p:cNvSpPr txBox="1"/>
          <p:nvPr/>
        </p:nvSpPr>
        <p:spPr>
          <a:xfrm>
            <a:off x="548640" y="365760"/>
            <a:ext cx="8229600" cy="548640"/>
          </a:xfrm>
          <a:prstGeom prst="rect">
            <a:avLst/>
          </a:prstGeom>
          <a:noFill/>
        </p:spPr>
        <p:txBody>
          <a:bodyPr wrap="none">
            <a:spAutoFit/>
          </a:bodyPr>
          <a:lstStyle/>
          <a:p>
            <a:pPr algn="l">
              <a:defRPr sz="2800" b="1">
                <a:solidFill>
                  <a:srgbClr val="FFFFFF"/>
                </a:solidFill>
              </a:defRPr>
            </a:pPr>
            <a:r>
              <a:t>CONCLUSION</a:t>
            </a:r>
          </a:p>
        </p:txBody>
      </p:sp>
      <p:sp>
        <p:nvSpPr>
          <p:cNvPr id="3" name="TextBox 2"/>
          <p:cNvSpPr txBox="1"/>
          <p:nvPr/>
        </p:nvSpPr>
        <p:spPr>
          <a:xfrm>
            <a:off x="548640" y="868680"/>
            <a:ext cx="8229600" cy="365760"/>
          </a:xfrm>
          <a:prstGeom prst="rect">
            <a:avLst/>
          </a:prstGeom>
          <a:noFill/>
        </p:spPr>
        <p:txBody>
          <a:bodyPr wrap="none">
            <a:spAutoFit/>
          </a:bodyPr>
          <a:lstStyle/>
          <a:p>
            <a:pPr algn="l">
              <a:defRPr sz="1400">
                <a:solidFill>
                  <a:srgbClr val="00D4AA"/>
                </a:solidFill>
              </a:defRPr>
            </a:pPr>
            <a:r>
              <a:t>AETHERIX Delivers</a:t>
            </a:r>
          </a:p>
        </p:txBody>
      </p:sp>
      <p:sp>
        <p:nvSpPr>
          <p:cNvPr id="4" name="Rounded Rectangle 3"/>
          <p:cNvSpPr/>
          <p:nvPr/>
        </p:nvSpPr>
        <p:spPr>
          <a:xfrm>
            <a:off x="457200" y="1463040"/>
            <a:ext cx="3931920" cy="1554480"/>
          </a:xfrm>
          <a:prstGeom prst="roundRect">
            <a:avLst/>
          </a:prstGeom>
          <a:solidFill>
            <a:srgbClr val="141B2D"/>
          </a:solidFill>
          <a:ln w="31750">
            <a:solidFill>
              <a:srgbClr val="FF4D4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spcAft>
                <a:spcPts val="800"/>
              </a:spcAft>
              <a:defRPr sz="1400" b="1">
                <a:solidFill>
                  <a:srgbClr val="FF4D4D"/>
                </a:solidFill>
                <a:latin typeface="Calibri"/>
              </a:defRPr>
            </a:pPr>
            <a:r>
              <a:t>Problem Solved</a:t>
            </a:r>
          </a:p>
          <a:p>
            <a:pPr>
              <a:defRPr sz="1200">
                <a:solidFill>
                  <a:srgbClr val="FFFFFF"/>
                </a:solidFill>
              </a:defRPr>
            </a:pPr>
            <a:r>
              <a:t>TCP/IP can’t work at interplanetary distances</a:t>
            </a:r>
          </a:p>
        </p:txBody>
      </p:sp>
      <p:sp>
        <p:nvSpPr>
          <p:cNvPr id="5" name="Rounded Rectangle 4"/>
          <p:cNvSpPr/>
          <p:nvPr/>
        </p:nvSpPr>
        <p:spPr>
          <a:xfrm>
            <a:off x="4754880" y="1463040"/>
            <a:ext cx="3931920" cy="1554480"/>
          </a:xfrm>
          <a:prstGeom prst="roundRect">
            <a:avLst/>
          </a:prstGeom>
          <a:solidFill>
            <a:srgbClr val="141B2D"/>
          </a:solidFill>
          <a:ln w="31750">
            <a:solidFill>
              <a:srgbClr val="2ECC71"/>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spcAft>
                <a:spcPts val="800"/>
              </a:spcAft>
              <a:defRPr sz="1400" b="1">
                <a:solidFill>
                  <a:srgbClr val="2ECC71"/>
                </a:solidFill>
                <a:latin typeface="Calibri"/>
              </a:defRPr>
            </a:pPr>
            <a:r>
              <a:t>What We Built</a:t>
            </a:r>
          </a:p>
          <a:p>
            <a:pPr>
              <a:defRPr sz="1200">
                <a:solidFill>
                  <a:srgbClr val="FFFFFF"/>
                </a:solidFill>
              </a:defRPr>
            </a:pPr>
            <a:r>
              <a:t>BPv7 • RL Routing • QKD • Optical/RF Hybrid</a:t>
            </a:r>
          </a:p>
        </p:txBody>
      </p:sp>
      <p:sp>
        <p:nvSpPr>
          <p:cNvPr id="6" name="Rounded Rectangle 5"/>
          <p:cNvSpPr/>
          <p:nvPr/>
        </p:nvSpPr>
        <p:spPr>
          <a:xfrm>
            <a:off x="1912467" y="3383280"/>
            <a:ext cx="1920240" cy="1005840"/>
          </a:xfrm>
          <a:prstGeom prst="roundRect">
            <a:avLst/>
          </a:prstGeom>
          <a:solidFill>
            <a:srgbClr val="141B2D"/>
          </a:solidFill>
          <a:ln w="12700">
            <a:solidFill>
              <a:srgbClr val="2ECC7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400" b="1">
                <a:solidFill>
                  <a:srgbClr val="2ECC71"/>
                </a:solidFill>
                <a:latin typeface="Calibri"/>
              </a:defRPr>
            </a:pPr>
            <a:r>
              <a:t>10-100×</a:t>
            </a:r>
          </a:p>
          <a:p>
            <a:pPr algn="ctr">
              <a:spcBef>
                <a:spcPts val="200"/>
              </a:spcBef>
              <a:spcAft>
                <a:spcPts val="400"/>
              </a:spcAft>
              <a:defRPr sz="1000" b="0">
                <a:solidFill>
                  <a:srgbClr val="B0B8CC"/>
                </a:solidFill>
                <a:latin typeface="Calibri"/>
              </a:defRPr>
            </a:pPr>
            <a:r>
              <a:t>Data Rate</a:t>
            </a:r>
          </a:p>
        </p:txBody>
      </p:sp>
      <p:sp>
        <p:nvSpPr>
          <p:cNvPr id="7" name="Rounded Rectangle 6"/>
          <p:cNvSpPr/>
          <p:nvPr/>
        </p:nvSpPr>
        <p:spPr>
          <a:xfrm>
            <a:off x="4061307" y="3383280"/>
            <a:ext cx="1920240" cy="1005840"/>
          </a:xfrm>
          <a:prstGeom prst="roundRect">
            <a:avLst/>
          </a:prstGeom>
          <a:solidFill>
            <a:srgbClr val="141B2D"/>
          </a:solidFill>
          <a:ln w="12700">
            <a:solidFill>
              <a:srgbClr val="009E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400" b="1">
                <a:solidFill>
                  <a:srgbClr val="009EFF"/>
                </a:solidFill>
                <a:latin typeface="Calibri"/>
              </a:defRPr>
            </a:pPr>
            <a:r>
              <a:t>&gt;95%</a:t>
            </a:r>
          </a:p>
          <a:p>
            <a:pPr algn="ctr">
              <a:spcBef>
                <a:spcPts val="200"/>
              </a:spcBef>
              <a:spcAft>
                <a:spcPts val="400"/>
              </a:spcAft>
              <a:defRPr sz="1000" b="0">
                <a:solidFill>
                  <a:srgbClr val="B0B8CC"/>
                </a:solidFill>
                <a:latin typeface="Calibri"/>
              </a:defRPr>
            </a:pPr>
            <a:r>
              <a:t>Availability</a:t>
            </a:r>
          </a:p>
        </p:txBody>
      </p:sp>
      <p:sp>
        <p:nvSpPr>
          <p:cNvPr id="8" name="Rounded Rectangle 7"/>
          <p:cNvSpPr/>
          <p:nvPr/>
        </p:nvSpPr>
        <p:spPr>
          <a:xfrm>
            <a:off x="6210147" y="3383280"/>
            <a:ext cx="1920240" cy="1005840"/>
          </a:xfrm>
          <a:prstGeom prst="roundRect">
            <a:avLst/>
          </a:prstGeom>
          <a:solidFill>
            <a:srgbClr val="141B2D"/>
          </a:solidFill>
          <a:ln w="127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400" b="1">
                <a:solidFill>
                  <a:srgbClr val="8B5CF6"/>
                </a:solidFill>
                <a:latin typeface="Calibri"/>
              </a:defRPr>
            </a:pPr>
            <a:r>
              <a:t>RL</a:t>
            </a:r>
          </a:p>
          <a:p>
            <a:pPr algn="ctr">
              <a:spcBef>
                <a:spcPts val="200"/>
              </a:spcBef>
              <a:spcAft>
                <a:spcPts val="400"/>
              </a:spcAft>
              <a:defRPr sz="1000" b="0">
                <a:solidFill>
                  <a:srgbClr val="B0B8CC"/>
                </a:solidFill>
                <a:latin typeface="Calibri"/>
              </a:defRPr>
            </a:pPr>
            <a:r>
              <a:t>Adaptive Routing</a:t>
            </a:r>
          </a:p>
        </p:txBody>
      </p:sp>
      <p:sp>
        <p:nvSpPr>
          <p:cNvPr id="9" name="Rounded Rectangle 8"/>
          <p:cNvSpPr/>
          <p:nvPr/>
        </p:nvSpPr>
        <p:spPr>
          <a:xfrm>
            <a:off x="8358987" y="3383280"/>
            <a:ext cx="1920240" cy="1005840"/>
          </a:xfrm>
          <a:prstGeom prst="roundRect">
            <a:avLst/>
          </a:prstGeom>
          <a:solidFill>
            <a:srgbClr val="141B2D"/>
          </a:solidFill>
          <a:ln w="12700">
            <a:solidFill>
              <a:srgbClr val="FF8C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400" b="1">
                <a:solidFill>
                  <a:srgbClr val="FF8C00"/>
                </a:solidFill>
                <a:latin typeface="Calibri"/>
              </a:defRPr>
            </a:pPr>
            <a:r>
              <a:t>QKD</a:t>
            </a:r>
          </a:p>
          <a:p>
            <a:pPr algn="ctr">
              <a:spcBef>
                <a:spcPts val="200"/>
              </a:spcBef>
              <a:spcAft>
                <a:spcPts val="400"/>
              </a:spcAft>
              <a:defRPr sz="1000" b="0">
                <a:solidFill>
                  <a:srgbClr val="B0B8CC"/>
                </a:solidFill>
                <a:latin typeface="Calibri"/>
              </a:defRPr>
            </a:pPr>
            <a:r>
              <a:t>Quantum Security</a:t>
            </a:r>
          </a:p>
        </p:txBody>
      </p:sp>
      <p:sp>
        <p:nvSpPr>
          <p:cNvPr id="10" name="TextBox 9"/>
          <p:cNvSpPr txBox="1"/>
          <p:nvPr/>
        </p:nvSpPr>
        <p:spPr>
          <a:xfrm>
            <a:off x="457200" y="6400800"/>
            <a:ext cx="4572000" cy="365760"/>
          </a:xfrm>
          <a:prstGeom prst="rect">
            <a:avLst/>
          </a:prstGeom>
          <a:noFill/>
        </p:spPr>
        <p:txBody>
          <a:bodyPr wrap="square">
            <a:spAutoFit/>
          </a:bodyPr>
          <a:lstStyle/>
          <a:p>
            <a:pPr algn="l">
              <a:defRPr sz="1000" b="0">
                <a:solidFill>
                  <a:srgbClr val="6B7B96"/>
                </a:solidFill>
                <a:latin typeface="Calibri"/>
              </a:defRPr>
            </a:pPr>
            <a:r>
              <a:t>AETHERIX — Interplanetary Communication Network</a:t>
            </a:r>
          </a:p>
        </p:txBody>
      </p:sp>
      <p:sp>
        <p:nvSpPr>
          <p:cNvPr id="11" name="TextBox 10"/>
          <p:cNvSpPr txBox="1"/>
          <p:nvPr/>
        </p:nvSpPr>
        <p:spPr>
          <a:xfrm>
            <a:off x="10058400" y="6400800"/>
            <a:ext cx="1828800" cy="365760"/>
          </a:xfrm>
          <a:prstGeom prst="rect">
            <a:avLst/>
          </a:prstGeom>
          <a:noFill/>
        </p:spPr>
        <p:txBody>
          <a:bodyPr wrap="square">
            <a:spAutoFit/>
          </a:bodyPr>
          <a:lstStyle/>
          <a:p>
            <a:pPr algn="r">
              <a:defRPr sz="1000" b="0">
                <a:solidFill>
                  <a:srgbClr val="6B7B96"/>
                </a:solidFill>
                <a:latin typeface="Calibri"/>
              </a:defRPr>
            </a:pPr>
            <a:r>
              <a:t>45 / 46</a:t>
            </a:r>
          </a:p>
        </p:txBody>
      </p:sp>
    </p:spTree>
  </p:cSld>
  <p:transition spd="med" advClick="1">
    <p:cover dir="l"/>
  </p:transition>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0B0E1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548640"/>
            <a:ext cx="11277295" cy="822960"/>
          </a:xfrm>
          <a:prstGeom prst="rect">
            <a:avLst/>
          </a:prstGeom>
          <a:noFill/>
        </p:spPr>
        <p:txBody>
          <a:bodyPr wrap="none">
            <a:spAutoFit/>
          </a:bodyPr>
          <a:lstStyle/>
          <a:p>
            <a:pPr algn="ctr">
              <a:defRPr sz="6400" b="1">
                <a:solidFill>
                  <a:srgbClr val="FFFFFF"/>
                </a:solidFill>
              </a:defRPr>
            </a:pPr>
            <a:r>
              <a:t>THANK YOU</a:t>
            </a:r>
          </a:p>
        </p:txBody>
      </p:sp>
      <p:sp>
        <p:nvSpPr>
          <p:cNvPr id="4" name="Rectangle 3"/>
          <p:cNvSpPr/>
          <p:nvPr/>
        </p:nvSpPr>
        <p:spPr>
          <a:xfrm>
            <a:off x="3291840" y="1554480"/>
            <a:ext cx="2560320" cy="381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828800"/>
            <a:ext cx="11277295" cy="548640"/>
          </a:xfrm>
          <a:prstGeom prst="rect">
            <a:avLst/>
          </a:prstGeom>
          <a:noFill/>
        </p:spPr>
        <p:txBody>
          <a:bodyPr wrap="none">
            <a:spAutoFit/>
          </a:bodyPr>
          <a:lstStyle/>
          <a:p>
            <a:pPr algn="ctr">
              <a:defRPr sz="3600" b="1">
                <a:solidFill>
                  <a:srgbClr val="00D4AA"/>
                </a:solidFill>
              </a:defRPr>
            </a:pPr>
            <a:r>
              <a:t>Questions?</a:t>
            </a:r>
          </a:p>
        </p:txBody>
      </p:sp>
      <p:sp>
        <p:nvSpPr>
          <p:cNvPr id="6" name="Rounded Rectangle 5"/>
          <p:cNvSpPr/>
          <p:nvPr/>
        </p:nvSpPr>
        <p:spPr>
          <a:xfrm>
            <a:off x="1912467" y="2743200"/>
            <a:ext cx="1920240" cy="868680"/>
          </a:xfrm>
          <a:prstGeom prst="roundRect">
            <a:avLst/>
          </a:prstGeom>
          <a:solidFill>
            <a:srgbClr val="141B2D"/>
          </a:solidFill>
          <a:ln w="12700">
            <a:solidFill>
              <a:srgbClr val="2ECC7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400" b="1">
                <a:solidFill>
                  <a:srgbClr val="2ECC71"/>
                </a:solidFill>
                <a:latin typeface="Calibri"/>
              </a:defRPr>
            </a:pPr>
            <a:r>
              <a:t>10-100×</a:t>
            </a:r>
          </a:p>
          <a:p>
            <a:pPr algn="ctr">
              <a:spcBef>
                <a:spcPts val="200"/>
              </a:spcBef>
              <a:spcAft>
                <a:spcPts val="400"/>
              </a:spcAft>
              <a:defRPr sz="1000" b="0">
                <a:solidFill>
                  <a:srgbClr val="B0B8CC"/>
                </a:solidFill>
                <a:latin typeface="Calibri"/>
              </a:defRPr>
            </a:pPr>
            <a:r>
              <a:t>Data Rate</a:t>
            </a:r>
          </a:p>
        </p:txBody>
      </p:sp>
      <p:sp>
        <p:nvSpPr>
          <p:cNvPr id="7" name="Rounded Rectangle 6"/>
          <p:cNvSpPr/>
          <p:nvPr/>
        </p:nvSpPr>
        <p:spPr>
          <a:xfrm>
            <a:off x="4061307" y="2743200"/>
            <a:ext cx="1920240" cy="868680"/>
          </a:xfrm>
          <a:prstGeom prst="roundRect">
            <a:avLst/>
          </a:prstGeom>
          <a:solidFill>
            <a:srgbClr val="141B2D"/>
          </a:solidFill>
          <a:ln w="12700">
            <a:solidFill>
              <a:srgbClr val="009E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400" b="1">
                <a:solidFill>
                  <a:srgbClr val="009EFF"/>
                </a:solidFill>
                <a:latin typeface="Calibri"/>
              </a:defRPr>
            </a:pPr>
            <a:r>
              <a:t>&gt;95%</a:t>
            </a:r>
          </a:p>
          <a:p>
            <a:pPr algn="ctr">
              <a:spcBef>
                <a:spcPts val="200"/>
              </a:spcBef>
              <a:spcAft>
                <a:spcPts val="400"/>
              </a:spcAft>
              <a:defRPr sz="1000" b="0">
                <a:solidFill>
                  <a:srgbClr val="B0B8CC"/>
                </a:solidFill>
                <a:latin typeface="Calibri"/>
              </a:defRPr>
            </a:pPr>
            <a:r>
              <a:t>Availability</a:t>
            </a:r>
          </a:p>
        </p:txBody>
      </p:sp>
      <p:sp>
        <p:nvSpPr>
          <p:cNvPr id="8" name="Rounded Rectangle 7"/>
          <p:cNvSpPr/>
          <p:nvPr/>
        </p:nvSpPr>
        <p:spPr>
          <a:xfrm>
            <a:off x="6210147" y="2743200"/>
            <a:ext cx="1920240" cy="868680"/>
          </a:xfrm>
          <a:prstGeom prst="roundRect">
            <a:avLst/>
          </a:prstGeom>
          <a:solidFill>
            <a:srgbClr val="141B2D"/>
          </a:solidFill>
          <a:ln w="127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400" b="1">
                <a:solidFill>
                  <a:srgbClr val="8B5CF6"/>
                </a:solidFill>
                <a:latin typeface="Calibri"/>
              </a:defRPr>
            </a:pPr>
            <a:r>
              <a:t>RL</a:t>
            </a:r>
          </a:p>
          <a:p>
            <a:pPr algn="ctr">
              <a:spcBef>
                <a:spcPts val="200"/>
              </a:spcBef>
              <a:spcAft>
                <a:spcPts val="400"/>
              </a:spcAft>
              <a:defRPr sz="1000" b="0">
                <a:solidFill>
                  <a:srgbClr val="B0B8CC"/>
                </a:solidFill>
                <a:latin typeface="Calibri"/>
              </a:defRPr>
            </a:pPr>
            <a:r>
              <a:t>Adaptive Routing</a:t>
            </a:r>
          </a:p>
        </p:txBody>
      </p:sp>
      <p:sp>
        <p:nvSpPr>
          <p:cNvPr id="9" name="Rounded Rectangle 8"/>
          <p:cNvSpPr/>
          <p:nvPr/>
        </p:nvSpPr>
        <p:spPr>
          <a:xfrm>
            <a:off x="8358987" y="2743200"/>
            <a:ext cx="1920240" cy="868680"/>
          </a:xfrm>
          <a:prstGeom prst="roundRect">
            <a:avLst/>
          </a:prstGeom>
          <a:solidFill>
            <a:srgbClr val="141B2D"/>
          </a:solidFill>
          <a:ln w="12700">
            <a:solidFill>
              <a:srgbClr val="FF8C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400" b="1">
                <a:solidFill>
                  <a:srgbClr val="FF8C00"/>
                </a:solidFill>
                <a:latin typeface="Calibri"/>
              </a:defRPr>
            </a:pPr>
            <a:r>
              <a:t>QKD</a:t>
            </a:r>
          </a:p>
          <a:p>
            <a:pPr algn="ctr">
              <a:spcBef>
                <a:spcPts val="200"/>
              </a:spcBef>
              <a:spcAft>
                <a:spcPts val="400"/>
              </a:spcAft>
              <a:defRPr sz="1000" b="0">
                <a:solidFill>
                  <a:srgbClr val="B0B8CC"/>
                </a:solidFill>
                <a:latin typeface="Calibri"/>
              </a:defRPr>
            </a:pPr>
            <a:r>
              <a:t>Quantum Security</a:t>
            </a:r>
          </a:p>
        </p:txBody>
      </p:sp>
      <p:sp>
        <p:nvSpPr>
          <p:cNvPr id="10" name="TextBox 9"/>
          <p:cNvSpPr txBox="1"/>
          <p:nvPr/>
        </p:nvSpPr>
        <p:spPr>
          <a:xfrm>
            <a:off x="457200" y="4023360"/>
            <a:ext cx="11277295" cy="457200"/>
          </a:xfrm>
          <a:prstGeom prst="rect">
            <a:avLst/>
          </a:prstGeom>
          <a:noFill/>
        </p:spPr>
        <p:txBody>
          <a:bodyPr wrap="none">
            <a:spAutoFit/>
          </a:bodyPr>
          <a:lstStyle/>
          <a:p>
            <a:pPr algn="ctr">
              <a:defRPr sz="2000" b="1">
                <a:solidFill>
                  <a:srgbClr val="FFFFFF"/>
                </a:solidFill>
              </a:defRPr>
            </a:pPr>
            <a:r>
              <a:t>Muhammad Abdullah Tariq</a:t>
            </a:r>
          </a:p>
        </p:txBody>
      </p:sp>
      <p:sp>
        <p:nvSpPr>
          <p:cNvPr id="11" name="TextBox 10"/>
          <p:cNvSpPr txBox="1"/>
          <p:nvPr/>
        </p:nvSpPr>
        <p:spPr>
          <a:xfrm>
            <a:off x="457200" y="4480560"/>
            <a:ext cx="11277295" cy="365760"/>
          </a:xfrm>
          <a:prstGeom prst="rect">
            <a:avLst/>
          </a:prstGeom>
          <a:noFill/>
        </p:spPr>
        <p:txBody>
          <a:bodyPr wrap="none">
            <a:spAutoFit/>
          </a:bodyPr>
          <a:lstStyle/>
          <a:p>
            <a:pPr algn="ctr">
              <a:defRPr sz="1200">
                <a:solidFill>
                  <a:srgbClr val="6B7B96"/>
                </a:solidFill>
              </a:defRPr>
            </a:pPr>
            <a:r>
              <a:t>matx104.github.io/AETHERIX  |  github.com/matx104/AETHERIX</a:t>
            </a:r>
          </a:p>
        </p:txBody>
      </p:sp>
      <p:sp>
        <p:nvSpPr>
          <p:cNvPr id="12" name="Rectangle 11"/>
          <p:cNvSpPr/>
          <p:nvPr/>
        </p:nvSpPr>
        <p:spPr>
          <a:xfrm>
            <a:off x="0" y="6784848"/>
            <a:ext cx="12191695" cy="73152"/>
          </a:xfrm>
          <a:prstGeom prst="rect">
            <a:avLst/>
          </a:prstGeom>
          <a:solidFill>
            <a:srgbClr val="00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transition spd="med" advClick="1">
    <p:fade/>
  </p:transition>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