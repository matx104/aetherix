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your name clearly. Read the topic number and title exactly as on the exam paper. Pause to let examiners see it. (30 seconds)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Quick overview of what we will cover. 12 topics across 25 slides. (20 seconds)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sets up the narrative arc. First explain what AETHERIX is in plain language - it's like the postal service for interplanetary space. (1.5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with the scale. 54.6M to 401M km. Light itself takes 3-22 minutes one way. TCP/IP was designed for sub-second round trips. (1.5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key insight: instead of requiring an end-to-end connection like TCP, DTN works like the postal service. Each node takes custody of your data. (1.5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architecture. Six core modules feed into the simulation engine, which feeds the web showcase. Point to each module as you explain. (1 minute)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Architecture diagram showing source modules feeding simulation engine and web demos.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BPv7 is the postal service protocol. Walk through the stack: Application at top, BPv7 as the store-and-forward layer, three convergence layers. (2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241 nodes across 5 tiers. Walk through each tier. Earth Ground is the DSN. Earth Orbital has LEO laser mesh. Deep Space has Lagrange point relays. (2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Visual overview of the 5-tier topology with 3 redundant paths.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THE LIVE DEMO from the Link Budget page. Show the 3 distance scenarios. 1550nm was chosen for telecom heritage. (2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 rate degrades with distance squared. (15 seconds)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7-hop journey. 500MB from Perseverance to JPL. Total transit ~13 min vs 12.5 min light-time. (2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CGR is what NASA uses today. It's static. Our RL agent learns from experience. Multi-agent federated learning means agents at each node share knowledge. (2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RL agent Q-value heatmap showing learned routing preferences. (15 seconds)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BB84 is beautifully simple: send qubits, measure, compare bases, check QBER. If QBER is below 11%, no one listened in. (2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QKD security analysis with QBER threshold. (15 seconds)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Mars and Earth dance around the Sun with a 26-month synodic period. Everything changes - distance, delay, bandwidth. (1.5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Visual data flow through the protocol stack.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Hit these numbers with confidence. 10-100x faster. &gt;95% availability vs 60-75%. Quantum-secure. (1 minute)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Side-by-side performance comparison chart. (15 seconds)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real, working code. 27 Python modules, 189 tests, 12 interactive demos. All the physics is real. (1.5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Phases 1-4 are done. Phase 5: ns-3 simulation. Phase 6: Upgrade to DQN and integrate with ION-DTN. (1.5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Summarize the problem and solution clearly. Point to the numbers. Offer to show live demos. (1 minute)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Summarize the four key numbers: 10-100x faster, &gt;95% availability, AI-powered routing, quantum-secure. Invite questions. (30 seconds)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09728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  <a:latin typeface="Calibri"/>
              </a:defRPr>
            </a:pPr>
            <a:r>
              <a:t>AETHERIX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2286000"/>
            <a:ext cx="3931920" cy="508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00D4AA"/>
                </a:solidFill>
                <a:latin typeface="Calibri"/>
              </a:defRPr>
            </a:pPr>
            <a:r>
              <a:t>Autonomous Extraterrestrial High-throughput Enhancing Routing</a:t>
            </a:r>
            <a:br/>
            <a:r>
              <a:t>and Inter-planetary eXchange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657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8CC"/>
                </a:solidFill>
                <a:latin typeface="Calibri"/>
              </a:defRPr>
            </a:pPr>
            <a:r>
              <a:t>EduQual Level 6 Diploma in AI Operations  |  Topic 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1148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B96"/>
                </a:solidFill>
                <a:latin typeface="Calibri"/>
              </a:defRPr>
            </a:pPr>
            <a:r>
              <a:t>Building an Interplanetary Communication Network with DTN,</a:t>
            </a:r>
            <a:br/>
            <a:r>
              <a:t>Quantum Communication, and Space-Based Infrastructure for Mars Mission Support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4846320"/>
            <a:ext cx="5760720" cy="254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512064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Muhammad Abdullah Tariq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57784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B96"/>
                </a:solidFill>
                <a:latin typeface="Calibri"/>
              </a:defRPr>
            </a:pPr>
            <a:r>
              <a:t>January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61264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9EFF"/>
                </a:solidFill>
                <a:latin typeface="Calibri"/>
              </a:defRPr>
            </a:pPr>
            <a:r>
              <a:t>matx104.github.io/AETHERIX  |  github.com/matx104/AETHERIX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med" advClick="1">
    <p:fade/>
  </p:transition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PRESENTATION 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2 / 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14300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77240" y="119786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01  The Challenge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9047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Why space breaks the internet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2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777240" y="192938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02  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2199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DTN + AI + Quantum Security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60604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777240" y="266090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03  DTN &amp; BPv7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5351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Store-and-forward foundation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33756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777240" y="339242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04  Topology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68503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241 nodes across two worlds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06908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777240" y="412394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05  Link Budget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41655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1550nm laser analysis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80060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777240" y="485546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06  RL Routing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14807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Multi-agent federated Q-learning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14300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55080" y="119786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07  Quantum Security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149047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BB84/E91 + repeater chains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187452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28" name="TextBox 27"/>
          <p:cNvSpPr txBox="1"/>
          <p:nvPr/>
        </p:nvSpPr>
        <p:spPr>
          <a:xfrm>
            <a:off x="6355080" y="192938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08  Orbital Mechanics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222199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Contact windows &amp; synodic period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260604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31" name="TextBox 30"/>
          <p:cNvSpPr txBox="1"/>
          <p:nvPr/>
        </p:nvSpPr>
        <p:spPr>
          <a:xfrm>
            <a:off x="6355080" y="266090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09  Mars Mission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295351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End-to-end simulation walkthrough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17920" y="333756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34" name="TextBox 33"/>
          <p:cNvSpPr txBox="1"/>
          <p:nvPr/>
        </p:nvSpPr>
        <p:spPr>
          <a:xfrm>
            <a:off x="6355080" y="339242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10  Performance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5080" y="368503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AETHERIX vs current systems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406908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37" name="TextBox 36"/>
          <p:cNvSpPr txBox="1"/>
          <p:nvPr/>
        </p:nvSpPr>
        <p:spPr>
          <a:xfrm>
            <a:off x="6355080" y="412394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11  Roadmap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441655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CCSDS, IETF, deployment phases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480060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40" name="TextBox 39"/>
          <p:cNvSpPr txBox="1"/>
          <p:nvPr/>
        </p:nvSpPr>
        <p:spPr>
          <a:xfrm>
            <a:off x="6355080" y="485546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12  Q&amp;A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5080" y="514807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Summary and live demo</a:t>
            </a:r>
          </a:p>
        </p:txBody>
      </p:sp>
    </p:spTree>
  </p:cSld>
  <p:transition spd="med" advClick="1">
    <p:push dir="l"/>
  </p:transition>
  <p:clrMapOvr>
    <a:masterClrMapping/>
  </p:clrMapOvr>
  <p:timing>
    <p:tnLst>
      <p:par>
        <p:cTn id="1" dur="indefinite" restart="never" nodeType="tmRoot">
          <p:childTnLst>
            <p:par>
              <p:cTn id="2" fill="hold">
                <p:stCondLst>
                  <p:cond delay="0"/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3" fill="hold">
                <p:stCondLst>
                  <p:cond delay="8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nodeType="afterEffect">
                            <p:stCondLst>
                              <p:cond delay="80"/>
                            </p:stCondLst>
                            <p:childTnLst>
                              <p:set>
                                <p:cBhvr>
                                  <p:cTn id="6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4" fill="hold">
                <p:stCondLst>
                  <p:cond delay="160"/>
                </p:stCondLst>
                <p:childTnLst>
                  <p:par>
                    <p:cTn id="5" fill="hold">
                      <p:stCondLst>
                        <p:cond delay="0"/>
                      </p:stCondLst>
                      <p:childTnLst>
                        <p:par>
                          <p:cTn id="6" presetID="10" presetClass="entr" presetSubtype="0" fill="hold" nodeType="afterEffect">
                            <p:stCondLst>
                              <p:cond delay="160"/>
                            </p:stCondLst>
                            <p:childTnLst>
                              <p:set>
                                <p:cBhvr>
                                  <p:cTn id="7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5" fill="hold">
                <p:stCondLst>
                  <p:cond delay="240"/>
                </p:stCondLst>
                <p:childTnLst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presetID="10" presetClass="entr" presetSubtype="0" fill="hold" nodeType="after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8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6" fill="hold">
                <p:stCondLst>
                  <p:cond delay="320"/>
                </p:stCondLst>
                <p:childTnLst>
                  <p:par>
                    <p:cTn id="7" fill="hold">
                      <p:stCondLst>
                        <p:cond delay="0"/>
                      </p:stCondLst>
                      <p:childTnLst>
                        <p:par>
                          <p:cTn id="8" presetID="10" presetClass="entr" presetSubtype="0" fill="hold" nodeType="afterEffect">
                            <p:stCondLst>
                              <p:cond delay="320"/>
                            </p:stCondLst>
                            <p:childTnLst>
                              <p:set>
                                <p:cBhvr>
                                  <p:cTn id="9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5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7" fill="hold">
                <p:stCondLst>
                  <p:cond delay="400"/>
                </p:stCondLst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presetID="10" presetClass="entr" presetSubtype="0" fill="hold" nodeType="afterEffect">
                            <p:stCondLst>
                              <p:cond delay="400"/>
                            </p:stCondLst>
                            <p:childTnLst>
                              <p:set>
                                <p:cBhvr>
                                  <p:cTn id="10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5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8" fill="hold">
                <p:stCondLst>
                  <p:cond delay="480"/>
                </p:stCondLst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presetID="10" presetClass="entr" presetSubtype="0" fill="hold" nodeType="after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1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" dur="5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9" fill="hold">
                <p:stCondLst>
                  <p:cond delay="560"/>
                </p:stCondLst>
                <p:childTnLst>
                  <p:par>
                    <p:cTn id="10" fill="hold">
                      <p:stCondLst>
                        <p:cond delay="0"/>
                      </p:stCondLst>
                      <p:childTnLst>
                        <p:par>
                          <p:cTn id="11" presetID="10" presetClass="entr" presetSubtype="0" fill="hold" nodeType="afterEffect">
                            <p:stCondLst>
                              <p:cond delay="560"/>
                            </p:stCondLst>
                            <p:childTnLst>
                              <p:set>
                                <p:cBhvr>
                                  <p:cTn id="12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50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10" fill="hold">
                <p:stCondLst>
                  <p:cond delay="640"/>
                </p:stCondLst>
                <p:childTnLst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presetID="10" presetClass="entr" presetSubtype="0" fill="hold" nodeType="afterEffect">
                            <p:stCondLst>
                              <p:cond delay="640"/>
                            </p:stCondLst>
                            <p:childTnLst>
                              <p:set>
                                <p:cBhvr>
                                  <p:cTn id="13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" dur="500"/>
                                  <p:tgtEl>
                                    <p:spTgt spid="3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11" fill="hold">
                <p:stCondLst>
                  <p:cond delay="720"/>
                </p:stCondLst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presetID="10" presetClass="entr" presetSubtype="0" fill="hold" nodeType="after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4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500"/>
                                  <p:tgtEl>
                                    <p:spTgt spid="3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12" fill="hold">
                <p:stCondLst>
                  <p:cond delay="800"/>
                </p:stCondLst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presetID="10" presetClass="entr" presetSubtype="0" fill="hold" nodeType="afterEffect">
                            <p:stCondLst>
                              <p:cond delay="800"/>
                            </p:stCondLst>
                            <p:childTnLst>
                              <p:set>
                                <p:cBhvr>
                                  <p:cTn id="15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" dur="500"/>
                                  <p:tgtEl>
                                    <p:spTgt spid="3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13" fill="hold">
                <p:stCondLst>
                  <p:cond delay="880"/>
                </p:stCondLst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presetID="10" presetClass="entr" presetSubtype="0" fill="hold" nodeType="afterEffect">
                            <p:stCondLst>
                              <p:cond delay="880"/>
                            </p:stCondLst>
                            <p:childTnLst>
                              <p:set>
                                <p:cBhvr>
                                  <p:cTn id="16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" dur="500"/>
                                  <p:tgtEl>
                                    <p:spTgt spid="3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WHAT IS AETHERIX?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6"/>
                </a:solidFill>
                <a:latin typeface="Calibri"/>
              </a:defRPr>
            </a:pPr>
            <a:r>
              <a:t>Overview &amp;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3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5120640" cy="347472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9EFF"/>
                </a:solidFill>
                <a:latin typeface="Calibri"/>
              </a:defRPr>
            </a:pPr>
            <a:r>
              <a:t>What is AETHERIX?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1920240"/>
            <a:ext cx="1828800" cy="254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0116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Autonomous Extraterrestrial High-throughput Enhancing</a:t>
            </a:r>
            <a:br/>
            <a:r>
              <a:t>Routing and Inter-planetary eXchange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4688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An architecture for delay-tolerant networking (DTN)</a:t>
            </a:r>
            <a:br/>
            <a:r>
              <a:t>between Earth and Mars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9260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Replaces static Contact Graph Routing with</a:t>
            </a:r>
            <a:br/>
            <a:r>
              <a:t>reinforcement-learning-based adaptive routing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Secures links via Quantum Key Distribution</a:t>
            </a:r>
            <a:br/>
            <a:r>
              <a:t>(BB84 &amp; E91 protocols with repeater chains)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404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Hybrid optical/RF communications across</a:t>
            </a:r>
            <a:br/>
            <a:r>
              <a:t>a 5-tier, 241-node interplanetary topology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2976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Open-source, standards-compliant (CCSDS, IETF)</a:t>
            </a:r>
            <a:br/>
            <a:r>
              <a:t>research platform for deep-space networking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1463040"/>
            <a:ext cx="5120640" cy="347472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4D4D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1920240"/>
            <a:ext cx="1828800" cy="25400"/>
          </a:xfrm>
          <a:prstGeom prst="rect">
            <a:avLst/>
          </a:prstGeom>
          <a:solidFill>
            <a:srgbClr val="FF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20116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Earth–Mars distance varies from 54.6M to 401M km</a:t>
            </a:r>
            <a:br/>
            <a:r>
              <a:t>— a 7x range swing every 780 days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688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One-way light delay is 3–22 minutes;</a:t>
            </a:r>
            <a:br/>
            <a:r>
              <a:t>round-trip TCP ACK is 6–44 minutes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9260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Solar conjunction causes ~2-week communication</a:t>
            </a:r>
            <a:br/>
            <a:r>
              <a:t>blackouts twice per synodic period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3832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Deep-space links are inherently intermittent:</a:t>
            </a:r>
            <a:br/>
            <a:r>
              <a:t>no continuous end-to-end path exists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8404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Static routing cannot adapt to dynamic</a:t>
            </a:r>
            <a:br/>
            <a:r>
              <a:t>contact schedules and link degradation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2976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Classical key exchange is infeasible across</a:t>
            </a:r>
            <a:br/>
            <a:r>
              <a:t>interplanetary distances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212080"/>
            <a:ext cx="10607040" cy="822960"/>
          </a:xfrm>
          <a:prstGeom prst="round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035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AETHERIX addresses every one of these challenges — harnessing DTN store-and-forward, AI-driven adaptive routing, quantum-secured key distribution, and hybrid optical/RF links.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DISTANCE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FF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6"/>
                </a:solidFill>
                <a:latin typeface="Calibri"/>
              </a:defRPr>
            </a:pPr>
            <a:r>
              <a:t>Why Space Breaks the Internet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4 / 25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71600"/>
          <a:ext cx="51206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</a:tblGrid>
              <a:tr h="418011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 anchor="ctr" marL="73152" marR="73152" marT="36576" marB="36576">
                    <a:solidFill>
                      <a:srgbClr val="FF4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 anchor="ctr" marL="73152" marR="73152" marT="36576" marB="36576">
                    <a:solidFill>
                      <a:srgbClr val="FF4D4D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Closest approach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54.6 million km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Farthest distance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401 million km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Distance variation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7.3× (735%)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One-way light time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3 – 22 minutes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Synodic period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780 days (26 months)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Solar conjunction blackout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~2 weeks (twice/period)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126480" y="1371600"/>
          <a:ext cx="51206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</a:tblGrid>
              <a:tr h="402336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TCP/IP Assumption</a:t>
                      </a:r>
                    </a:p>
                  </a:txBody>
                  <a:tcPr anchor="ctr" marL="73152" marR="73152" marT="36576" marB="36576">
                    <a:solidFill>
                      <a:srgbClr val="FF8C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Deep-Space Reality</a:t>
                      </a:r>
                    </a:p>
                  </a:txBody>
                  <a:tcPr anchor="ctr" marL="73152" marR="73152" marT="36576" marB="36576">
                    <a:solidFill>
                      <a:srgbClr val="FF8C0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Low latency (&lt; 200 ms)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6 – 44 min round trip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Continuous connectivity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Scheduled contact windows only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End-to-end path exists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No simultaneous path possible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Reliable ACKs in seconds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ACKs take minutes to hours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126480" y="3657600"/>
            <a:ext cx="5120640" cy="118872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309360" y="3749039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8C00"/>
                </a:solidFill>
                <a:latin typeface="Calibri"/>
              </a:defRPr>
            </a:pPr>
            <a:r>
              <a:t>"TCP/IP assumes the network is fast, reliable, and always connected.</a:t>
            </a:r>
            <a:br/>
            <a:r>
              <a:t>Deep space is none of those things."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120640"/>
            <a:ext cx="2468880" cy="1005840"/>
          </a:xfrm>
          <a:prstGeom prst="roundRect">
            <a:avLst/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5120640"/>
            <a:ext cx="246888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25780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9EFF"/>
                </a:solidFill>
                <a:latin typeface="Calibri"/>
              </a:defRPr>
            </a:pPr>
            <a:r>
              <a:t>54.6M km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692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8CC"/>
                </a:solidFill>
                <a:latin typeface="Calibri"/>
              </a:defRPr>
            </a:pPr>
            <a:r>
              <a:t>Min Distance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83280" y="5120640"/>
            <a:ext cx="2468880" cy="1005840"/>
          </a:xfrm>
          <a:prstGeom prst="roundRect">
            <a:avLst/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83280" y="5120640"/>
            <a:ext cx="2468880" cy="38100"/>
          </a:xfrm>
          <a:prstGeom prst="rect">
            <a:avLst/>
          </a:prstGeom>
          <a:solidFill>
            <a:srgbClr val="FF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0440" y="525780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4D4D"/>
                </a:solidFill>
                <a:latin typeface="Calibri"/>
              </a:defRPr>
            </a:pPr>
            <a:r>
              <a:t>401M km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56692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8CC"/>
                </a:solidFill>
                <a:latin typeface="Calibri"/>
              </a:defRPr>
            </a:pPr>
            <a:r>
              <a:t>Max Distance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5120640"/>
            <a:ext cx="2468880" cy="1005840"/>
          </a:xfrm>
          <a:prstGeom prst="roundRect">
            <a:avLst/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6480" y="5120640"/>
            <a:ext cx="2468880" cy="3810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525780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8C00"/>
                </a:solidFill>
                <a:latin typeface="Calibri"/>
              </a:defRPr>
            </a:pPr>
            <a:r>
              <a:t>780 days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56692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8CC"/>
                </a:solidFill>
                <a:latin typeface="Calibri"/>
              </a:defRPr>
            </a:pPr>
            <a:r>
              <a:t>Synodic Period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69680" y="5120640"/>
            <a:ext cx="2468880" cy="1005840"/>
          </a:xfrm>
          <a:prstGeom prst="roundRect">
            <a:avLst/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869680" y="5120640"/>
            <a:ext cx="246888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06840" y="525780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D4AA"/>
                </a:solidFill>
                <a:latin typeface="Calibri"/>
              </a:defRPr>
            </a:pPr>
            <a:r>
              <a:t>0.5–6 Mbps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6840" y="56692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8CC"/>
                </a:solidFill>
                <a:latin typeface="Calibri"/>
              </a:defRPr>
            </a:pPr>
            <a:r>
              <a:t>Current DSN Rate</a:t>
            </a:r>
          </a:p>
        </p:txBody>
      </p:sp>
    </p:spTree>
  </p:cSld>
  <p:transition spd="med" advClick="1">
    <p:push dir="l"/>
  </p:transition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ANSWER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6"/>
                </a:solidFill>
                <a:latin typeface="Calibri"/>
              </a:defRPr>
            </a:pPr>
            <a:r>
              <a:t>Delay-Tolerant Networking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5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63040"/>
            <a:ext cx="1828800" cy="14630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  <a:r>
              <a:t>Bundle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8CC"/>
                </a:solidFill>
                <a:latin typeface="Calibri"/>
              </a:defRPr>
            </a:pPr>
            <a:r>
              <a:t>Create data</a:t>
            </a:r>
            <a:br/>
            <a:r>
              <a:t>bundle (BPv7)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19202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B7B9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80360" y="1463040"/>
            <a:ext cx="1828800" cy="14630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2971800" y="15544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8B5CF6"/>
                </a:solidFill>
                <a:latin typeface="Calibri"/>
              </a:defRPr>
            </a:pPr>
            <a:r>
              <a:t>Store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192024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8CC"/>
                </a:solidFill>
                <a:latin typeface="Calibri"/>
              </a:defRPr>
            </a:pPr>
            <a:r>
              <a:t>Buffer at</a:t>
            </a:r>
            <a:br/>
            <a:r>
              <a:t>local node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19202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B7B9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0" y="1463040"/>
            <a:ext cx="1828800" cy="14630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394960" y="15544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8C00"/>
                </a:solidFill>
                <a:latin typeface="Calibri"/>
              </a:defRPr>
            </a:pPr>
            <a:r>
              <a:t>Wait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192024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8CC"/>
                </a:solidFill>
                <a:latin typeface="Calibri"/>
              </a:defRPr>
            </a:pPr>
            <a:r>
              <a:t>Hold until</a:t>
            </a:r>
            <a:br/>
            <a:r>
              <a:t>contact window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8040" y="19202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B7B9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26680" y="1463040"/>
            <a:ext cx="1828800" cy="14630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7818120" y="15544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D4AA"/>
                </a:solidFill>
                <a:latin typeface="Calibri"/>
              </a:defRPr>
            </a:pPr>
            <a:r>
              <a:t>Forward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192024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8CC"/>
                </a:solidFill>
                <a:latin typeface="Calibri"/>
              </a:defRPr>
            </a:pPr>
            <a:r>
              <a:t>Transmit to</a:t>
            </a:r>
            <a:br/>
            <a:r>
              <a:t>next hop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19202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B7B9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149840" y="1463040"/>
            <a:ext cx="1828800" cy="14630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10241280" y="15544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ECC71"/>
                </a:solidFill>
                <a:latin typeface="Calibri"/>
              </a:defRPr>
            </a:pPr>
            <a:r>
              <a:t>Deliver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192024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8CC"/>
                </a:solidFill>
                <a:latin typeface="Calibri"/>
              </a:defRPr>
            </a:pPr>
            <a:r>
              <a:t>Reach final</a:t>
            </a:r>
            <a:br/>
            <a:r>
              <a:t>destination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3200400"/>
            <a:ext cx="3291840" cy="12801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9EFF"/>
                </a:solidFill>
                <a:latin typeface="Calibri"/>
              </a:defRPr>
            </a:pPr>
            <a:r>
              <a:t>BPv7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Bundle Protocol v7</a:t>
            </a:r>
            <a:br/>
            <a:r>
              <a:t>RFC 9171 — store &amp;</a:t>
            </a:r>
            <a:br/>
            <a:r>
              <a:t>forward with custody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97680" y="3200400"/>
            <a:ext cx="3291840" cy="12801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8B5CF6"/>
                </a:solidFill>
                <a:latin typeface="Calibri"/>
              </a:defRPr>
            </a:pPr>
            <a:r>
              <a:t>AI Routing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Multi-agent federated</a:t>
            </a:r>
            <a:br/>
            <a:r>
              <a:t>Q-learning adapts in</a:t>
            </a:r>
            <a:br/>
            <a:r>
              <a:t>real time to contacts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55280" y="3200400"/>
            <a:ext cx="3291840" cy="12801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D4AA"/>
                </a:solidFill>
                <a:latin typeface="Calibri"/>
              </a:defRPr>
            </a:pPr>
            <a:r>
              <a:t>QKD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BB84 &amp; E91 quantum</a:t>
            </a:r>
            <a:br/>
            <a:r>
              <a:t>key distribution with</a:t>
            </a:r>
            <a:br/>
            <a:r>
              <a:t>repeater chains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754880"/>
            <a:ext cx="10607040" cy="91440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914400" y="4846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0B8CC"/>
                </a:solidFill>
                <a:latin typeface="Calibri"/>
              </a:defRPr>
            </a:pPr>
            <a:r>
              <a:t>Think of it like the postal service: you don't need a continuous connection between sender and receiver — each post office (node) stores the letter (bundle) until the next truck (contact window) is available, then forwards it one hop closer to the destination.</a:t>
            </a:r>
          </a:p>
        </p:txBody>
      </p:sp>
    </p:spTree>
  </p:cSld>
  <p:transition spd="med" advClick="1">
    <p:wipe dir="d"/>
  </p:transition>
  <p:clrMapOvr>
    <a:masterClrMapping/>
  </p:clrMapOvr>
  <p:timing>
    <p:tnLst>
      <p:par>
        <p:cTn id="1" dur="indefinite" restart="never" nodeType="tmRoot">
          <p:childTnLst>
            <p:par>
              <p:cTn id="2" fill="hold">
                <p:stCondLst>
                  <p:cond delay="0"/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3" fill="hold">
                <p:stCondLst>
                  <p:cond delay="15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nodeType="afterEffect">
                            <p:stCondLst>
                              <p:cond delay="150"/>
                            </p:stCondLst>
                            <p:childTnLst>
                              <p:set>
                                <p:cBhvr>
                                  <p:cTn id="6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4" fill="hold">
                <p:stCondLst>
                  <p:cond delay="300"/>
                </p:stCondLst>
                <p:childTnLst>
                  <p:par>
                    <p:cTn id="5" fill="hold">
                      <p:stCondLst>
                        <p:cond delay="0"/>
                      </p:stCondLst>
                      <p:childTnLst>
                        <p:par>
                          <p:cTn id="6" presetID="10" presetClass="entr" presetSubtype="0" fill="hold" nodeType="afterEffect">
                            <p:stCondLst>
                              <p:cond delay="300"/>
                            </p:stCondLst>
                            <p:childTnLst>
                              <p:set>
                                <p:cBhvr>
                                  <p:cTn id="7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5" fill="hold">
                <p:stCondLst>
                  <p:cond delay="450"/>
                </p:stCondLst>
                <p:childTnLst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presetID="10" presetClass="entr" presetSubtype="0" fill="hold" nodeType="afterEffect">
                            <p:stCondLst>
                              <p:cond delay="450"/>
                            </p:stCondLst>
                            <p:childTnLst>
                              <p:set>
                                <p:cBhvr>
                                  <p:cTn id="8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6" fill="hold">
                <p:stCondLst>
                  <p:cond delay="600"/>
                </p:stCondLst>
                <p:childTnLst>
                  <p:par>
                    <p:cTn id="7" fill="hold">
                      <p:stCondLst>
                        <p:cond delay="0"/>
                      </p:stCondLst>
                      <p:childTnLst>
                        <p:par>
                          <p:cTn id="8" presetID="10" presetClass="entr" presetSubtype="0" fill="hold" nodeType="after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5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6"/>
                </a:solidFill>
                <a:latin typeface="Calibri"/>
              </a:defRPr>
            </a:pPr>
            <a:r>
              <a:t>Five Core Modules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6 / 25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463040"/>
            <a:ext cx="548640" cy="548640"/>
          </a:xfrm>
          <a:prstGeom prst="ellipse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36192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4630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EFF"/>
                </a:solidFill>
                <a:latin typeface="Calibri"/>
              </a:defRPr>
            </a:pPr>
            <a:r>
              <a:t>Infrastructure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783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Link budget &amp; RF/optical analysis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2331720"/>
            <a:ext cx="548640" cy="54864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404872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3317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B5CF6"/>
                </a:solidFill>
                <a:latin typeface="Calibri"/>
              </a:defRPr>
            </a:pPr>
            <a:r>
              <a:t>Routing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6517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RL agent, BPv7, store-and-forward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200400"/>
            <a:ext cx="548640" cy="548640"/>
          </a:xfrm>
          <a:prstGeom prst="ellipse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273552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2004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AA"/>
                </a:solidFill>
                <a:latin typeface="Calibri"/>
              </a:defRPr>
            </a:pPr>
            <a:r>
              <a:t>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5204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QKD (BB84/E91) &amp; repeater chains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" y="4069080"/>
            <a:ext cx="548640" cy="548640"/>
          </a:xfrm>
          <a:prstGeom prst="ellipse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142232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069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8C00"/>
                </a:solidFill>
                <a:latin typeface="Calibri"/>
              </a:defRPr>
            </a:pPr>
            <a:r>
              <a:t>Orbital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389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Contact windows &amp; Doppler analysis</a:t>
            </a:r>
          </a:p>
        </p:txBody>
      </p:sp>
      <p:sp>
        <p:nvSpPr>
          <p:cNvPr id="23" name="Oval 22"/>
          <p:cNvSpPr/>
          <p:nvPr/>
        </p:nvSpPr>
        <p:spPr>
          <a:xfrm>
            <a:off x="640080" y="4937760"/>
            <a:ext cx="548640" cy="548640"/>
          </a:xfrm>
          <a:prstGeom prst="ellipse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010912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49377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Simulation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5257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Full network simulation engine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852160" y="1463040"/>
          <a:ext cx="54864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Module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Engine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Showcase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Infrastructure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OpticalLinkBudget + RFLinkBudget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Earth-Mars link analysis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Routing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RLRoutingAgent + ForwardingEngine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Multi-hop DTN delivery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Security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BB84Protocol + E91Protocol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Quantum-secured key exchange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Orbital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ContactWindows + Doppler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Synodic contact prediction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Simulation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Simulator + PolicyEngine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End-to-end scenario runs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</a:tbl>
          </a:graphicData>
        </a:graphic>
      </p:graphicFrame>
    </p:spTree>
  </p:cSld>
  <p:transition spd="med" advClick="1">
    <p:cover dir="l"/>
  </p:transition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ARCHITECTURE DIAGRAM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7 / 25</a:t>
            </a:r>
          </a:p>
        </p:txBody>
      </p:sp>
      <p:pic>
        <p:nvPicPr>
          <p:cNvPr id="6" name="Picture 5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607040" cy="5303520"/>
          </a:xfrm>
          <a:prstGeom prst="rect">
            <a:avLst/>
          </a:prstGeom>
        </p:spPr>
      </p:pic>
    </p:spTree>
  </p:cSld>
  <p:transition spd="med" advClick="1">
    <p:fade/>
  </p:transition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BPv7 DEEP DIVE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6"/>
                </a:solidFill>
                <a:latin typeface="Calibri"/>
              </a:defRPr>
            </a:pPr>
            <a:r>
              <a:t>The Foundation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8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5120640" cy="8229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22960" y="15087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EFF"/>
                </a:solidFill>
                <a:latin typeface="Calibri"/>
              </a:defRPr>
            </a:pPr>
            <a:r>
              <a:t>Application 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4708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User data, commands, telemetry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2402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B96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423160"/>
            <a:ext cx="5120640" cy="8229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22960" y="246888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B5CF6"/>
                </a:solidFill>
                <a:latin typeface="Calibri"/>
              </a:defRPr>
            </a:pPr>
            <a:r>
              <a:t>Bundle Protocol v7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80720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Routing, custody, fragmentation, TTL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32004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B96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383280"/>
            <a:ext cx="5120640" cy="8229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22960" y="34290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D4AA"/>
                </a:solidFill>
                <a:latin typeface="Calibri"/>
              </a:defRPr>
            </a:pPr>
            <a:r>
              <a:t>Convergence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76732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LTP (space), TCPCL (Earth), UDPCL (ISL)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4160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B96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343400"/>
            <a:ext cx="5120640" cy="8229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822960" y="43891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8C00"/>
                </a:solidFill>
                <a:latin typeface="Calibri"/>
              </a:defRPr>
            </a:pPr>
            <a:r>
              <a:t>Physical 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72744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Optical 1550nm / Ka-band RF links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126480" y="1463040"/>
          <a:ext cx="51206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6880"/>
                <a:gridCol w="1706880"/>
                <a:gridCol w="1706880"/>
              </a:tblGrid>
              <a:tr h="39624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Priority</a:t>
                      </a:r>
                    </a:p>
                  </a:txBody>
                  <a:tcPr anchor="ctr" marL="73152" marR="73152" marT="36576" marB="36576"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Class</a:t>
                      </a:r>
                    </a:p>
                  </a:txBody>
                  <a:tcPr anchor="ctr" marL="73152" marR="73152" marT="36576" marB="36576"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Use Case</a:t>
                      </a:r>
                    </a:p>
                  </a:txBody>
                  <a:tcPr anchor="ctr" marL="73152" marR="73152" marT="36576" marB="36576">
                    <a:solidFill>
                      <a:srgbClr val="8B5CF6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P0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EMERGENCY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Life-critical alerts, abort commands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P1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URGENT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Navigation corrections, hazard warnings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P2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NORMAL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Telemetry, science data, commands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P3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Software updates, bulk file transfer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P4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BULK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Background sync, archival data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26480" y="40233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D4AA"/>
                </a:solidFill>
                <a:latin typeface="Calibri"/>
              </a:defRPr>
            </a:pPr>
            <a:r>
              <a:t>Store-and-Forward Steps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4315968"/>
            <a:ext cx="1828800" cy="254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0" y="438912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1. Bundle created at source with destination EID + TTL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46634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2. Node stores bundle in priority queue (buffer mgmt)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49377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3. Contact window opens → best next-hop selected by RL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52120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4. Bundle transmitted via convergence layer (LTP/TCPCL)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54864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5. Custody transfer confirms; repeat until destination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669280"/>
            <a:ext cx="10607040" cy="6400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31" name="TextBox 30"/>
          <p:cNvSpPr txBox="1"/>
          <p:nvPr/>
        </p:nvSpPr>
        <p:spPr>
          <a:xfrm>
            <a:off x="822960" y="576072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9EFF"/>
                </a:solidFill>
                <a:latin typeface="Calibri"/>
              </a:defRPr>
            </a:pPr>
            <a:r>
              <a:t>Standards: RFC 9171 (BPv7)  •  RFC 4838 (DTN Arch)  •  RFC 5326 (LTP)  •  CCSDS 734.2-B-1  •  CCSDS 734.3-B-1 (SABR)</a:t>
            </a:r>
          </a:p>
        </p:txBody>
      </p:sp>
    </p:spTree>
  </p:cSld>
  <p:transition spd="med" advClick="1">
    <p:push dir="l"/>
  </p:transition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NETWORK TOPOLOGY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D4AA"/>
                </a:solidFill>
                <a:latin typeface="Calibri"/>
              </a:defRPr>
            </a:pPr>
            <a:r>
              <a:t>241 Nodes, 5 Tiers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73152" cy="59436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463040"/>
            <a:ext cx="4480560" cy="594360"/>
          </a:xfrm>
          <a:prstGeom prst="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2540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T1  Earth Ground</a:t>
            </a:r>
          </a:p>
          <a:p>
            <a:pPr algn="l">
              <a:spcBef>
                <a:spcPts val="400"/>
              </a:spcBef>
              <a:spcAft>
                <a:spcPts val="400"/>
              </a:spcAft>
              <a:defRPr sz="800" b="0">
                <a:solidFill>
                  <a:srgbClr val="B0B8CC"/>
                </a:solidFill>
                <a:latin typeface="Calibri"/>
              </a:defRPr>
            </a:pPr>
            <a:r>
              <a:t>6 nodes — DSN stations: Goldstone, Madrid, Canberra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176272"/>
            <a:ext cx="73152" cy="5943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2176272"/>
            <a:ext cx="4480560" cy="594360"/>
          </a:xfrm>
          <a:prstGeom prst="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2540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T2  Earth Orbital</a:t>
            </a:r>
          </a:p>
          <a:p>
            <a:pPr algn="l">
              <a:spcBef>
                <a:spcPts val="400"/>
              </a:spcBef>
              <a:spcAft>
                <a:spcPts val="400"/>
              </a:spcAft>
              <a:defRPr sz="800" b="0">
                <a:solidFill>
                  <a:srgbClr val="B0B8CC"/>
                </a:solidFill>
                <a:latin typeface="Calibri"/>
              </a:defRPr>
            </a:pPr>
            <a:r>
              <a:t>51 nodes — GEO relays + 48 LEO laser constellation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889504"/>
            <a:ext cx="73152" cy="59436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" y="2889504"/>
            <a:ext cx="4480560" cy="594360"/>
          </a:xfrm>
          <a:prstGeom prst="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2540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T3  Deep Space Transit</a:t>
            </a:r>
          </a:p>
          <a:p>
            <a:pPr algn="l">
              <a:spcBef>
                <a:spcPts val="400"/>
              </a:spcBef>
              <a:spcAft>
                <a:spcPts val="400"/>
              </a:spcAft>
              <a:defRPr sz="800" b="0">
                <a:solidFill>
                  <a:srgbClr val="B0B8CC"/>
                </a:solidFill>
                <a:latin typeface="Calibri"/>
              </a:defRPr>
            </a:pPr>
            <a:r>
              <a:t>4 nodes — Lagrange point relays (ES-L4, ES-L5)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602736"/>
            <a:ext cx="73152" cy="594360"/>
          </a:xfrm>
          <a:prstGeom prst="rect">
            <a:avLst/>
          </a:prstGeom>
          <a:solidFill>
            <a:srgbClr val="FF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3602736"/>
            <a:ext cx="4480560" cy="594360"/>
          </a:xfrm>
          <a:prstGeom prst="rect">
            <a:avLst/>
          </a:prstGeom>
          <a:solidFill>
            <a:srgbClr val="141B2D"/>
          </a:solidFill>
          <a:ln w="12700">
            <a:solidFill>
              <a:srgbClr val="FF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2540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T4  Mars Orbital</a:t>
            </a:r>
          </a:p>
          <a:p>
            <a:pPr algn="l">
              <a:spcBef>
                <a:spcPts val="400"/>
              </a:spcBef>
              <a:spcAft>
                <a:spcPts val="400"/>
              </a:spcAft>
              <a:defRPr sz="800" b="0">
                <a:solidFill>
                  <a:srgbClr val="B0B8CC"/>
                </a:solidFill>
                <a:latin typeface="Calibri"/>
              </a:defRPr>
            </a:pPr>
            <a:r>
              <a:t>4 nodes — Areostationary + polar orbit relays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315968"/>
            <a:ext cx="73152" cy="594360"/>
          </a:xfrm>
          <a:prstGeom prst="rect">
            <a:avLst/>
          </a:prstGeom>
          <a:solidFill>
            <a:srgbClr val="FFD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" y="4315968"/>
            <a:ext cx="4480560" cy="594360"/>
          </a:xfrm>
          <a:prstGeom prst="rect">
            <a:avLst/>
          </a:prstGeom>
          <a:solidFill>
            <a:srgbClr val="141B2D"/>
          </a:solidFill>
          <a:ln w="12700">
            <a:solidFill>
              <a:srgbClr val="FFD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2540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T5  Mars Surface</a:t>
            </a:r>
          </a:p>
          <a:p>
            <a:pPr algn="l">
              <a:spcBef>
                <a:spcPts val="400"/>
              </a:spcBef>
              <a:spcAft>
                <a:spcPts val="400"/>
              </a:spcAft>
              <a:defRPr sz="800" b="0">
                <a:solidFill>
                  <a:srgbClr val="B0B8CC"/>
                </a:solidFill>
                <a:latin typeface="Calibri"/>
              </a:defRPr>
            </a:pPr>
            <a:r>
              <a:t>176 nodes — Bases, rovers, drones, sensor networks</a:t>
            </a:r>
          </a:p>
        </p:txBody>
      </p:sp>
      <p:pic>
        <p:nvPicPr>
          <p:cNvPr id="15" name="Picture 14" descr="5tier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371600"/>
            <a:ext cx="3840480" cy="320040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365760" y="5212080"/>
            <a:ext cx="8412480" cy="5943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/>
          <a:lstStyle/>
          <a:p>
            <a:pPr algn="ctr">
              <a:defRPr sz="1100">
                <a:solidFill>
                  <a:srgbClr val="00D4AA"/>
                </a:solidFill>
              </a:defRPr>
            </a:pPr>
            <a:r>
              <a:t>Multiple redundant paths · No single point of failure · Lagrange relays for conjunction coverage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9 / 25</a:t>
            </a:r>
          </a:p>
        </p:txBody>
      </p:sp>
    </p:spTree>
  </p:cSld>
  <p:transition spd="med" advClick="1">
    <p:push dir="l"/>
  </p:transition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5-TIER NETWORK DIAGRAM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5tier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10 / 25</a:t>
            </a:r>
          </a:p>
        </p:txBody>
      </p:sp>
    </p:spTree>
  </p:cSld>
  <p:transition spd="med" advClick="1">
    <p:wipe dir="d"/>
  </p:transition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OPTICAL COMMUNICATIONS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D4AA"/>
                </a:solidFill>
                <a:latin typeface="Calibri"/>
              </a:defRPr>
            </a:pPr>
            <a:r>
              <a:t>10–100x Faster Than RF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417320"/>
            <a:ext cx="2834640" cy="10972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100–200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Mbps at closest approach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46120" y="1417320"/>
            <a:ext cx="2834640" cy="10972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9EFF"/>
                </a:solidFill>
                <a:latin typeface="Calibri"/>
              </a:defRPr>
            </a:pPr>
            <a:r>
              <a:t>10–20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Mbps average distance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17320"/>
            <a:ext cx="2834640" cy="10972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4D4D"/>
                </a:solidFill>
                <a:latin typeface="Calibri"/>
              </a:defRPr>
            </a:pPr>
            <a:r>
              <a:t>2–5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Mbps at farthest point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651760"/>
            <a:ext cx="4389120" cy="164592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  <a:r>
              <a:t>Key Equations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FSPL = 20·log₁₀(4πd/λ)  — free-space path loss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Gain = 10·log₁₀(η·(πD/λ)²)  — antenna gain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Pr = Pt + Gt + Gr − FSPL  — received power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846320" y="2651760"/>
          <a:ext cx="402336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</a:tblGrid>
              <a:tr h="329184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Wavelength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1550 nm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Tx Power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5 W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Tx Aperture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22 cm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Rx Aperture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1.0 m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11 / 25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DATA RATE VS DISTANCE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9EFF"/>
                </a:solidFill>
                <a:latin typeface="Calibri"/>
              </a:defRPr>
            </a:pPr>
            <a:r>
              <a:t>Optical Link Performance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3444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ta_rate_vs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64008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6692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Data rate degrades with distance squared — 200 Mbps at closest to 2 Mbps at farthest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12 / 25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EARTH-MARS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D4AA"/>
                </a:solidFill>
                <a:latin typeface="Calibri"/>
              </a:defRPr>
            </a:pPr>
            <a:r>
              <a:t>500 MB in 7 Hops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371600"/>
          <a:ext cx="85953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/>
                <a:gridCol w="2865120"/>
                <a:gridCol w="2865120"/>
              </a:tblGrid>
              <a:tr h="352697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Hop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Path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Link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Rover → UHF Relay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UHF S-band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UHF Relay → Areostationary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UHF uplink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Areostationary → Polar Orbiter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Crosslink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4–5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Polar Orbiter → LEO Constellation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1550 nm laser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LEO Mesh → DSN Ground Station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Optical downlink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5269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DSN → Mission Operations Center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TCP/IP fiber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182880" y="4023360"/>
            <a:ext cx="21488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9EFF"/>
                </a:solidFill>
                <a:latin typeface="Calibri"/>
              </a:defRPr>
            </a:pPr>
            <a:r>
              <a:t>~13min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End-to-end latency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23160" y="4023360"/>
            <a:ext cx="21488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&lt;5%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Protocol overhead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4023360"/>
            <a:ext cx="21488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8B5CF6"/>
                </a:solidFill>
                <a:latin typeface="Calibri"/>
              </a:defRPr>
            </a:pPr>
            <a:r>
              <a:t>98.7%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Delivery ratio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03720" y="4023360"/>
            <a:ext cx="21488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8C00"/>
                </a:solidFill>
                <a:latin typeface="Calibri"/>
              </a:defRPr>
            </a:pPr>
            <a:r>
              <a:t>7 hops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Store-and-forward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13 / 25</a:t>
            </a:r>
          </a:p>
        </p:txBody>
      </p:sp>
    </p:spTree>
  </p:cSld>
  <p:transition spd="med" advClick="1">
    <p:push dir="l"/>
  </p:transition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RL-BASED ROUTING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D4AA"/>
                </a:solidFill>
                <a:latin typeface="Calibri"/>
              </a:defRPr>
            </a:pPr>
            <a:r>
              <a:t>AI Innovation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417320"/>
            <a:ext cx="4206240" cy="228600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  <a:r>
              <a:t>Contact Graph Routing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Pre-computed contact plans required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Cannot adapt to unexpected link failures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Computational cost grows O(n³) per route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No learning from historical performance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Single-path — ignores multipath opportunity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417320"/>
            <a:ext cx="4206240" cy="228600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  <a:r>
              <a:t>RL Agent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State: (node, neighbors, link quality, buffer)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Actions: forward | store | drop | split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Reward: R = α(delivery) − β(delay) − γ(hops) − δ(drops) − ε(energy)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ε-greedy exploration with decay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Q-table + federated aggregation across nodes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3886200"/>
            <a:ext cx="28346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+20–40%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Faster delivery vs CGR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3886200"/>
            <a:ext cx="28346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9EFF"/>
                </a:solidFill>
                <a:latin typeface="Calibri"/>
              </a:defRPr>
            </a:pPr>
            <a:r>
              <a:t>3600×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Recovery speed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886200"/>
            <a:ext cx="28346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8B5CF6"/>
                </a:solidFill>
                <a:latin typeface="Calibri"/>
              </a:defRPr>
            </a:pPr>
            <a:r>
              <a:t>Federated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Multi-agent learning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14 / 25</a:t>
            </a:r>
          </a:p>
        </p:txBody>
      </p:sp>
    </p:spTree>
  </p:cSld>
  <p:transition spd="med" advClick="1">
    <p:wipe dir="d"/>
  </p:transition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RL ROUTING HEATMAP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D4AA"/>
                </a:solidFill>
                <a:latin typeface="Calibri"/>
              </a:defRPr>
            </a:pPr>
            <a:r>
              <a:t>Q-Value Distribution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34440"/>
            <a:ext cx="22860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l_routing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64008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6692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Learned routing preferences across network nodes — brighter = higher Q-value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15 / 25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QUANTUM 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D4AA"/>
                </a:solidFill>
                <a:latin typeface="Calibri"/>
              </a:defRPr>
            </a:pPr>
            <a:r>
              <a:t>Future-Proof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417320"/>
            <a:ext cx="4389120" cy="228600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  <a:r>
              <a:t>BB84 Protocol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1. Alice sends random polarized photons (H/V, D/A bases)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2. Bob measures each photon in a random basis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3. Public reconciliation — keep matching-basis bits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4. Error estimation — sample subset for QBER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5. Privacy amplification — universal hashing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6. QBER &lt; 11% → SECURE key established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46320" y="1417320"/>
            <a:ext cx="4023360" cy="228600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  <a:r>
              <a:t>Post-Quantum Cryptography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Kyber (ML-KEM) — key encapsulation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Dilithium (ML-DSA) — digital signatures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NIST PQC standard — quantum-resistant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Hybrid classical-quantum key exchange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3886200"/>
          <a:ext cx="85953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/>
                <a:gridCol w="2865120"/>
                <a:gridCol w="2865120"/>
              </a:tblGrid>
              <a:tr h="34290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Phase</a:t>
                      </a:r>
                    </a:p>
                  </a:txBody>
                  <a:tcPr anchor="ctr" marL="73152" marR="73152" marT="36576" marB="36576"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Protocol</a:t>
                      </a:r>
                    </a:p>
                  </a:txBody>
                  <a:tcPr anchor="ctr" marL="73152" marR="73152" marT="36576" marB="36576"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Rate</a:t>
                      </a:r>
                    </a:p>
                  </a:txBody>
                  <a:tcPr anchor="ctr" marL="73152" marR="73152" marT="36576" marB="36576">
                    <a:solidFill>
                      <a:srgbClr val="8B5CF6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Phase 1 — LEO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BB84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1–10 kbps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Phase 2 — GEO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BB84 + E91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10–100 kbps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Phase 3 — Mars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E91 + Repeaters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1+ kbps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16 / 25</a:t>
            </a:r>
          </a:p>
        </p:txBody>
      </p:sp>
    </p:spTree>
  </p:cSld>
  <p:transition spd="med" advClick="1">
    <p:cover dir="l"/>
  </p:transition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QKD SECURITY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5CF6"/>
                </a:solidFill>
                <a:latin typeface="Calibri"/>
              </a:defRPr>
            </a:pPr>
            <a:r>
              <a:t>Quantum Bit Error Rate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34440"/>
            <a:ext cx="228600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qkd_secu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64008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6692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QBER below 11% confirms secure key exchange — no eavesdropper detected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17 / 25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ORBITAL MECHANICS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D4AA"/>
                </a:solidFill>
                <a:latin typeface="Calibri"/>
              </a:defRPr>
            </a:pPr>
            <a:r>
              <a:t>Contact Windows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417320"/>
          <a:ext cx="429768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148840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 anchor="ctr" marL="73152" marR="73152" marT="36576" marB="36576">
                    <a:solidFill>
                      <a:srgbClr val="FF8C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 anchor="ctr" marL="73152" marR="73152" marT="36576" marB="36576">
                    <a:solidFill>
                      <a:srgbClr val="FF8C00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Semi-major axis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1.524 AU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Synodic period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779.94 days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Distance range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54.6M – 401M km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Areostationary altitude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17,032 km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One-way light time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3 – 22 minutes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663440" y="1417320"/>
          <a:ext cx="4206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1051560"/>
                <a:gridCol w="1051560"/>
                <a:gridCol w="1051560"/>
              </a:tblGrid>
              <a:tr h="420624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Window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Availability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Duration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 Rate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Optimal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99%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8–12 hrs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100–200 Mbps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Good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95%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6–8 hrs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20–100 Mbps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Fair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85%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4–6 hrs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5–20 Mbps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Blackout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0%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2–4 weeks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18 / 25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DATA FLOW DIAGRAM</a:t>
            </a:r>
          </a:p>
        </p:txBody>
      </p:sp>
      <p:pic>
        <p:nvPicPr>
          <p:cNvPr id="3" name="Picture 2" descr="data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841248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19 / 25</a:t>
            </a:r>
          </a:p>
        </p:txBody>
      </p:sp>
    </p:spTree>
  </p:cSld>
  <p:transition spd="med" advClick="1">
    <p:cover dir="l"/>
  </p:transition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PERFORMANCE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00D4AA"/>
                </a:solidFill>
              </a:defRPr>
            </a:pPr>
            <a:r>
              <a:t>AETHERIX vs Current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143000"/>
          <a:ext cx="84124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</a:tblGrid>
              <a:tr h="34544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 anchor="ctr" marL="73152" marR="73152" marT="36576" marB="36576">
                    <a:solidFill>
                      <a:srgbClr val="2ECC7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Current (MRO)</a:t>
                      </a:r>
                    </a:p>
                  </a:txBody>
                  <a:tcPr anchor="ctr" marL="73152" marR="73152" marT="36576" marB="36576">
                    <a:solidFill>
                      <a:srgbClr val="2ECC7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AETHERIX</a:t>
                      </a:r>
                    </a:p>
                  </a:txBody>
                  <a:tcPr anchor="ctr" marL="73152" marR="73152" marT="36576" marB="36576">
                    <a:solidFill>
                      <a:srgbClr val="2ECC7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Improvement</a:t>
                      </a:r>
                    </a:p>
                  </a:txBody>
                  <a:tcPr anchor="ctr" marL="73152" marR="73152" marT="36576" marB="36576">
                    <a:solidFill>
                      <a:srgbClr val="2ECC71"/>
                    </a:solidFill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Downlink Rate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0.5-6 Mbps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2-200 Mbps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10-100×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Daily Volume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5-10 GB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50-100 GB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10-20×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Availability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60-75%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&gt;95%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+20-35%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Routing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Static (CGR)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RL-adaptive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Autonomous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Security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AES-256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QKD + PQC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Quantum-proof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Scalability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5-10 assets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241 nodes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24-48×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Cost per MB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$0.10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$0.01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10× cheaper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Conjunction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Blackout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50-70% via L4/L5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+50-70%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20 / 25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PERFORMANCE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ECC71"/>
                </a:solidFill>
                <a:latin typeface="Calibri"/>
              </a:defRPr>
            </a:pPr>
            <a:r>
              <a:t>AETHERIX vs Current Systems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34440"/>
            <a:ext cx="2286000" cy="38100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erformanc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64008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6692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achieves 10-100x improvement across all key metrics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21 / 25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00D4AA"/>
                </a:solidFill>
              </a:defRPr>
            </a:pPr>
            <a:r>
              <a:t>What We Built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12467" y="1417320"/>
            <a:ext cx="1920240" cy="8686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27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Modules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61307" y="1417320"/>
            <a:ext cx="1920240" cy="8686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9EFF"/>
                </a:solidFill>
                <a:latin typeface="Calibri"/>
              </a:defRPr>
            </a:pPr>
            <a:r>
              <a:t>189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Tests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0147" y="1417320"/>
            <a:ext cx="1920240" cy="8686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8B5CF6"/>
                </a:solidFill>
                <a:latin typeface="Calibri"/>
              </a:defRPr>
            </a:pPr>
            <a:r>
              <a:t>12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Demos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58987" y="1417320"/>
            <a:ext cx="1920240" cy="8686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8C00"/>
                </a:solidFill>
                <a:latin typeface="Calibri"/>
              </a:defRPr>
            </a:pPr>
            <a:r>
              <a:t>5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Policies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560320"/>
            <a:ext cx="3931920" cy="15544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1E2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600"/>
              </a:spcAft>
              <a:defRPr sz="1300" b="1">
                <a:solidFill>
                  <a:srgbClr val="00D4AA"/>
                </a:solidFill>
                <a:latin typeface="Calibri"/>
              </a:defRPr>
            </a:pPr>
            <a:r>
              <a:t>Core Modules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 Link Budget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 RL Agent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 QKD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 Bundle Protocol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 Topology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 Simulation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2560320"/>
            <a:ext cx="4206240" cy="15544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1E2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600"/>
              </a:spcAft>
              <a:defRPr sz="1300" b="1">
                <a:solidFill>
                  <a:srgbClr val="00D4AA"/>
                </a:solidFill>
                <a:latin typeface="Calibri"/>
              </a:defRPr>
            </a:pPr>
            <a:r>
              <a:t>Standards Compliance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754880" y="3063240"/>
          <a:ext cx="402336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</a:tblGrid>
              <a:tr h="12573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Standard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Title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</a:tr>
              <a:tr h="1257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RFC 9171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Bundle Protocol v7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1257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RFC 4838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DTN Architecture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1257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RFC 5326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LTP (deep space)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1257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RFC 9172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BPSec (security)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1257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CCSDS 734.2-B-1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CCSDS Bundle Protocol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1257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CCSDS 734.3-B-1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SABR (contact routing)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1257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CCSDS 141.0-B-1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Optical comms phys.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22 / 25</a:t>
            </a:r>
          </a:p>
        </p:txBody>
      </p:sp>
    </p:spTree>
  </p:cSld>
  <p:transition spd="med" advClick="1">
    <p:push dir="l"/>
  </p:transition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00D4AA"/>
                </a:solidFill>
              </a:defRPr>
            </a:pPr>
            <a:r>
              <a:t>From Demo to Deployment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4206240" cy="640080"/>
          </a:xfrm>
          <a:prstGeom prst="roundRect">
            <a:avLst/>
          </a:prstGeom>
          <a:solidFill>
            <a:srgbClr val="141B2D"/>
          </a:solidFill>
          <a:ln w="254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200" b="1">
                <a:solidFill>
                  <a:srgbClr val="2ECC71"/>
                </a:solidFill>
                <a:latin typeface="Calibri"/>
              </a:defRPr>
            </a:pPr>
            <a:r>
              <a:t>Phase 1-4  ✓ Complete</a:t>
            </a:r>
          </a:p>
          <a:p>
            <a:pPr>
              <a:defRPr sz="900">
                <a:solidFill>
                  <a:srgbClr val="B0B8CC"/>
                </a:solidFill>
              </a:defRPr>
            </a:pPr>
            <a:r>
              <a:t>Topology • RL • QKD • Web UI • 189 tests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365760"/>
            <a:ext cx="73152" cy="182880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194560"/>
            <a:ext cx="4206240" cy="640080"/>
          </a:xfrm>
          <a:prstGeom prst="roundRect">
            <a:avLst/>
          </a:prstGeom>
          <a:solidFill>
            <a:srgbClr val="141B2D"/>
          </a:solidFill>
          <a:ln w="254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200" b="1">
                <a:solidFill>
                  <a:srgbClr val="009EFF"/>
                </a:solidFill>
                <a:latin typeface="Calibri"/>
              </a:defRPr>
            </a:pPr>
            <a:r>
              <a:t>Phase 5  Network Sim</a:t>
            </a:r>
          </a:p>
          <a:p>
            <a:pPr>
              <a:defRPr sz="900">
                <a:solidFill>
                  <a:srgbClr val="B0B8CC"/>
                </a:solidFill>
              </a:defRPr>
            </a:pPr>
            <a:r>
              <a:t>ns-3 integration, realistic channel models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365760"/>
            <a:ext cx="73152" cy="18288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2971800"/>
            <a:ext cx="4206240" cy="640080"/>
          </a:xfrm>
          <a:prstGeom prst="roundRect">
            <a:avLst/>
          </a:prstGeom>
          <a:solidFill>
            <a:srgbClr val="141B2D"/>
          </a:solidFill>
          <a:ln w="254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200" b="1">
                <a:solidFill>
                  <a:srgbClr val="8B5CF6"/>
                </a:solidFill>
                <a:latin typeface="Calibri"/>
              </a:defRPr>
            </a:pPr>
            <a:r>
              <a:t>Phase 6  Production</a:t>
            </a:r>
          </a:p>
          <a:p>
            <a:pPr>
              <a:defRPr sz="900">
                <a:solidFill>
                  <a:srgbClr val="B0B8CC"/>
                </a:solidFill>
              </a:defRPr>
            </a:pPr>
            <a:r>
              <a:t>DQN agent, ION-DTN stack, hardware-in-loop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65760"/>
            <a:ext cx="73152" cy="18288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3749040"/>
            <a:ext cx="4206240" cy="640080"/>
          </a:xfrm>
          <a:prstGeom prst="roundRect">
            <a:avLst/>
          </a:prstGeom>
          <a:solidFill>
            <a:srgbClr val="141B2D"/>
          </a:solidFill>
          <a:ln w="254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200" b="1">
                <a:solidFill>
                  <a:srgbClr val="FF8C00"/>
                </a:solidFill>
                <a:latin typeface="Calibri"/>
              </a:defRPr>
            </a:pPr>
            <a:r>
              <a:t>Phase 7  Hardware</a:t>
            </a:r>
          </a:p>
          <a:p>
            <a:pPr>
              <a:defRPr sz="900">
                <a:solidFill>
                  <a:srgbClr val="B0B8CC"/>
                </a:solidFill>
              </a:defRPr>
            </a:pPr>
            <a:r>
              <a:t>SDR prototyping, optical ground station demo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65760"/>
            <a:ext cx="73152" cy="18288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23 / 25</a:t>
            </a:r>
          </a:p>
        </p:txBody>
      </p:sp>
    </p:spTree>
  </p:cSld>
  <p:transition spd="med" advClick="1">
    <p:wipe dir="d"/>
  </p:transition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00D4AA"/>
                </a:solidFill>
              </a:defRPr>
            </a:pPr>
            <a:r>
              <a:t>AETHERIX Delivers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3931920" cy="1554480"/>
          </a:xfrm>
          <a:prstGeom prst="roundRect">
            <a:avLst/>
          </a:prstGeom>
          <a:solidFill>
            <a:srgbClr val="141B2D"/>
          </a:solidFill>
          <a:ln w="31750">
            <a:solidFill>
              <a:srgbClr val="FF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800"/>
              </a:spcAft>
              <a:defRPr sz="1400" b="1">
                <a:solidFill>
                  <a:srgbClr val="FF4D4D"/>
                </a:solidFill>
                <a:latin typeface="Calibri"/>
              </a:defRPr>
            </a:pPr>
            <a:r>
              <a:t>Problem Solved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TCP/IP can’t work at interplanetary distances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463040"/>
            <a:ext cx="3931920" cy="1554480"/>
          </a:xfrm>
          <a:prstGeom prst="roundRect">
            <a:avLst/>
          </a:prstGeom>
          <a:solidFill>
            <a:srgbClr val="141B2D"/>
          </a:solidFill>
          <a:ln w="3175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800"/>
              </a:spcAft>
              <a:defRPr sz="1400" b="1">
                <a:solidFill>
                  <a:srgbClr val="2ECC71"/>
                </a:solidFill>
                <a:latin typeface="Calibri"/>
              </a:defRPr>
            </a:pPr>
            <a:r>
              <a:t>What We Built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BPv7 • RL Routing • QKD • Optical/RF Hybrid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12467" y="3383280"/>
            <a:ext cx="19202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10-100×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Data Rate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61307" y="3383280"/>
            <a:ext cx="19202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9EFF"/>
                </a:solidFill>
                <a:latin typeface="Calibri"/>
              </a:defRPr>
            </a:pPr>
            <a:r>
              <a:t>&gt;95%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Availability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0147" y="3383280"/>
            <a:ext cx="19202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8B5CF6"/>
                </a:solidFill>
                <a:latin typeface="Calibri"/>
              </a:defRPr>
            </a:pPr>
            <a:r>
              <a:t>RL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Adaptive Routing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58987" y="3383280"/>
            <a:ext cx="19202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8C00"/>
                </a:solidFill>
                <a:latin typeface="Calibri"/>
              </a:defRPr>
            </a:pPr>
            <a:r>
              <a:t>QKD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Quantum Security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24 / 25</a:t>
            </a:r>
          </a:p>
        </p:txBody>
      </p:sp>
    </p:spTree>
  </p:cSld>
  <p:transition spd="med" advClick="1">
    <p:cover dir="l"/>
  </p:transition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4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3291840" y="1554480"/>
            <a:ext cx="256032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D4AA"/>
                </a:solidFill>
              </a:defRPr>
            </a:pPr>
            <a:r>
              <a:t>Questions?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12467" y="2743200"/>
            <a:ext cx="1920240" cy="8686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10-100×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Data Rate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61307" y="2743200"/>
            <a:ext cx="1920240" cy="8686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9EFF"/>
                </a:solidFill>
                <a:latin typeface="Calibri"/>
              </a:defRPr>
            </a:pPr>
            <a:r>
              <a:t>&gt;95%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Availability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0147" y="2743200"/>
            <a:ext cx="1920240" cy="8686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8B5CF6"/>
                </a:solidFill>
                <a:latin typeface="Calibri"/>
              </a:defRPr>
            </a:pPr>
            <a:r>
              <a:t>RL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Adaptive Routing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58987" y="2743200"/>
            <a:ext cx="1920240" cy="8686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8C00"/>
                </a:solidFill>
                <a:latin typeface="Calibri"/>
              </a:defRPr>
            </a:pPr>
            <a:r>
              <a:t>QKD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Quantum Security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2336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Muhammad Abdullah Tariq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8056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6B7B96"/>
                </a:solidFill>
              </a:defRPr>
            </a:pPr>
            <a:r>
              <a:t>matx104.github.io/AETHERIX  |  github.com/matx104/AETHERIX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med" advClick="1">
    <p:fade/>
  </p:transition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