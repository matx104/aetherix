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your name clearly. Read the topic number and title exactly as on the exam paper. Pause to let examiners see it. (30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overview of what we will cover. 12 topics across 25 slides. (20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sets up the narrative arc. First explain what AETHERIX is in plain language - it's like the postal service for interplanetary space. (1.5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scale. 54.6M to 401M km. Light itself takes 3-22 minutes one way. TCP/IP was designed for sub-second round trips. (1.5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insight: instead of requiring an end-to-end connection like TCP, DTN works like the postal service. Each node takes custody of your data. (1.5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architecture. Six core modules feed into the simulation engine, which feeds the web showcase. Point to each module as you explain. (1 minute)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diagram showing source modules feeding simulation engine and web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BPv7 is the postal service protocol. Walk through the stack: Application at top, BPv7 as the store-and-forward layer, three convergence layers. 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241 nodes across 5 tiers. Walk through each tier. Earth Ground is the DSN. Earth Orbital has LEO laser mesh. Deep Space has Lagrange point relays. 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overview of the 5-tier topology with 3 redundant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LIVE DEMO from the Link Budget page. Show the 3 distance scenarios. 1550nm was chosen for telecom heritage. 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rate degrades with distance squared. (15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7-hop journey. 500MB from Perseverance to JPL. Total transit ~13 min vs 12.5 min light-time. 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CGR is what NASA uses today. It's static. Our RL agent learns from experience. Multi-agent federated learning means agents at each node share knowledge. 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 agent Q-value heatmap showing learned routing preferences. (15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BB84 is beautifully simple: send qubits, measure, compare bases, check QBER. If QBER is below 11%, no one listened in. 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QKD security analysis with QBER threshold. (15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Mars and Earth dance around the Sun with a 26-month synodic period. Everything changes - distance, delay, bandwidth. (1.5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data flow through the protocol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these numbers with confidence. 10-100x faster. &gt;95% availability vs 60-75%. Quantum-secure. (1 minute)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Side-by-side performance comparison chart. (15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real, working code. 27 Python modules, 480 tests, 12 interactive demos. All the physics is real. (1.5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Phases 1-4 are done. Phase 5: ns-3 simulation. Phase 6: Upgrade to DQN and integrate with ION-DTN. (1.5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problem and solution clearly. Point to the numbers. Offer to show live demos. (1 minute)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four key numbers: 10-100x faster, &gt;95% availability, AI-powered routing, quantum-secure. Invite questions. (30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AETHERIX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286000"/>
            <a:ext cx="393192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AA"/>
                </a:solidFill>
                <a:latin typeface="Calibri"/>
              </a:defRPr>
            </a:pPr>
            <a:r>
              <a:t>Autonomous Extraterrestrial High-throughput Enhancing Routing</a:t>
            </a:r>
            <a:br/>
            <a:r>
              <a:t>and Inter-planetary eXchange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CC"/>
                </a:solidFill>
                <a:latin typeface="Calibri"/>
              </a:defRPr>
            </a:pPr>
            <a:r>
              <a:t>EduQual Level 6 Diploma in AI Operations  |  Topic 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6"/>
                </a:solidFill>
                <a:latin typeface="Calibri"/>
              </a:defRPr>
            </a:pPr>
            <a:r>
              <a:t>Building an Interplanetary Communication Network with DTN,</a:t>
            </a:r>
            <a:br/>
            <a:r>
              <a:t>Quantum Communication, and Space-Based Infrastructure for Mars Mission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846320"/>
            <a:ext cx="5760720" cy="254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51206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Muhammad Abdullah Tariq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577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6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1264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9EFF"/>
                </a:solidFill>
                <a:latin typeface="Calibri"/>
              </a:defRPr>
            </a:pPr>
            <a:r>
              <a:t>matx104.github.io/AETHERIX  |  github.com/matx104/AETHERIX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PRESENTATION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[A2] AETHERIX topology.py (241 nodes)  ·  References slides at end of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 / 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77240" y="11978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  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90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Why space breaks the internet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2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77240" y="19293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 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DTN + AI + Quantum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4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77240" y="26609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  DTN &amp; BPv7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53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Store-and-forward foundation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3756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77240" y="33924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  Topology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85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241 nodes across two worlds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77240" y="41239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  Link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16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1550nm laser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0060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777240" y="48554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06  RL 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48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Multi-agent federated Q-learning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14300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355080" y="11978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07  Quantum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490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BB84/E91 + repeater chains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87452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355080" y="19293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08  Orbital Mechanics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221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Contact windows &amp; synodic period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60604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355080" y="26609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09  Mars 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53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End-to-end simulation walkthrough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33756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55080" y="33924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 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685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AETHERIX vs current systems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06908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6355080" y="41239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11  Roadmap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416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CCSDS, IETF, deployment phases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80060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6355080" y="48554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12  Q&amp;A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148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Summary and live demo</a:t>
            </a:r>
          </a:p>
        </p:txBody>
      </p:sp>
    </p:spTree>
  </p:cSld>
  <p:transition spd="med" advClick="1">
    <p:push dir="l"/>
  </p:transition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" fill="hold">
                <p:stCondLst>
                  <p:cond delay="8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afterEffect">
                            <p:stCondLst>
                              <p:cond delay="80"/>
                            </p:stCondLst>
                            <p:childTnLst>
                              <p:set>
                                <p:cBhvr>
                                  <p:cTn id="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" fill="hold">
                <p:stCondLst>
                  <p:cond delay="160"/>
                </p:stCondLst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nodeType="afterEffect">
                            <p:stCondLst>
                              <p:cond delay="160"/>
                            </p:stCondLst>
                            <p:childTnLst>
                              <p:set>
                                <p:cBhvr>
                                  <p:cTn id="7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delay="240"/>
                </p:stCondLst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after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320"/>
                </p:stCondLst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afterEffect">
                            <p:stCondLst>
                              <p:cond delay="320"/>
                            </p:stCondLst>
                            <p:childTnLst>
                              <p:set>
                                <p:cBhvr>
                                  <p:cTn id="9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" fill="hold">
                <p:stCondLst>
                  <p:cond delay="400"/>
                </p:stCondLst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presetID="10" presetClass="entr" presetSubtype="0" fill="hold" nodeType="after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" fill="hold">
                <p:stCondLst>
                  <p:cond delay="480"/>
                </p:stCondLst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after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1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" fill="hold">
                <p:stCondLst>
                  <p:cond delay="560"/>
                </p:stCondLst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40"/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afterEffect">
                            <p:stCondLst>
                              <p:cond delay="640"/>
                            </p:stCondLst>
                            <p:childTnLst>
                              <p:set>
                                <p:cBhvr>
                                  <p:cTn id="13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delay="720"/>
                </p:stCondLst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0" presetClass="entr" presetSubtype="0" fill="hold" nodeType="after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2" fill="hold">
                <p:stCondLst>
                  <p:cond delay="800"/>
                </p:stCondLst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nodeType="after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3" fill="hold">
                <p:stCondLst>
                  <p:cond delay="880"/>
                </p:stCondLst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AETHERIX?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6"/>
                </a:solidFill>
                <a:latin typeface="Calibri"/>
              </a:defRPr>
            </a:pPr>
            <a:r>
              <a:t>Overview &amp;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[1] NASA MRN 2024  ·  [3] JPL Horizons  ·  [12] RFC 4838  ·  [A2] topology.py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3 / 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120640" cy="34747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Calibri"/>
              </a:defRPr>
            </a:pPr>
            <a:r>
              <a:t>What is AETHERIX?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20240"/>
            <a:ext cx="1828800" cy="254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Autonomous Extraterrestrial High-throughput Enhancing</a:t>
            </a:r>
            <a:br/>
            <a:r>
              <a:t>Routing and Inter-planetary eXchange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An architecture for delay-tolerant networking (DTN)</a:t>
            </a:r>
            <a:br/>
            <a:r>
              <a:t>between Earth and Mars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Replaces static Contact Graph Routing with</a:t>
            </a:r>
            <a:br/>
            <a:r>
              <a:t>reinforcement-learning-based adaptive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Secures links via Quantum Key Distribution</a:t>
            </a:r>
            <a:br/>
            <a:r>
              <a:t>(BB84 &amp; E91 protocols with repeater chains)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Hybrid optical/RF communications across</a:t>
            </a:r>
            <a:br/>
            <a:r>
              <a:t>a 5-tier, 241-node interplanetary topology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Open-source, standards-compliant (CCSDS, IETF)</a:t>
            </a:r>
            <a:br/>
            <a:r>
              <a:t>research platform for deep-space networking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463040"/>
            <a:ext cx="5120640" cy="34747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309360" y="1554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D4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920240"/>
            <a:ext cx="1828800" cy="254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Earth–Mars distance varies from 54.6M to 401M km</a:t>
            </a:r>
            <a:br/>
            <a:r>
              <a:t>— a 7x range swing every 780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One-way light delay is 3–22 minutes;</a:t>
            </a:r>
            <a:br/>
            <a:r>
              <a:t>round-trip TCP ACK is 6–44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Solar conjunction causes ~2-week communication</a:t>
            </a:r>
            <a:br/>
            <a:r>
              <a:t>blackouts twice per synodic period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383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Deep-space links are inherently intermittent:</a:t>
            </a:r>
            <a:br/>
            <a:r>
              <a:t>no continuous end-to-end path exists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Static routing cannot adapt to dynamic</a:t>
            </a:r>
            <a:br/>
            <a:r>
              <a:t>contact schedules and link degradation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Classical key exchange is infeasible across</a:t>
            </a:r>
            <a:br/>
            <a:r>
              <a:t>interplanetary distances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12080"/>
            <a:ext cx="10607040" cy="822960"/>
          </a:xfrm>
          <a:prstGeom prst="round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AETHERIX addresses every one of these challenges — harnessing DTN store-and-forward, AI-driven adaptive routing, quantum-secured key distribution, and hybrid optical/RF links.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DISTANCE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6"/>
                </a:solidFill>
                <a:latin typeface="Calibri"/>
              </a:defRPr>
            </a:pPr>
            <a:r>
              <a:t>Why Space Breaks the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[3] JPL Horizons (distance/light-time)  ·  [12] RFC 4838 (DTN rationale)  ·  [1] NASA MRO data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4 / 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5120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 marL="73152" marR="73152" marT="36576" marB="36576">
                    <a:solidFill>
                      <a:srgbClr val="FF4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L="73152" marR="73152" marT="36576" marB="36576">
                    <a:solidFill>
                      <a:srgbClr val="FF4D4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Closest approach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54.6 million km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Farthest distance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401 million km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Distance variation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7.3× (735%)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One-way light time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3 – 22 minutes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Synodic period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780 days (26 months)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Solar conjunction blackout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~2 weeks (twice/period)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37160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TCP/IP Assumption</a:t>
                      </a:r>
                    </a:p>
                  </a:txBody>
                  <a:tcPr anchor="ctr" marL="73152" marR="73152" marT="36576" marB="36576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Deep-Space Reality</a:t>
                      </a:r>
                    </a:p>
                  </a:txBody>
                  <a:tcPr anchor="ctr" marL="73152" marR="73152" marT="36576" marB="36576">
                    <a:solidFill>
                      <a:srgbClr val="FF8C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Low latency (&lt; 200 ms)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6 – 44 min round trip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Continuous connectivity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Scheduled contact windows only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End-to-end path exists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No simultaneous path possible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Reliable ACKs in seconds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ACKs take minutes to hours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26480" y="3657600"/>
            <a:ext cx="5120640" cy="11887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09360" y="3749039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Calibri"/>
              </a:defRPr>
            </a:pPr>
            <a:r>
              <a:t>"TCP/IP assumes the network is fast, reliable, and always connected.</a:t>
            </a:r>
            <a:br/>
            <a:r>
              <a:t>Deep space is none of those things."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20640"/>
            <a:ext cx="2468880" cy="1005840"/>
          </a:xfrm>
          <a:prstGeom prst="round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120640"/>
            <a:ext cx="246888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EFF"/>
                </a:solidFill>
                <a:latin typeface="Calibri"/>
              </a:defRPr>
            </a:pPr>
            <a:r>
              <a:t>54.6M 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69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C"/>
                </a:solidFill>
                <a:latin typeface="Calibri"/>
              </a:defRPr>
            </a:pPr>
            <a:r>
              <a:t>Min 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5120640"/>
            <a:ext cx="2468880" cy="1005840"/>
          </a:xfrm>
          <a:prstGeom prst="round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5120640"/>
            <a:ext cx="2468880" cy="381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5257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D4D"/>
                </a:solidFill>
                <a:latin typeface="Calibri"/>
              </a:defRPr>
            </a:pPr>
            <a:r>
              <a:t>401M km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669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C"/>
                </a:solidFill>
                <a:latin typeface="Calibri"/>
              </a:defRPr>
            </a:pPr>
            <a:r>
              <a:t>Max Distance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5120640"/>
            <a:ext cx="2468880" cy="1005840"/>
          </a:xfrm>
          <a:prstGeom prst="round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5120640"/>
            <a:ext cx="246888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5257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Calibri"/>
              </a:defRPr>
            </a:pPr>
            <a:r>
              <a:t>780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669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C"/>
                </a:solidFill>
                <a:latin typeface="Calibri"/>
              </a:defRPr>
            </a:pPr>
            <a:r>
              <a:t>Synodic Period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5120640"/>
            <a:ext cx="2468880" cy="1005840"/>
          </a:xfrm>
          <a:prstGeom prst="round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5120640"/>
            <a:ext cx="246888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5257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0.5–6 Mbps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5669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C"/>
                </a:solidFill>
                <a:latin typeface="Calibri"/>
              </a:defRPr>
            </a:pPr>
            <a:r>
              <a:t>Current DSN Rate</a:t>
            </a:r>
          </a:p>
        </p:txBody>
      </p:sp>
    </p:spTree>
  </p:cSld>
  <p:transition spd="med" advClick="1">
    <p:push dir="l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6"/>
                </a:solidFill>
                <a:latin typeface="Calibri"/>
              </a:defRPr>
            </a:pPr>
            <a:r>
              <a:t>Delay-Tolerant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[9] RFC 9171 BPv7  ·  [10] RFC 5326 LTP  ·  [11] RFC 7242 TCPCL  ·  [12] RFC 4838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5 / 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182880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Bundle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C"/>
                </a:solidFill>
                <a:latin typeface="Calibri"/>
              </a:defRPr>
            </a:pPr>
            <a:r>
              <a:t>Create data</a:t>
            </a:r>
            <a:br/>
            <a:r>
              <a:t>bundle (BPv7)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B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463040"/>
            <a:ext cx="182880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297180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C"/>
                </a:solidFill>
                <a:latin typeface="Calibri"/>
              </a:defRPr>
            </a:pPr>
            <a:r>
              <a:t>Buffer at</a:t>
            </a:r>
            <a:br/>
            <a:r>
              <a:t>local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B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463040"/>
            <a:ext cx="182880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39496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Wait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C"/>
                </a:solidFill>
                <a:latin typeface="Calibri"/>
              </a:defRPr>
            </a:pPr>
            <a:r>
              <a:t>Hold until</a:t>
            </a:r>
            <a:br/>
            <a:r>
              <a:t>contact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B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80" y="1463040"/>
            <a:ext cx="182880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81812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Calibri"/>
              </a:defRPr>
            </a:pPr>
            <a:r>
              <a:t>Forward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C"/>
                </a:solidFill>
                <a:latin typeface="Calibri"/>
              </a:defRPr>
            </a:pPr>
            <a:r>
              <a:t>Transmit to</a:t>
            </a:r>
            <a:br/>
            <a:r>
              <a:t>next 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B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1463040"/>
            <a:ext cx="182880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024128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Deliver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C"/>
                </a:solidFill>
                <a:latin typeface="Calibri"/>
              </a:defRPr>
            </a:pPr>
            <a:r>
              <a:t>Reach final</a:t>
            </a:r>
            <a:br/>
            <a:r>
              <a:t>destination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200400"/>
            <a:ext cx="329184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BPv7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Bundle Protocol v7</a:t>
            </a:r>
            <a:br/>
            <a:r>
              <a:t>RFC 9171 — store &amp;</a:t>
            </a:r>
            <a:br/>
            <a:r>
              <a:t>forward with custody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200400"/>
            <a:ext cx="329184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AI Routing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Multi-agent federated</a:t>
            </a:r>
            <a:br/>
            <a:r>
              <a:t>Q-learning adapts in</a:t>
            </a:r>
            <a:br/>
            <a:r>
              <a:t>real time to contacts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3200400"/>
            <a:ext cx="329184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D4AA"/>
                </a:solidFill>
                <a:latin typeface="Calibri"/>
              </a:defRPr>
            </a:pPr>
            <a:r>
              <a:t>QKD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BB84 &amp; E91 quantum</a:t>
            </a:r>
            <a:br/>
            <a:r>
              <a:t>key distribution with</a:t>
            </a:r>
            <a:br/>
            <a:r>
              <a:t>repeater chains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754880"/>
            <a:ext cx="10607040" cy="9144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C"/>
                </a:solidFill>
                <a:latin typeface="Calibri"/>
              </a:defRPr>
            </a:pPr>
            <a:r>
              <a:t>Think of it like the postal service: you don't need a continuous connection between sender and receiver — each post office (node) stores the letter (bundle) until the next truck (contact window) is available, then forwards it one hop closer to the destination.</a:t>
            </a:r>
          </a:p>
        </p:txBody>
      </p:sp>
    </p:spTree>
  </p:cSld>
  <p:transition spd="med" advClick="1">
    <p:wipe dir="d"/>
  </p:transition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" fill="hold">
                <p:stCondLst>
                  <p:cond delay="15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" fill="hold">
                <p:stCondLst>
                  <p:cond delay="300"/>
                </p:stCondLst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7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delay="450"/>
                </p:stCondLst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after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600"/>
                </p:stCondLst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6"/>
                </a:solidFill>
                <a:latin typeface="Calibri"/>
              </a:defRPr>
            </a:pPr>
            <a:r>
              <a:t>Five 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[A1] rl_agent.py  ·  [A2] topology.py  ·  [A3] simulator.py  ·  [A4] link_budget.py  ·  [A5] qkd.py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6 / 31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Link budget &amp; RF/optical analysis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048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31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RL agent, BPv7, store-and-forward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735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QKD (BB84/E91) &amp; repeater chains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4223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Orbital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389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Contact windows &amp; Doppler analysis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109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Simulation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25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Full network simulation engine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852160" y="146304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Showcase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OpticalLinkBudget + RFLinkBudget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Earth-Mars link analysis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Routing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RLRoutingAgent + ForwardingEngine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Multi-hop DTN delivery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BB84Protocol + E91Protocol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Quantum-secured key exchange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Orbital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ContactWindows + Doppler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Synodic contact prediction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Simulation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Simulator + PolicyEngine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End-to-end scenario runs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</p:spTree>
  </p:cSld>
  <p:transition spd="med" advClick="1">
    <p:cover dir="l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[A2] AETHERIX topology.py (5-tier, 241 nodes)  ·  github.com/matx104/AETHERIX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7 / 31</a:t>
            </a: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607040" cy="5303520"/>
          </a:xfrm>
          <a:prstGeom prst="rect">
            <a:avLst/>
          </a:prstGeom>
        </p:spPr>
      </p:pic>
    </p:spTree>
  </p:cSld>
  <p:transition spd="med" advClick="1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BPv7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6"/>
                </a:solidFill>
                <a:latin typeface="Calibri"/>
              </a:defRPr>
            </a:pPr>
            <a:r>
              <a:t>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[9] RFC 9171  ·  [2] CCSDS 734.2-B-1  ·  [10] RFC 5326 LTP  ·  [11] RFC 7242 TCPCL  ·  [12] RFC 4838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8 / 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120640" cy="8229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User data, commands,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40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5120640" cy="8229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Bundle Protocol v7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072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Routing, custody, fragmentation, TTL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5120640" cy="8229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Convergence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673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LTP (space), TCPCL (Earth), UDPCL (ISL)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160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43400"/>
            <a:ext cx="5120640" cy="8229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Physical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274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Optical 1550nm / Ka-band RF links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26480" y="1463040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 marL="73152" marR="73152" marT="36576" marB="36576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 anchor="ctr" marL="73152" marR="73152" marT="36576" marB="36576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Case</a:t>
                      </a:r>
                    </a:p>
                  </a:txBody>
                  <a:tcPr anchor="ctr" marL="73152" marR="73152" marT="36576" marB="36576">
                    <a:solidFill>
                      <a:srgbClr val="8B5C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EMERGENCY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Life-critical alerts, abort commands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URGENT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Navigation corrections, hazard warnings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NORMAL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Telemetry, science data, commands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P3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Software updates, bulk file transfer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P4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BULK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Background sync, archival data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12648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Store-and-Forward Steps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315968"/>
            <a:ext cx="1828800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1. Bundle created at source with destination EID + TTL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663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2. Node stores bundle in priority queue (buffer mgmt)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3. Contact window opens → best next-hop selected by 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212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4. Bundle transmitted via convergence layer (LTP/TCPCL)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5. Custody transfer confirms; repeat until destination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669280"/>
            <a:ext cx="10607040" cy="6400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822960" y="57607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9EFF"/>
                </a:solidFill>
                <a:latin typeface="Calibri"/>
              </a:defRPr>
            </a:pPr>
            <a:r>
              <a:t>Standards: RFC 9171 (BPv7)  •  RFC 4838 (DTN Arch)  •  RFC 5326 (LTP)  •  CCSDS 734.2-B-1  •  CCSDS 734.3-B-1 (SABR)</a:t>
            </a:r>
          </a:p>
        </p:txBody>
      </p:sp>
    </p:spTree>
  </p:cSld>
  <p:transition spd="med" advClick="1">
    <p:push dir="l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NETWORK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241 Nodes, 5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73152" cy="59436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463040"/>
            <a:ext cx="4480560" cy="594360"/>
          </a:xfrm>
          <a:prstGeom prst="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T1  Earth Ground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B0B8CC"/>
                </a:solidFill>
                <a:latin typeface="Calibri"/>
              </a:defRPr>
            </a:pPr>
            <a:r>
              <a:t>6 nodes — DSN stations: Goldstone, Madrid, Canberra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76272"/>
            <a:ext cx="73152" cy="5943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176272"/>
            <a:ext cx="4480560" cy="594360"/>
          </a:xfrm>
          <a:prstGeom prst="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T2  Earth Orbital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B0B8CC"/>
                </a:solidFill>
                <a:latin typeface="Calibri"/>
              </a:defRPr>
            </a:pPr>
            <a:r>
              <a:t>51 nodes — GEO relays + 48 LEO laser constellation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89504"/>
            <a:ext cx="73152" cy="59436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2889504"/>
            <a:ext cx="4480560" cy="594360"/>
          </a:xfrm>
          <a:prstGeom prst="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T3  Deep Space Transit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B0B8CC"/>
                </a:solidFill>
                <a:latin typeface="Calibri"/>
              </a:defRPr>
            </a:pPr>
            <a:r>
              <a:t>4 nodes — Lagrange point relays (ES-L4, ES-L5)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02736"/>
            <a:ext cx="73152" cy="59436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3602736"/>
            <a:ext cx="4480560" cy="594360"/>
          </a:xfrm>
          <a:prstGeom prst="rect">
            <a:avLst/>
          </a:prstGeom>
          <a:solidFill>
            <a:srgbClr val="141B2D"/>
          </a:solidFill>
          <a:ln w="1270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T4  Mars Orbital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B0B8CC"/>
                </a:solidFill>
                <a:latin typeface="Calibri"/>
              </a:defRPr>
            </a:pPr>
            <a:r>
              <a:t>4 nodes — Areostationary + polar orbit relays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15968"/>
            <a:ext cx="73152" cy="59436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4315968"/>
            <a:ext cx="4480560" cy="594360"/>
          </a:xfrm>
          <a:prstGeom prst="rect">
            <a:avLst/>
          </a:prstGeom>
          <a:solidFill>
            <a:srgbClr val="141B2D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T5  Mars Surface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B0B8CC"/>
                </a:solidFill>
                <a:latin typeface="Calibri"/>
              </a:defRPr>
            </a:pPr>
            <a:r>
              <a:t>176 nodes — Bases, rovers, drones, sensor networks</a:t>
            </a:r>
          </a:p>
        </p:txBody>
      </p:sp>
      <p:pic>
        <p:nvPicPr>
          <p:cNvPr id="15" name="Picture 14" descr="5tier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3840480" cy="3200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65760" y="5212080"/>
            <a:ext cx="8412480" cy="5943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1100">
                <a:solidFill>
                  <a:srgbClr val="00D4AA"/>
                </a:solidFill>
              </a:defRPr>
            </a:pPr>
            <a:r>
              <a:t>Multiple redundant paths · No single point of failure · Lagrange relays for conjunction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[A2] AETHERIX topology.py (241 nodes, 5 tiers)  ·  [1] NASA Deep Space Network (Goldstone/Madrid/Canberra)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9 / 31</a:t>
            </a:r>
          </a:p>
        </p:txBody>
      </p:sp>
    </p:spTree>
  </p:cSld>
  <p:transition spd="med" advClick="1">
    <p:push dir="l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5-TIER NETWORK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tier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[A2] AETHERIX topology.py  ·  [3] JPL Horizons (Lagrange ES-L4/L5 geometry)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10 / 31</a:t>
            </a:r>
          </a:p>
        </p:txBody>
      </p:sp>
    </p:spTree>
  </p:cSld>
  <p:transition spd="med" advClick="1">
    <p:wipe dir="d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OPTICAL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10–100x Faster Than RF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417320"/>
            <a:ext cx="2834640" cy="1097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100–200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Mbps at closest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417320"/>
            <a:ext cx="2834640" cy="1097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10–20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Mbps average distance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2834640" cy="1097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4D4D"/>
                </a:solidFill>
                <a:latin typeface="Calibri"/>
              </a:defRPr>
            </a:pPr>
            <a:r>
              <a:t>2–5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Mbps at farthest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651760"/>
            <a:ext cx="4389120" cy="16459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Key Equations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FSPL = 20·log₁₀(4πd/λ)  — free-space path loss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Gain = 10·log₁₀(η·(πD/λ)²)  — antenna gain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Pr = Pt + Gt + Gr − FSPL  — received power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46320" y="2651760"/>
          <a:ext cx="4023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Wavelength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1550 nm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Tx Power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 W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Tx Aperture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22 cm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Rx Aperture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1.0 m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[5] CCSDS 141.0-B-1 (optical link)  ·  [A4] AETHERIX link_budget.py  ·  [1] NASA MRO (6 Mbps RF baseline)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11 / 31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RATE VS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Calibri"/>
              </a:defRPr>
            </a:pPr>
            <a:r>
              <a:t>Optical Link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_rate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Data rate degrades with distance squared — 200 Mbps at closest to 2 Mbps at farthest (10–100× capability over RF [1])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[5] CCSDS 141.0-B-1  ·  [A4] AETHERIX link_budget.py (physics-derived capability)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12 / 31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EARTH-MARS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500 MB in 7 Hops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8595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52697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Hop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Path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Rover → UHF Relay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UHF S-band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UHF Relay → Areostationary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UHF uplink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Areostationary → Polar Orbiter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Crosslink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4–5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Polar Orbiter → LEO Constellation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1550 nm laser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LEO Mesh → DSN Ground Station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Optical downlink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DSN → Mission Operations Center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TCP/IP fiber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2880" y="4023360"/>
            <a:ext cx="21488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~13min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End-to-end latency [3]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4023360"/>
            <a:ext cx="21488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&lt;5%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Protocol overhead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023360"/>
            <a:ext cx="21488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98.7%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Delivery (target)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4023360"/>
            <a:ext cx="21488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8C00"/>
                </a:solidFill>
                <a:latin typeface="Calibri"/>
              </a:defRPr>
            </a:pPr>
            <a:r>
              <a:t>7 hops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Store-and-forward [A2]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[A2] topology.py (7-hop path)  ·  [3] JPL Horizons (light-time)  ·  delivery ratio is a design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13 / 31</a:t>
            </a:r>
          </a:p>
        </p:txBody>
      </p:sp>
    </p:spTree>
  </p:cSld>
  <p:transition spd="med" advClick="1">
    <p:push dir="l"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RL-BASED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AI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417320"/>
            <a:ext cx="4206240" cy="2286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Contact Graph Routing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Pre-computed contact plans required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Cannot adapt to unexpected link failures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Computational cost grows O(n³) per route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No learning from historical performance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Single-path — ignores multipath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17320"/>
            <a:ext cx="4206240" cy="2286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RL Agent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State: (node, neighbors, link quality, buffer)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Actions: forward | store | drop | split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Reward: R = α(delivery) − β(delay) − γ(hops) − δ(drops) − ε(energy) [A1]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ε-greedy exploration, decay 0.995 (α=1.0, δ=10.0) [A1]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Q-table + federated aggregation across 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886200"/>
            <a:ext cx="28346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713/800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Forward decisions [A3]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3886200"/>
            <a:ext cx="28346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seconds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Recovery vs hours [A1]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86200"/>
            <a:ext cx="28346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Q-table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Auditable policy [A1]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[A1] rl_agent.py (reward fn, ε-decay 0.995)  ·  [A3] run_simulation Module 3 (training convergence 713/800)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14 / 31</a:t>
            </a:r>
          </a:p>
        </p:txBody>
      </p:sp>
    </p:spTree>
  </p:cSld>
  <p:transition spd="med" advClick="1">
    <p:wipe dir="d"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RL ROUTING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Q-Value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l_routin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Learned routing preferences across network nodes — brighter = higher Q-value [A1]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[A1] rl_agent.py  ·  [A3] run_simulation Module 3 (training)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15 / 31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QUANTUM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Future-Proof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417320"/>
            <a:ext cx="4389120" cy="2286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BB84 Protocol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1. Alice sends random polarized photons (H/V, D/A bases) [13]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2. Bob measures each photon in a random basis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3. Public reconciliation — keep matching-basis bits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4. Error estimation — sample subset for QBER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5. Privacy amplification — universal hashing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6. QBER &lt; 11% → SECURE key established [15]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417320"/>
            <a:ext cx="4023360" cy="2286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Post-Quantum Cryptography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Kyber (ML-KEM, FIPS 203) — key encapsulation [16]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Dilithium (ML-DSA, FIPS 204) — digital signatures [17]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NIST PQC standard — quantum-resistant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Hybrid classical-quantum key exchange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886200"/>
          <a:ext cx="8595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 marL="73152" marR="73152" marT="36576" marB="36576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</a:t>
                      </a:r>
                    </a:p>
                  </a:txBody>
                  <a:tcPr anchor="ctr" marL="73152" marR="73152" marT="36576" marB="36576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Rate</a:t>
                      </a:r>
                    </a:p>
                  </a:txBody>
                  <a:tcPr anchor="ctr" marL="73152" marR="73152" marT="36576" marB="36576">
                    <a:solidFill>
                      <a:srgbClr val="8B5C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Phase 1 — LEO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BB84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1–10 kbps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Phase 2 — GEO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BB84 + E91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10–100 kbps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Phase 3 — Mars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E91 + Repeaters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1+ kbps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[13] Bennett-Brassard 1984  ·  [14] Ekert 1991  ·  [15] Shor-Preskill 2000 (QBER&lt;11%)  ·  [16][17] NIST FIPS 203/204  ·  [A5] qkd.py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16 / 31</a:t>
            </a:r>
          </a:p>
        </p:txBody>
      </p:sp>
    </p:spTree>
  </p:cSld>
  <p:transition spd="med" advClick="1">
    <p:cover dir="l"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QKD SECURITY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5CF6"/>
                </a:solidFill>
                <a:latin typeface="Calibri"/>
              </a:defRPr>
            </a:pPr>
            <a:r>
              <a:t>Quantum Bit Error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k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QBER below 11% confirms secure key exchange — no eavesdropper detected [15]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[15] Shor-Preskill 2000 (11% threshold)  ·  [13] BB84  ·  [A5] AETHERIX qkd.py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17 / 31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ORBITAL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Contact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4297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 marL="73152" marR="73152" marT="36576" marB="36576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L="73152" marR="73152" marT="36576" marB="36576">
                    <a:solidFill>
                      <a:srgbClr val="FF8C0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Semi-major axis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1.524 AU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Synodic period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779.94 days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Distance range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54.6M – 401M km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Areostationary altitude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17,032 km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One-way light time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3 – 22 minutes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63440" y="1417320"/>
          <a:ext cx="4206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Window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Availability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Rate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Optimal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99%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8–12 hrs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100–200 Mbps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6–8 hrs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20–100 Mbps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Fair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4–6 hrs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5–20 Mbps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Blackout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2–4 weeks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[3] JPL Horizons (synodic 779.94 d, 54.6M–401M km)  ·  [A2] topology.py  ·  [A4] link_budget.py (windows)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18 / 31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DATA FLOW DIAGRAM</a:t>
            </a:r>
          </a:p>
        </p:txBody>
      </p:sp>
      <p:pic>
        <p:nvPicPr>
          <p:cNvPr id="3" name="Picture 2" descr="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[A2] topology.py (full data path Mars→Earth)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19 / 31</a:t>
            </a:r>
          </a:p>
        </p:txBody>
      </p:sp>
    </p:spTree>
  </p:cSld>
  <p:transition spd="med" advClick="1">
    <p:cover dir="l"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00D4AA"/>
                </a:solidFill>
              </a:defRPr>
            </a:pPr>
            <a:r>
              <a:t>AETHERIX vs Current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43000"/>
          <a:ext cx="8412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 marL="73152" marR="73152" marT="36576" marB="36576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(MRO) [1]</a:t>
                      </a:r>
                    </a:p>
                  </a:txBody>
                  <a:tcPr anchor="ctr" marL="73152" marR="73152" marT="36576" marB="36576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AETHERIX [A4]</a:t>
                      </a:r>
                    </a:p>
                  </a:txBody>
                  <a:tcPr anchor="ctr" marL="73152" marR="73152" marT="36576" marB="36576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</a:t>
                      </a:r>
                    </a:p>
                  </a:txBody>
                  <a:tcPr anchor="ctr" marL="73152" marR="73152" marT="36576" marB="36576">
                    <a:solidFill>
                      <a:srgbClr val="2ECC7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Downlink Rate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0.5-6 Mbps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2-200 Mbps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10-100× capability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Daily Volume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5-10 GB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50-100 GB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Est. (link-driven)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Availability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60-75%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&gt;95%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Design target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Routing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Static (CGR)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RL-adaptive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Adaptive [A1]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AES-256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QKD + PQC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Future-proof [16][17]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Scalability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5-10 assets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241 nodes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10-100× [A2]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Conjunction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Blackout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50-70% via L4/L5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+50-70% [A8]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[1] NASA MRO (0.5–6 Mbps)  ·  [A4] link_budget.py (2–200 Mbps capability)  ·  [A2] topology.py  ·  [A8] Module 4  ·  targets clearly labelled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20 / 31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CC71"/>
                </a:solidFill>
                <a:latin typeface="Calibri"/>
              </a:defRPr>
            </a:pPr>
            <a:r>
              <a:t>AETHERIX vs Current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10–100× data-rate capability (link budget [A4] vs [1]) · availability/routing are design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[1] NASA MRO  ·  [A4] AETHERIX link_budget.py  ·  [A2] topology.py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21 / 31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00D4AA"/>
                </a:solidFill>
              </a:defRPr>
            </a:pPr>
            <a:r>
              <a:t>What We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12467" y="141732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27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1307" y="141732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480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147" y="141732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12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Demos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58987" y="141732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8C00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3931920" cy="15544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Core Modules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Link Budget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RL Agent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QKD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Bundle Protocol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Topology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Simulation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560320"/>
            <a:ext cx="4206240" cy="15544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Standards Compliance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4880" y="3063240"/>
          <a:ext cx="40233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12573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Title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RFC 9171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Bundle Protocol v7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RFC 4838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DTN Architecture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RFC 5326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LTP (deep space)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RFC 9172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BPSec (security)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CCSDS 734.2-B-1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CCSDS Bundle Protocol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CCSDS 734.3-B-1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SABR (contact routing)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CCSDS 141.0-B-1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Optical comms phys.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[9][10][11][12] IETF RFCs  ·  [2][5] CCSDS standards  ·  [A1]–[A8] AETHERIX modules (github.com/matx104/AETHERIX)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22 / 31</a:t>
            </a:r>
          </a:p>
        </p:txBody>
      </p:sp>
    </p:spTree>
  </p:cSld>
  <p:transition spd="med" advClick="1">
    <p:push dir="l"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00D4AA"/>
                </a:solidFill>
              </a:defRPr>
            </a:pPr>
            <a:r>
              <a:t>From Demo to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4206240" cy="64008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Phase 1-4  ✓ Complete</a:t>
            </a:r>
          </a:p>
          <a:p>
            <a:pPr>
              <a:defRPr sz="900">
                <a:solidFill>
                  <a:srgbClr val="B0B8CC"/>
                </a:solidFill>
              </a:defRPr>
            </a:pPr>
            <a:r>
              <a:t>Topology • RL • QKD • Web UI • 480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18288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4206240" cy="64008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009EFF"/>
                </a:solidFill>
                <a:latin typeface="Calibri"/>
              </a:defRPr>
            </a:pPr>
            <a:r>
              <a:t>Phase 5  Network Sim</a:t>
            </a:r>
          </a:p>
          <a:p>
            <a:pPr>
              <a:defRPr sz="900">
                <a:solidFill>
                  <a:srgbClr val="B0B8CC"/>
                </a:solidFill>
              </a:defRPr>
            </a:pPr>
            <a:r>
              <a:t>ns-3 integration, realistic channel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65760"/>
            <a:ext cx="73152" cy="18288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4206240" cy="64008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8B5CF6"/>
                </a:solidFill>
                <a:latin typeface="Calibri"/>
              </a:defRPr>
            </a:pPr>
            <a:r>
              <a:t>Phase 6  Production</a:t>
            </a:r>
          </a:p>
          <a:p>
            <a:pPr>
              <a:defRPr sz="900">
                <a:solidFill>
                  <a:srgbClr val="B0B8CC"/>
                </a:solidFill>
              </a:defRPr>
            </a:pPr>
            <a:r>
              <a:t>DQN agent, ION-DTN stack, hardware-in-loop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5760"/>
            <a:ext cx="73152" cy="1828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749040"/>
            <a:ext cx="4206240" cy="64008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FF8C00"/>
                </a:solidFill>
                <a:latin typeface="Calibri"/>
              </a:defRPr>
            </a:pPr>
            <a:r>
              <a:t>Phase 7  Hardware</a:t>
            </a:r>
          </a:p>
          <a:p>
            <a:pPr>
              <a:defRPr sz="900">
                <a:solidFill>
                  <a:srgbClr val="B0B8CC"/>
                </a:solidFill>
              </a:defRPr>
            </a:pPr>
            <a:r>
              <a:t>SDR prototyping, optical ground station 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"/>
            <a:ext cx="73152" cy="18288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[A1]–[A8] AETHERIX source modules  ·  [4] NASA DSOC (Psyche) heritage for optical  ·  DQN/ns-3/ION-DTN on production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23 / 31</a:t>
            </a:r>
          </a:p>
        </p:txBody>
      </p:sp>
    </p:spTree>
  </p:cSld>
  <p:transition spd="med" advClick="1">
    <p:wipe dir="d"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00D4AA"/>
                </a:solidFill>
              </a:defRPr>
            </a:pPr>
            <a:r>
              <a:t>AETHERIX Delivers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931920" cy="1554480"/>
          </a:xfrm>
          <a:prstGeom prst="roundRect">
            <a:avLst/>
          </a:prstGeom>
          <a:solidFill>
            <a:srgbClr val="141B2D"/>
          </a:solidFill>
          <a:ln w="3175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800"/>
              </a:spcAft>
              <a:defRPr sz="1400" b="1">
                <a:solidFill>
                  <a:srgbClr val="FF4D4D"/>
                </a:solidFill>
                <a:latin typeface="Calibri"/>
              </a:defRPr>
            </a:pPr>
            <a:r>
              <a:t>Problem Solved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TCP/IP can’t work at interplanetary distances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463040"/>
            <a:ext cx="3931920" cy="1554480"/>
          </a:xfrm>
          <a:prstGeom prst="roundRect">
            <a:avLst/>
          </a:prstGeom>
          <a:solidFill>
            <a:srgbClr val="141B2D"/>
          </a:solidFill>
          <a:ln w="317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80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What We Built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BPv7 • RL Routing • QKD • Optical/RF Hybrid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12467" y="3383280"/>
            <a:ext cx="19202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10-100×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Data Rate [A4]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1307" y="3383280"/>
            <a:ext cx="19202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&gt;95%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Availability (target)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3383280"/>
            <a:ext cx="19202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RL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Adaptive Routing [A1]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8987" y="3383280"/>
            <a:ext cx="19202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8C00"/>
                </a:solidFill>
                <a:latin typeface="Calibri"/>
              </a:defRPr>
            </a:pPr>
            <a:r>
              <a:t>QKD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Quantum Security [13][15]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[1] NASA  ·  [3] JPL Horizons  ·  [9][12] IETF  ·  [13][15] QKD  ·  [A1][A2][A4][A5][A8] AETHERIX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24 / 31</a:t>
            </a:r>
          </a:p>
        </p:txBody>
      </p:sp>
    </p:spTree>
  </p:cSld>
  <p:transition spd="med" advClick="1">
    <p:cover dir="l"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RADIATION-HARDENED COMPUTING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6"/>
                </a:solidFill>
                <a:latin typeface="Calibri"/>
              </a:defRPr>
            </a:pPr>
            <a:r>
              <a:t>Surviving the Space Radiation Environment (LO-e)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</a:t>
                      </a:r>
                    </a:p>
                  </a:txBody>
                  <a:tcPr anchor="ctr" marL="73152" marR="73152" marT="36576" marB="36576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 anchor="ctr" marL="73152" marR="73152" marT="36576" marB="36576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anchor="ctr" marL="73152" marR="73152" marT="36576" marB="36576">
                    <a:solidFill>
                      <a:srgbClr val="FF8C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SEU (Single Event Upset)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Bit flip in memory/register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SECDED ECC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MBU (Multiple Bit Upset)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≥2 adjacent bits flipped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Bit interleaving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SEL (Single Event Latchup)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Parasitic short — destructive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Current limit + power-cycle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TID (Total Ionizing Dose)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Cumulative degradation (krad)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Rad-hard parts (RAD750) [18]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49440" y="1463040"/>
            <a:ext cx="4937760" cy="21945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FF4D4D"/>
                </a:solidFill>
                <a:latin typeface="Calibri"/>
              </a:defRPr>
            </a:pPr>
            <a:r>
              <a:t>Defense-in-Depth Stack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1. TMR — 3 replicas + majority voter masks single fault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2. SECDED (39,32) ECC — corrects 1, detects 2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3. Memory scrubbing — rewrite before 2nd upset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4. FDIR + watchdog — detect → isolate → reload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5. SAFE-MODE after recovery budget exhausted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DEMONSTRATED — run_simulation Module 6 [A6]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206240"/>
            <a:ext cx="274320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8C00"/>
                </a:solidFill>
                <a:latin typeface="Calibri"/>
              </a:defRPr>
            </a:pPr>
            <a:r>
              <a:t>37,159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Raw upsets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4206240"/>
            <a:ext cx="274320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2ECC71"/>
                </a:solidFill>
                <a:latin typeface="Calibri"/>
              </a:defRPr>
            </a:pPr>
            <a:r>
              <a:t>200×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Protection factor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06240"/>
            <a:ext cx="274320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9EFF"/>
                </a:solidFill>
                <a:latin typeface="Calibri"/>
              </a:defRPr>
            </a:pPr>
            <a:r>
              <a:t>3,334×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TMR gain (p=1e-4)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4206240"/>
            <a:ext cx="274320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8B5CF6"/>
                </a:solidFill>
                <a:latin typeface="Calibri"/>
              </a:defRPr>
            </a:pPr>
            <a:r>
              <a:t>2,127×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RAD750 TID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Heritage: NASA RAD750 (Curiosity, Perseverance) [18]  ·  ESA LEON3FT [19]  ·  Code: src/computing/radiation.py [A6]  ·  ~186 residual errors vs 37,159 raw (200×)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[A6] AETHERIX radiation.py (demonstrated Module 6)  ·  [18] BAE RAD750  ·  [19] ESA LEON3FT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25 / 31</a:t>
            </a:r>
          </a:p>
        </p:txBody>
      </p:sp>
    </p:spTree>
  </p:cSld>
  <p:transition spd="med" advClick="1">
    <p:push dir="l"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MISSION-CRITICAL DATA PRIORITIZATION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6"/>
                </a:solidFill>
                <a:latin typeface="Calibri"/>
              </a:defRPr>
            </a:pPr>
            <a:r>
              <a:t>Bandwidth Triage on a Starved, Intermittent Link (LO-f)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6766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 marL="73152" marR="73152" marT="36576" marB="36576"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 anchor="ctr" marL="73152" marR="73152" marT="36576" marB="36576"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Examples</a:t>
                      </a:r>
                    </a:p>
                  </a:txBody>
                  <a:tcPr anchor="ctr" marL="73152" marR="73152" marT="36576" marB="36576"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BPv7</a:t>
                      </a:r>
                    </a:p>
                  </a:txBody>
                  <a:tcPr anchor="ctr" marL="73152" marR="73152" marT="36576" marB="36576">
                    <a:solidFill>
                      <a:srgbClr val="00D4A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Emergency / Safety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Health, collision avoid, faults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EMERGENCY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Mission-critical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Command ACKs, time-sensitive sci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HIGH_SCIENCE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High-priority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Routine telemetry, scheduled sci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P4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Low / Bulk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Housekeeping, file xfer, SW images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BULK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463040"/>
            <a:ext cx="4572000" cy="21945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Three Levers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1. Compression (pre-transmit) [7][8]: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   Telemetry → CCSDS 121.0-B-3 (Rice) ≈ 3× [7]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   Imagery → CCSDS 122.0-B-2 (wavelet) ≈ 10× [8]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2. Deadline-aware preemptive QoS [A7]: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   strict priority → earliest deadline; defer if infeasible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3. BPv7 fragmentation [9]: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   send what fits; defer rest; link never idle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DEMONSTRATED SCENARIO — src/routing/prioritization.py [A7]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251960"/>
            <a:ext cx="274320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2ECC71"/>
                </a:solidFill>
                <a:latin typeface="Calibri"/>
              </a:defRPr>
            </a:pPr>
            <a:r>
              <a:t>5/6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Items delivered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4251960"/>
            <a:ext cx="274320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D4AA"/>
                </a:solidFill>
                <a:latin typeface="Calibri"/>
              </a:defRPr>
            </a:pPr>
            <a:r>
              <a:t>100%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Link utilisation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51960"/>
            <a:ext cx="274320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8C00"/>
                </a:solidFill>
                <a:latin typeface="Calibri"/>
              </a:defRPr>
            </a:pPr>
            <a:r>
              <a:t>41%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SW update fragmented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4251960"/>
            <a:ext cx="274320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4D4D"/>
                </a:solidFill>
                <a:latin typeface="Calibri"/>
              </a:defRPr>
            </a:pPr>
            <a:r>
              <a:t>P0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Emergency preempts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[A7] AETHERIX prioritization.py  ·  [7] CCSDS 121.0-B-3  ·  [8] CCSDS 122.0-B-2  ·  [9] RFC 9171 (fragmentation)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26 / 31</a:t>
            </a:r>
          </a:p>
        </p:txBody>
      </p:sp>
    </p:spTree>
  </p:cSld>
  <p:transition spd="med" advClick="1">
    <p:cover dir="l"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TRADE-OFF ANALYSIS — WHY THESE CHOICES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96"/>
                </a:solidFill>
                <a:latin typeface="Calibri"/>
              </a:defRPr>
            </a:pPr>
            <a:r>
              <a:t>Every decision traded performance for auditability &amp; reproducibility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 anchor="ctr" marL="73152" marR="73152" marT="36576" marB="36576"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Choice</a:t>
                      </a:r>
                    </a:p>
                  </a:txBody>
                  <a:tcPr anchor="ctr" marL="73152" marR="73152" marT="36576" marB="36576"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Rationale (vs alternative)</a:t>
                      </a:r>
                    </a:p>
                  </a:txBody>
                  <a:tcPr anchor="ctr" marL="73152" marR="73152" marT="36576" marB="36576">
                    <a:solidFill>
                      <a:srgbClr val="00D4A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Optical vs RF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Hybrid 1550 nm + Ka-band fallback [4]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10–100× throughput [A4]; RF survives clouds &amp; corona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Routing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Custom Q-learning, not ION-DTN CGR [A1]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Adapts to live state; CGR re-plans on stale schedule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RL model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Q-tables now, DQN later (Phase 6)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Every Q-value human-auditable; trains in seconds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State space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Discretised, 241 nodes [A2]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Right-sized for tabular policy; DQN path documented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Reward weights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α=1.0, δ=10.0, ε-decay 0.995 [A1]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Drop penalty 10× delivery to forbid bundle loss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4572000"/>
            <a:ext cx="1161288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Bottom Line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B0B8CC"/>
                </a:solidFill>
                <a:latin typeface="Calibri"/>
              </a:defRPr>
            </a:pPr>
            <a:r>
              <a:t>Each choice sacrifices maximum theoretical performance for auditability and reproducibility — exactly what a defence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B0B8CC"/>
                </a:solidFill>
                <a:latin typeface="Calibri"/>
              </a:defRPr>
            </a:pPr>
            <a:r>
              <a:t>and a research artefact require. DQN / ns-3 / ION-DTN are the documented production transition (Phases 7–9).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B0B8CC"/>
                </a:solidFill>
                <a:latin typeface="Calibri"/>
              </a:defRPr>
            </a:pPr>
            <a:r>
              <a:t>DSOC heritage: NASA flew optical + RF side-by-side on Psyche [4] — AETHERIX mirrors that hybrid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[A1] rl_agent.py / training.py  ·  [A4] link_budget.py  ·  [4] NASA DSOC (Psyche)  ·  [A2] topology.py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27 / 31</a:t>
            </a:r>
          </a:p>
        </p:txBody>
      </p:sp>
    </p:spTree>
  </p:cSld>
  <p:transition spd="med" advClick="1">
    <p:wipe dir="d"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FAILURE &amp;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96"/>
                </a:solidFill>
                <a:latin typeface="Calibri"/>
              </a:defRPr>
            </a:pPr>
            <a:r>
              <a:t>Autonomous Solar-Conjunction Link-Blackout Survival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Scenario: Earth–Sun–Mars conjunction — corona collapses the 1550 nm link below the 0.3 forward threshold [A1]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783080"/>
          <a:ext cx="11612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Path</a:t>
                      </a:r>
                    </a:p>
                  </a:txBody>
                  <a:tcPr anchor="ctr" marL="73152" marR="73152" marT="36576" marB="36576">
                    <a:solidFill>
                      <a:srgbClr val="FF4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Band</a:t>
                      </a:r>
                    </a:p>
                  </a:txBody>
                  <a:tcPr anchor="ctr" marL="73152" marR="73152" marT="36576" marB="36576">
                    <a:solidFill>
                      <a:srgbClr val="FF4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Quality</a:t>
                      </a:r>
                    </a:p>
                  </a:txBody>
                  <a:tcPr anchor="ctr" marL="73152" marR="73152" marT="36576" marB="36576">
                    <a:solidFill>
                      <a:srgbClr val="FF4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 marL="73152" marR="73152" marT="36576" marB="36576">
                    <a:solidFill>
                      <a:srgbClr val="FF4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Reward [A8]</a:t>
                      </a:r>
                    </a:p>
                  </a:txBody>
                  <a:tcPr anchor="ctr" marL="73152" marR="73152" marT="36576" marB="36576">
                    <a:solidFill>
                      <a:srgbClr val="FF4D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Direct Mars → Earth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1550 nm optical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0.05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CLOSED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−1.438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Mars → ES-L4 → Earth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Ka-band RF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0.65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OPEN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−0.201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Mars → ES-L5 → Earth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Ka-band RF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0.60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OPEN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−0.201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3657600"/>
            <a:ext cx="5760720" cy="21945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D4AA"/>
                </a:solidFill>
                <a:latin typeface="Calibri"/>
              </a:defRPr>
            </a:pPr>
            <a:r>
              <a:t>How AETHERIX Recovers (automatically)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1. Detect — optical Q-value collapses (q&lt;0.3)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2. Re-route — agent picks highest-Q: ES-L4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   (Ka-band RF, 60° solar elongation, avoids corona)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3. Prioritise — policy engine fires two rules: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   P0 EMERGENCY → forward on best (Ka-band) link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   P4 BULK → store locally, defer past conjunction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657600"/>
            <a:ext cx="5577840" cy="21945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Why Lagrange Relays [3][A2]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ES-L4 / ES-L5 sit 60° ahead/behind Earth.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They keep line-of-sight to Mars around the solar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limb even at true conjunction.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Direct Earth–Mars: 0% availability at conjunction.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Via ES-L4/L5: 50–70% availability retained [A8].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B0B8CC"/>
                </a:solidFill>
                <a:latin typeface="Calibri"/>
              </a:defRPr>
            </a:pPr>
            <a:r>
              <a:t>Geometry is Earth-side — no Mars relay solves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Calibri"/>
              </a:defRPr>
            </a:pPr>
            <a:r>
              <a:t>Outcome: throughput drops (optical→RF) but no mission-critical data lost. Run live: python run_simulation.py --module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[A8] run_simulation Module 4 (−1.438 / −0.201)  ·  [A1] rl_agent.py (0.3 threshold)  ·  [3] JPL Horizons (Lagrange)  ·  [A2] topology.py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28 / 31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96"/>
                </a:solidFill>
                <a:latin typeface="Calibri"/>
              </a:defRPr>
            </a:pPr>
            <a:r>
              <a:t>Industry &amp; Scientific Sources [1]–[20]  ·  three-layer attribution: [N] industry · [AN]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[1] NASA JPL, Mars Relay Network User's Guide,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[2] CCSDS, Bundle Protocol Spec., 734.2-B-1, 2021.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[3] JPL Horizons, Earth–Mars Ephemeris,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97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[4] NASA, Deep Space Optical Comm. (DSOC), Psyche, 2024.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08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[5] CCSDS, Optical Comm. Coding &amp; Sync., 141.0-B-1, 2019.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204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[6] CCSDS, TM Space Data Link Protocol, 131.0-B-3, 2017.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319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[7] CCSDS, Lossless Data Compression, 121.0-B-3, 2020.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43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[8] CCSDS, Image Data Compression, 122.0-B-2, 2017.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548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[9] IETF, Bundle Protocol Version 7, RFC 9171, 2022.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66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[10] IETF, Licklider Transmission Protocol, RFC 5326, 2008.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[11] IETF, DTN TCP Convergence Layer, RFC 7242, 2014.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[12] IETF, Delay-Tolerant Networking Architecture, RFC 4838, 2007.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[13] Bennett &amp; Brassard, Quantum Cryptography, IEEE ICC, 1984.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97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[14] Ekert, Quantum Cryptography Based on Bell's Theorem, PRL 67, 1991.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[15] Shor &amp; Preskill, Simple Proof of Security of BB84, PRL 85, 2000.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204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[16] NIST, Module-Lattice-Based KEM, FIPS 203, 2024.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319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[17] NIST, Module-Lattice-Based Digital Signature, FIPS 204, 2024.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43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[18] BAE Systems, RAD750 Radiation-Hardened PowerPC, 2024.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7548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[19] ESA/Gaisler, LEON3FT Processor, 2023.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66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  <a:latin typeface="Calibri"/>
              </a:defRPr>
            </a:pPr>
            <a:r>
              <a:t>[20] IETF, RFC 4838 §3.1, 2007 (DTN challenges).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Full URLs: github.com/matx104/AETHERIX  ·  next slide: project sources [A1]–[A8]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29 / 31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REFERENCES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96"/>
                </a:solidFill>
                <a:latin typeface="Calibri"/>
              </a:defRPr>
            </a:pPr>
            <a:r>
              <a:t>Project Sources [A1]–[A8]  ·  M. A. Tariq, AETHERIX, github.com/matx104/AETHERIX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[A1] RL Routing Agent — src/routing/rl_agent.py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[A2] Network Topology — src/orbital/topology.py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[A3] End-to-End Simulation — run_simulation.py Module 3 (RL training)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[A4] Optical Link Budget Calculator — src/infrastructure/link_budget.py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[A5] QKD Protocol Implementation — src/security/qkd.py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[A6] Radiation Hardening Model — src/computing/radiation.py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31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[A7] Data Prioritization Engine — src/routing/prioritization.py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7432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[A8] Failure &amp; Recovery Simulation — run_simulation.py Module 4 (conjunction)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383280"/>
            <a:ext cx="11704320" cy="2011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Three-Layer Attribution (resolves the prior citation gap)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B0B8CC"/>
                </a:solidFill>
                <a:latin typeface="Calibri"/>
              </a:defRPr>
            </a:pPr>
            <a:r>
              <a:t>Layer A — Industry/scientific baseline [1]–[20] (e.g. NASA MRO 0.5–6 Mbps [1]).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B0B8CC"/>
                </a:solidFill>
                <a:latin typeface="Calibri"/>
              </a:defRPr>
            </a:pPr>
            <a:r>
              <a:t>Layer B — This project's design decision [A1]–[A8] (cite the code).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B0B8CC"/>
                </a:solidFill>
                <a:latin typeface="Calibri"/>
              </a:defRPr>
            </a:pPr>
            <a:r>
              <a:t>Layer C — Demonstrated simulation results [A6][A8] (cite the run, e.g. radiation 200× [A6]).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B0B8CC"/>
                </a:solidFill>
                <a:latin typeface="Calibri"/>
              </a:defRPr>
            </a:pPr>
            <a:r>
              <a:t>Design targets (&gt;95% availability, 2–200 Mbps capability) are labelled as such, never as measured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96"/>
                </a:solidFill>
                <a:latin typeface="Calibri"/>
              </a:defRPr>
            </a:pPr>
            <a:r>
              <a:t>Reproducible: python run_simulation.py  ·  480 tests: python -m pytest tests/ -q  ·  matx104.github.io/AETHERIX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30 / 31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554480"/>
            <a:ext cx="256032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Questions?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12467" y="274320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10-100×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Data Rate [A4]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1307" y="274320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&gt;95%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Availability (target)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274320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RL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Adaptive Routing [A1]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8987" y="274320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8C00"/>
                </a:solidFill>
                <a:latin typeface="Calibri"/>
              </a:defRPr>
            </a:pPr>
            <a:r>
              <a:t>QKD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Quantum Security [13][15]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Muhammad Abdullah Tariq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B96"/>
                </a:solidFill>
              </a:defRPr>
            </a:pPr>
            <a:r>
              <a:t>matx104.github.io/AETHERIX  |  github.com/matx104/AETHERIX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