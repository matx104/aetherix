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your name clearly. Read the topic number and title exactly as on the exam paper. Pause to let examiners see it.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overview of what we will cover. 12 topics across 25 slides. (20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up the narrative arc. First explain what AETHERIX is in plain language - it's like the postal service for interplanetary space.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scale. 54.6M to 401M km. Light itself takes 3-22 minutes one way. TCP/IP was designed for sub-second round trips.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insight: instead of requiring an end-to-end connection like TCP, DTN works like the postal service. Each node takes custody of your data.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architecture. Six core modules feed into the simulation engine, which feeds the web showcase. Point to each module as you explain.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diagram showing source modules feeding simulation engine and web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BPv7 is the postal service protocol. Walk through the stack: Application at top, BPv7 as the store-and-forward layer, three convergence layers.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241 nodes across 5 tiers. Walk through each tier. Earth Ground is the DSN. Earth Orbital has LEO laser mesh. Deep Space has Lagrange point relays.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overview of the 5-tier topology with 3 redundant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from the Link Budget page. Show the 3 distance scenarios. 1550nm was chosen for telecom heritage.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rate degrades with distance squared.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7-hop journey. 500MB from Perseverance to JPL. Total transit ~13 min vs 12.5 min light-time.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CGR is what NASA uses today. It's static. Our RL agent learns from experience. Multi-agent federated learning means agents at each node share knowledge.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RL agent Q-value heatmap showing learned routing preferences.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BB84 is beautifully simple: send qubits, measure, compare bases, check QBER. If QBER is below 11%, no one listened in.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QKD security analysis with QBER threshold.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 and Earth dance around the Sun with a 26-month synodic period. Everything changes - distance, delay, bandwidth.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data flow through the protocol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honest. Simulated: 241-node topology, RL routing, QKD security, 200x radiation reduction. Targets: 10-100x data rate, &gt;95% availability.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performance comparison chart.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real, working code. 25 Python modules, 480 tests, 12 interactive demos. All the physics is real.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1-4 are done. Phase 5: ns-3 simulation. Phase 6: Upgrade to DQN and integrate with ION-DTN.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problem and solution clearly. Point to the numbers. Offer to show live demos.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Summarize: simulated achievements are 241-node topology, RL routing, QKD security, 200x radiation reduction. Design targets are 10-100x data rate and &gt;95% availability. Invite questions.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nodes)  ·  References slides at end of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7724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7724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7724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7724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5508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5508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35508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  Mars 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5508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 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35508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  Roadmap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635508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  Q&amp;A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16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24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32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32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4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48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56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4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72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88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MRN 2024  ·  [3] JPL Horizons  ·  [12] RFC 4838  ·  [A2] topology.py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(distance/light-time)  ·  [12] RFC 4838 (DTN rationale)  ·  [1] NASA MRO data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BPv7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[A2] topology.py  ·  [A3] simulator.py  ·  [A4] link_budget.py  ·  [A5] qkd.py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31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(5-tier, 241 nodes)  ·  github.com/matx104/AETHERIX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31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 ·  [2] CCSDS 734.2-B-1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4838 (DTN Arch)  •  RFC 5326 (LTP)  •  CCSDS 734.2-B-1  •  CCSDS 734.3-B-1 (SABR)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pic>
        <p:nvPicPr>
          <p:cNvPr id="15" name="Picture 14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8404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nodes, 5 tiers)  ·  [1] NASA Deep Space Network (Goldstone/Madrid/Canberra)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31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 ·  [3] JPL Horizons (Lagrange ES-L4/L5 geometry)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31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Capability Over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(optical link)  ·  [A4] AETHERIX link_budget.py  ·  [1] NASA MRO (6 Mbps RF 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RATE VS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9EFF"/>
                </a:solidFill>
                <a:latin typeface="Calibri"/>
              </a:defRPr>
            </a:pPr>
            <a:r>
              <a:t>Optical Link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Data rate degrades with distance squared — 200 Mbps at closest to 2 Mbps at farthest (10–100× capability over RF [1])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 ·  [A4] AETHERIX link_budget.py (physics-derived capability)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 [3]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(target)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[A2]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(7-hop path)  ·  [3] JPL Horizons (light-time)  ·  delivery ratio is a design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31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exploration, decay 0.995 (α=1.0, δ=10.0)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713/800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Forward decisions [A3]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seconds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vs hours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Q-table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Auditable policy [A1]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(reward fn, ε-decay 0.995)  ·  [A3] run_simulation Module 3 (training convergence 713/800)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31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 ROUTING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Q-Value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Learned routing preferences across network nodes — brighter = higher Q-value [A1]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[A3] run_simulation Module 3 (training)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 [13]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 [15]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(ML-KEM, FIPS 203) — key encapsulation [16]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(ML-DSA, FIPS 204) — digital signatures [17]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[13] Bennett-Brassard 1984  ·  [14] Ekert 1991  ·  [15] Shor-Preskill 2000 (QBER&lt;11%)  ·  [16][17] NIST FIPS 203/204  ·  [A5] qkd.py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31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QKD SECURITY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5CF6"/>
                </a:solidFill>
                <a:latin typeface="Calibri"/>
              </a:defRPr>
            </a:pPr>
            <a:r>
              <a:t>Quantum Bit Error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QBER below 11% confirms secure key exchange — no eavesdropper detected [15]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[15] Shor-Preskill 2000 (11% threshold)  ·  [13] BB84  ·  [A5] AETHERIX qkd.py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(synodic 779.94 d, 54.6M–401M km)  ·  [A2] topology.py  ·  [A4] link_budget.py (windows)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(full data path Mars→Earth)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31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 [1]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 [A4]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capability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Est. (link-driven)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Design target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Adaptive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Future-proof [16][17]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L4/L5 relay (target)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 (target) [A8]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(0.5–6 Mbps)  ·  [A4] link_budget.py (2–200 Mbps capability)  ·  [A2] topology.py  ·  [A8] Module 4  ·  targets clearly labelled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CC71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10–100× data-rate capability (link budget [A4] vs [1]) · availability/routing are design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 ·  [A4] AETHERIX link_budget.py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480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12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4838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 (deep space)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BPSec (security)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Bundle 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734.3-B-1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SABR (contact routing)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comms phys.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[9][10][11][12] IETF RFCs  ·  [2][5] CCSDS standards  ·  [A1]–[A8] AETHERIX modules (github.com/matx104/AETHERIX)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31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480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[A1]–[A8] AETHERIX source modules  ·  [4] NASA DSOC (Psyche) heritage for optical  ·  DQN/ns-3/ION-DTN on production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31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 ·  [3] JPL Horizons  ·  [9][12] IETF  ·  [13][15] QKD  ·  [A1][A2][A4][A5][A8] AETHERIX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31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RADIATION-HARDENED COMPUTING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Surviving the Space Radiation Environment (LO-e)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Effect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SEU (Single Event Upset)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flip in memory/register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SECDED ECC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MBU (Multiple Bit Upset)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≥2 adjacent bits flipped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interleaving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SEL (Single Event Latchup)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Parasitic short — destructive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Current limit + power-cycle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TID (Total Ionizing Dose)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Cumulative degradation (krad)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Rad-hard parts (RAD750) [18]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463040"/>
            <a:ext cx="493776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4D4D"/>
                </a:solidFill>
                <a:latin typeface="Calibri"/>
              </a:defRPr>
            </a:pPr>
            <a:r>
              <a:t>Defense-in-Depth Stack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TMR — 3 replicas + majority voter masks single fault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SECDED (39,32) ECC — corrects 1, detects 2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Memory scrubbing — rewrite before 2nd upset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4. FDIR + watchdog — detect → isolate → reload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5. SAFE-MODE after recovery budget exhausted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— run_simulation Module 6 [A6]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37,159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Raw upsets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200×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Protection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EFF"/>
                </a:solidFill>
                <a:latin typeface="Calibri"/>
              </a:defRPr>
            </a:pPr>
            <a:r>
              <a:t>3,334×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TMR gain (p=1e-4)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8B5CF6"/>
                </a:solidFill>
                <a:latin typeface="Calibri"/>
              </a:defRPr>
            </a:pPr>
            <a:r>
              <a:t>2,127×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RAD750 TID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Heritage: NASA RAD750 (Curiosity, Perseverance) [18]  ·  ESA LEON3FT [19]  ·  Code: src/computing/radiation.py [A6]  ·  ~186 residual errors vs 37,159 raw (200×)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[A6] AETHERIX radiation.py (demonstrated Module 6)  ·  [18] BAE RAD750  ·  [19] ESA LEON3FT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25 / 31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MISSION-CRITICAL DATA PRIORITIZATION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Bandwidth Triage on a Starved, Intermittent Link (LO-f)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BPv7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 / Safety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Health, collision avoid, faults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Mission-critical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Command ACKs, time-sensitive sci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HIGH_SCIENCE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High-priority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Routine telemetry, scheduled sci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/ 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Housekeeping, file xfer, SW images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463040"/>
            <a:ext cx="457200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Three Levers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Compression (pre-transmit) [7][8]: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Telemetry → CCSDS 121.0-B-3 (Rice) ≈ 3× [7]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Imagery → CCSDS 122.0-B-2 (wavelet) ≈ 10× [8]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Deadline-aware preemptive QoS [A7]: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strict priority → earliest deadline; defer if infeasible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BPv7 fragmentation [9]: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send what fits; defer rest; link never idle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SCENARIO — src/routing/prioritization.py [A7]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5/6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Items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D4AA"/>
                </a:solidFill>
                <a:latin typeface="Calibri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Link utilisation 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41%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SW update fragmented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4D4D"/>
                </a:solidFill>
                <a:latin typeface="Calibri"/>
              </a:defRPr>
            </a:pPr>
            <a:r>
              <a:t>P0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Emergency preempts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[A7] AETHERIX prioritization.py  ·  [7] CCSDS 121.0-B-3  ·  [8] CCSDS 122.0-B-2  ·  [9] RFC 9171 (fragmentation)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26 / 31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TRADE-OFF ANALYSIS — WHY THESE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Every decision traded performance for auditability &amp; reproducibility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Choice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Rationale (vs alternative)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vs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Hybrid 1550 nm + Ka-band fallback [4]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10–100× throughput [A4]; RF survives clouds &amp; corona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Custom Q-learning, not ION-DTN CGR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Adapts to live state; CGR re-plans on stale schedule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 model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Q-tables now, DQN later (Phase 6)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Every Q-value human-auditable; trains in seconds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State space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Discretised, 241 nodes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Right-sized for tabular policy; DQN path documented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Reward weights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α=1.0, δ=10.0, ε-decay 0.995 [A1]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Drop penalty 10× delivery to forbid bundle loss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572000"/>
            <a:ext cx="1161288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Bottom Line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Each choice sacrifices maximum theoretical performance for auditability and reproducibility — exactly what a defence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and a research artefact require. DQN / ns-3 / ION-DTN are the documented production transition (Phases 7–9).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DSOC heritage: NASA flew optical + RF side-by-side on Psyche [4] — AETHERIX mirrors that hybrid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/ training.py  ·  [A4] link_budget.py  ·  [4] NASA DSOC (Psyche)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27 / 31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FAILURE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Autonomous Solar-Conjunction Link-Blackout Survival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Scenario: Earth–Sun–Mars conjunction — corona collapses the 1550 nm link below the 0.3 forward threshold [A1]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11612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Band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Quality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 [A8]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Direct Mars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optical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−1.438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ES-L4 → Earth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ES-L5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3657600"/>
            <a:ext cx="576072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How AETHERIX Recovers (automatically)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Detect — optical Q-value collapses (q&lt;0.3)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Re-route — agent picks highest-Q: ES-L4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(Ka-band RF, 60° solar elongation, avoids corona)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Prioritise — policy engine fires two rules: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P0 EMERGENCY → forward on best (Ka-band) link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P4 BULK → store locally, defer past conjunction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657600"/>
            <a:ext cx="557784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Why Lagrange Relays [3][A2]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ES-L4 / ES-L5 sit 60° ahead/behind Earth.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They keep line-of-sight to Mars around the solar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limb even at true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Direct Earth–Mars: 0% availability at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Via ES-L4/L5: 50–70% availability retained [A8].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Geometry is Earth-side — no Mars relay solves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Outcome: throughput drops (optical→RF) but no mission-critical data lost. Run live: python run_simulation.py --module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[A8] run_simulation Module 4 (−1.438 / −0.201)  ·  [A1] rl_agent.py (0.3 threshold)  ·  [3] JPL Horizons (Lagrange)  ·  [A2] topology.py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28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Industry &amp; Scientific Sources [1]–[20]  ·  three-layer attribution: [N] industry · [AN]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[1] NASA JPL, Mars Relay Network User's Guide,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[2] CCSDS, Bundle Protocol Spec., 734.2-B-1,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[3] JPL Horizons, Earth–Mars Ephemeris,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[4] NASA, Deep Space Optical Comm. (DSOC), Psyche,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[5] CCSDS, Optical Comm. Coding &amp; Sync., 141.0-B-1, 2019.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[6] CCSDS, TM Space Data Link Protocol, 131.0-B-3, 2017.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[7] CCSDS, Lossless Data Compression, 121.0-B-3, 2020.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[8] CCSDS, Image Data Compression, 122.0-B-2, 2017.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[9] IETF, Bundle Protocol Version 7, RFC 9171, 2022.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[10] IETF, Licklider Transmission Protocol, RFC 5326, 2008.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[11] IETF, DTN TCP Convergence Layer, RFC 7242, 2014.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[12] IETF, Delay-Tolerant Networking Architecture, RFC 4838, 2007.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[13] Bennett &amp; Brassard, Quantum Cryptography, IEEE ICC, 1984.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[14] Ekert, Quantum Cryptography Based on Bell's Theorem, PRL 67, 1991.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[15] Shor &amp; Preskill, Simple Proof of Security of BB84, PRL 85, 2000.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[16] NIST, Module-Lattice-Based KEM, FIPS 203,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[17] NIST, Module-Lattice-Based Digital Signature, FIPS 204, 2024.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[18] BAE Systems, RAD750 Radiation-Hardened PowerPC, 2024.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[19] ESA/Gaisler, LEON3FT Processor, 2023.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[20] IETF, RFC 4838 §3.1, 2007 (DTN challenges).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Full URLs: github.com/matx104/AETHERIX  ·  next slide: project sources [A1]–[A8]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29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Project Sources [A1]–[A8]  ·  M. A. Tariq, AETHERIX, github.com/matx104/AETHERIX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[A1] RL Routing Agent — src/routing/rl_agent.py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[A2] Network Topology — src/orbital/topology.py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[A3] End-to-End Simulation — run_simulation.py Module 3 (RL 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[A4] Optical Link Budget Calculator — src/infrastructure/link_budget.py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[A5] QKD Protocol Implementation — src/security/qkd.py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[A6] Radiation Hardening Model — src/computing/radiation.py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[A7] Data Prioritization Engine — src/routing/prioritization.py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[A8] Failure &amp; Recovery Simulation — run_simulation.py Module 4 (conjunction)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383280"/>
            <a:ext cx="11704320" cy="2011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Three-Layer Attribution (resolves the prior citation gap)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A — Industry/scientific baseline [1]–[20] (e.g. NASA MRO 0.5–6 Mbps [1]).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B — This project's design decision [A1]–[A8] (cite the code).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C — Demonstrated simulation results [A6][A8] (cite the run, e.g. radiation 200× [A6]).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Design targets (&gt;95% availability, 2–200 Mbps capability) are labelled as such, never as measured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Reproducible: python run_simulation.py  ·  480 tests: python -m pytest tests/ -q  ·  matx104.github.io/AETHERIX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30 / 31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